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97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68.xml"/>
  <Override ContentType="application/vnd.openxmlformats-officedocument.presentationml.slide+xml" PartName="/ppt/slides/slide94.xml"/>
  <Override ContentType="application/vnd.openxmlformats-officedocument.presentationml.slide+xml" PartName="/ppt/slides/slide84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53.xml"/>
  <Override ContentType="application/vnd.openxmlformats-officedocument.presentationml.slide+xml" PartName="/ppt/slides/slide96.xml"/>
  <Override ContentType="application/vnd.openxmlformats-officedocument.presentationml.slide+xml" PartName="/ppt/slides/slide48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2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76.xml"/>
  <Override ContentType="application/vnd.openxmlformats-officedocument.presentationml.slide+xml" PartName="/ppt/slides/slide63.xml"/>
  <Override ContentType="application/vnd.openxmlformats-officedocument.presentationml.slide+xml" PartName="/ppt/slides/slide93.xml"/>
  <Override ContentType="application/vnd.openxmlformats-officedocument.presentationml.slide+xml" PartName="/ppt/slides/slide80.xml"/>
  <Override ContentType="application/vnd.openxmlformats-officedocument.presentationml.slide+xml" PartName="/ppt/slides/slide61.xml"/>
  <Override ContentType="application/vnd.openxmlformats-officedocument.presentationml.slide+xml" PartName="/ppt/slides/slide91.xml"/>
  <Override ContentType="application/vnd.openxmlformats-officedocument.presentationml.slide+xml" PartName="/ppt/slides/slide31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9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97.xml"/>
  <Override ContentType="application/vnd.openxmlformats-officedocument.presentationml.slide+xml" PartName="/ppt/slides/slide11.xml"/>
  <Override ContentType="application/vnd.openxmlformats-officedocument.presentationml.slide+xml" PartName="/ppt/slides/slide6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79.xml"/>
  <Override ContentType="application/vnd.openxmlformats-officedocument.presentationml.slide+xml" PartName="/ppt/slides/slide49.xml"/>
  <Override ContentType="application/vnd.openxmlformats-officedocument.presentationml.slide+xml" PartName="/ppt/slides/slide83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3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47.xml"/>
  <Override ContentType="application/vnd.openxmlformats-officedocument.presentationml.slide+xml" PartName="/ppt/slides/slide21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88.xml"/>
  <Override ContentType="application/vnd.openxmlformats-officedocument.presentationml.slide+xml" PartName="/ppt/slides/slide9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</p:sldIdLst>
  <p:sldSz cy="5143500" cx="9144000"/>
  <p:notesSz cx="6858000" cy="9144000"/>
  <p:embeddedFontLst>
    <p:embeddedFont>
      <p:font typeface="Noto Sans KR"/>
      <p:regular r:id="rId104"/>
      <p:bold r:id="rId105"/>
    </p:embeddedFont>
    <p:embeddedFont>
      <p:font typeface="Lato"/>
      <p:regular r:id="rId106"/>
      <p:bold r:id="rId107"/>
      <p:italic r:id="rId108"/>
      <p:boldItalic r:id="rId109"/>
    </p:embeddedFont>
    <p:embeddedFont>
      <p:font typeface="Poppins"/>
      <p:regular r:id="rId110"/>
      <p:bold r:id="rId111"/>
      <p:italic r:id="rId112"/>
      <p:boldItalic r:id="rId113"/>
    </p:embeddedFont>
    <p:embeddedFont>
      <p:font typeface="Urbanist"/>
      <p:regular r:id="rId114"/>
      <p:bold r:id="rId115"/>
      <p:italic r:id="rId116"/>
      <p:boldItalic r:id="rId117"/>
    </p:embeddedFont>
    <p:embeddedFont>
      <p:font typeface="Poppins SemiBold"/>
      <p:regular r:id="rId118"/>
      <p:bold r:id="rId119"/>
      <p:italic r:id="rId120"/>
      <p:boldItalic r:id="rId121"/>
    </p:embeddedFont>
    <p:embeddedFont>
      <p:font typeface="Roboto Mono"/>
      <p:regular r:id="rId122"/>
      <p:bold r:id="rId123"/>
      <p:italic r:id="rId124"/>
      <p:boldItalic r:id="rId1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3288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BB42007-BD4A-461F-8AA3-06A089F2EFE4}">
  <a:tblStyle styleId="{EBB42007-BD4A-461F-8AA3-06A089F2EFE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328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07" Type="http://schemas.openxmlformats.org/officeDocument/2006/relationships/font" Target="fonts/Lato-bold.fntdata"/><Relationship Id="rId106" Type="http://schemas.openxmlformats.org/officeDocument/2006/relationships/font" Target="fonts/Lato-regular.fntdata"/><Relationship Id="rId105" Type="http://schemas.openxmlformats.org/officeDocument/2006/relationships/font" Target="fonts/NotoSansKR-bold.fntdata"/><Relationship Id="rId104" Type="http://schemas.openxmlformats.org/officeDocument/2006/relationships/font" Target="fonts/NotoSansKR-regular.fntdata"/><Relationship Id="rId109" Type="http://schemas.openxmlformats.org/officeDocument/2006/relationships/font" Target="fonts/Lato-boldItalic.fntdata"/><Relationship Id="rId108" Type="http://schemas.openxmlformats.org/officeDocument/2006/relationships/font" Target="fonts/Lato-italic.fntdata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103" Type="http://schemas.openxmlformats.org/officeDocument/2006/relationships/slide" Target="slides/slide97.xml"/><Relationship Id="rId102" Type="http://schemas.openxmlformats.org/officeDocument/2006/relationships/slide" Target="slides/slide96.xml"/><Relationship Id="rId101" Type="http://schemas.openxmlformats.org/officeDocument/2006/relationships/slide" Target="slides/slide95.xml"/><Relationship Id="rId100" Type="http://schemas.openxmlformats.org/officeDocument/2006/relationships/slide" Target="slides/slide94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121" Type="http://schemas.openxmlformats.org/officeDocument/2006/relationships/font" Target="fonts/PoppinsSemiBold-boldItalic.fntdata"/><Relationship Id="rId25" Type="http://schemas.openxmlformats.org/officeDocument/2006/relationships/slide" Target="slides/slide19.xml"/><Relationship Id="rId120" Type="http://schemas.openxmlformats.org/officeDocument/2006/relationships/font" Target="fonts/PoppinsSemiBold-italic.fnt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125" Type="http://schemas.openxmlformats.org/officeDocument/2006/relationships/font" Target="fonts/RobotoMono-boldItalic.fntdata"/><Relationship Id="rId29" Type="http://schemas.openxmlformats.org/officeDocument/2006/relationships/slide" Target="slides/slide23.xml"/><Relationship Id="rId124" Type="http://schemas.openxmlformats.org/officeDocument/2006/relationships/font" Target="fonts/RobotoMono-italic.fntdata"/><Relationship Id="rId123" Type="http://schemas.openxmlformats.org/officeDocument/2006/relationships/font" Target="fonts/RobotoMono-bold.fntdata"/><Relationship Id="rId122" Type="http://schemas.openxmlformats.org/officeDocument/2006/relationships/font" Target="fonts/RobotoMono-regular.fntdata"/><Relationship Id="rId95" Type="http://schemas.openxmlformats.org/officeDocument/2006/relationships/slide" Target="slides/slide89.xml"/><Relationship Id="rId94" Type="http://schemas.openxmlformats.org/officeDocument/2006/relationships/slide" Target="slides/slide88.xml"/><Relationship Id="rId97" Type="http://schemas.openxmlformats.org/officeDocument/2006/relationships/slide" Target="slides/slide91.xml"/><Relationship Id="rId96" Type="http://schemas.openxmlformats.org/officeDocument/2006/relationships/slide" Target="slides/slide90.xml"/><Relationship Id="rId11" Type="http://schemas.openxmlformats.org/officeDocument/2006/relationships/slide" Target="slides/slide5.xml"/><Relationship Id="rId99" Type="http://schemas.openxmlformats.org/officeDocument/2006/relationships/slide" Target="slides/slide93.xml"/><Relationship Id="rId10" Type="http://schemas.openxmlformats.org/officeDocument/2006/relationships/slide" Target="slides/slide4.xml"/><Relationship Id="rId98" Type="http://schemas.openxmlformats.org/officeDocument/2006/relationships/slide" Target="slides/slide92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91" Type="http://schemas.openxmlformats.org/officeDocument/2006/relationships/slide" Target="slides/slide85.xml"/><Relationship Id="rId90" Type="http://schemas.openxmlformats.org/officeDocument/2006/relationships/slide" Target="slides/slide84.xml"/><Relationship Id="rId93" Type="http://schemas.openxmlformats.org/officeDocument/2006/relationships/slide" Target="slides/slide87.xml"/><Relationship Id="rId92" Type="http://schemas.openxmlformats.org/officeDocument/2006/relationships/slide" Target="slides/slide86.xml"/><Relationship Id="rId118" Type="http://schemas.openxmlformats.org/officeDocument/2006/relationships/font" Target="fonts/PoppinsSemiBold-regular.fntdata"/><Relationship Id="rId117" Type="http://schemas.openxmlformats.org/officeDocument/2006/relationships/font" Target="fonts/Urbanist-boldItalic.fntdata"/><Relationship Id="rId116" Type="http://schemas.openxmlformats.org/officeDocument/2006/relationships/font" Target="fonts/Urbanist-italic.fntdata"/><Relationship Id="rId115" Type="http://schemas.openxmlformats.org/officeDocument/2006/relationships/font" Target="fonts/Urbanist-bold.fntdata"/><Relationship Id="rId119" Type="http://schemas.openxmlformats.org/officeDocument/2006/relationships/font" Target="fonts/PoppinsSemiBold-bold.fntdata"/><Relationship Id="rId15" Type="http://schemas.openxmlformats.org/officeDocument/2006/relationships/slide" Target="slides/slide9.xml"/><Relationship Id="rId110" Type="http://schemas.openxmlformats.org/officeDocument/2006/relationships/font" Target="fonts/Poppins-regular.fntdata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14" Type="http://schemas.openxmlformats.org/officeDocument/2006/relationships/font" Target="fonts/Urbanist-regular.fntdata"/><Relationship Id="rId18" Type="http://schemas.openxmlformats.org/officeDocument/2006/relationships/slide" Target="slides/slide12.xml"/><Relationship Id="rId113" Type="http://schemas.openxmlformats.org/officeDocument/2006/relationships/font" Target="fonts/Poppins-boldItalic.fntdata"/><Relationship Id="rId112" Type="http://schemas.openxmlformats.org/officeDocument/2006/relationships/font" Target="fonts/Poppins-italic.fntdata"/><Relationship Id="rId111" Type="http://schemas.openxmlformats.org/officeDocument/2006/relationships/font" Target="fonts/Poppins-bold.fntdata"/><Relationship Id="rId84" Type="http://schemas.openxmlformats.org/officeDocument/2006/relationships/slide" Target="slides/slide78.xml"/><Relationship Id="rId83" Type="http://schemas.openxmlformats.org/officeDocument/2006/relationships/slide" Target="slides/slide77.xml"/><Relationship Id="rId86" Type="http://schemas.openxmlformats.org/officeDocument/2006/relationships/slide" Target="slides/slide80.xml"/><Relationship Id="rId85" Type="http://schemas.openxmlformats.org/officeDocument/2006/relationships/slide" Target="slides/slide79.xml"/><Relationship Id="rId88" Type="http://schemas.openxmlformats.org/officeDocument/2006/relationships/slide" Target="slides/slide82.xml"/><Relationship Id="rId87" Type="http://schemas.openxmlformats.org/officeDocument/2006/relationships/slide" Target="slides/slide81.xml"/><Relationship Id="rId89" Type="http://schemas.openxmlformats.org/officeDocument/2006/relationships/slide" Target="slides/slide83.xml"/><Relationship Id="rId80" Type="http://schemas.openxmlformats.org/officeDocument/2006/relationships/slide" Target="slides/slide74.xml"/><Relationship Id="rId82" Type="http://schemas.openxmlformats.org/officeDocument/2006/relationships/slide" Target="slides/slide76.xml"/><Relationship Id="rId81" Type="http://schemas.openxmlformats.org/officeDocument/2006/relationships/slide" Target="slides/slide75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75" Type="http://schemas.openxmlformats.org/officeDocument/2006/relationships/slide" Target="slides/slide69.xml"/><Relationship Id="rId74" Type="http://schemas.openxmlformats.org/officeDocument/2006/relationships/slide" Target="slides/slide68.xml"/><Relationship Id="rId77" Type="http://schemas.openxmlformats.org/officeDocument/2006/relationships/slide" Target="slides/slide71.xml"/><Relationship Id="rId76" Type="http://schemas.openxmlformats.org/officeDocument/2006/relationships/slide" Target="slides/slide70.xml"/><Relationship Id="rId79" Type="http://schemas.openxmlformats.org/officeDocument/2006/relationships/slide" Target="slides/slide73.xml"/><Relationship Id="rId78" Type="http://schemas.openxmlformats.org/officeDocument/2006/relationships/slide" Target="slides/slide72.xml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66" Type="http://schemas.openxmlformats.org/officeDocument/2006/relationships/slide" Target="slides/slide60.xml"/><Relationship Id="rId65" Type="http://schemas.openxmlformats.org/officeDocument/2006/relationships/slide" Target="slides/slide59.xml"/><Relationship Id="rId68" Type="http://schemas.openxmlformats.org/officeDocument/2006/relationships/slide" Target="slides/slide62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69" Type="http://schemas.openxmlformats.org/officeDocument/2006/relationships/slide" Target="slides/slide6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55" Type="http://schemas.openxmlformats.org/officeDocument/2006/relationships/slide" Target="slides/slide49.xml"/><Relationship Id="rId54" Type="http://schemas.openxmlformats.org/officeDocument/2006/relationships/slide" Target="slides/slide48.xml"/><Relationship Id="rId57" Type="http://schemas.openxmlformats.org/officeDocument/2006/relationships/slide" Target="slides/slide51.xml"/><Relationship Id="rId56" Type="http://schemas.openxmlformats.org/officeDocument/2006/relationships/slide" Target="slides/slide50.xml"/><Relationship Id="rId59" Type="http://schemas.openxmlformats.org/officeDocument/2006/relationships/slide" Target="slides/slide53.xml"/><Relationship Id="rId58" Type="http://schemas.openxmlformats.org/officeDocument/2006/relationships/slide" Target="slides/slide5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f050d32340_0_879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g3f050d32340_0_879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g3f050d32340_0_879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f050d32340_0_898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g3f050d32340_0_898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g3f050d32340_0_898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f050d32340_0_1490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g3f050d32340_0_1490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g3f050d32340_0_1490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050d32340_0_8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ROC 곡선은 더럽다고 판단하는 기준 확률</a:t>
            </a:r>
            <a:r>
              <a:rPr b="1" lang="ko">
                <a:solidFill>
                  <a:schemeClr val="dk1"/>
                </a:solidFill>
              </a:rPr>
              <a:t>(Threshold)을 1부터 0까지 아주 잘게 변화시키면서, 각기준마다 계산되는 (FPR, TPR) 좌표들을 찍어서 선으로 연결한 그래프</a:t>
            </a:r>
            <a:r>
              <a:rPr lang="ko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왼쪽에 가까울 수록 더러움 기준이 1에 가까워야 더럽다고 판정(positive)하기때문에 깨끗함 기준이 결벽에 가까움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오른쪽으로 갈 수록 더러움 기준이 0에 가까워져서 조금만 더러워도 더럽다고 판정함 (누가봐도 깨끗하지만 이정도면 더럽지 인것)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TPR(참양성률)은 실제로 더러운 패널에 대해 더럽다고 예측한 비율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 FPR(거짓 양성률)은 실제로 깨끗한 패널에 대해 더럽다고 예측한 비율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ROC-AUC가 높을 수록 실제 오염 케이스의 오염 확률을 높게 예측하고 실제 깨끗한 케이스의 오염 확률을 매우 낮게 예측한다는 의미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22" name="Google Shape;122;g3f050d32340_0_8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f050d32340_0_8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dup 스코어는 타 이미지와 아주 작은 차이만 있는 중복일 가능성입니다. </a:t>
            </a:r>
            <a:br>
              <a:rPr lang="ko"/>
            </a:br>
            <a:r>
              <a:rPr lang="ko"/>
              <a:t>비슷한 유형의 데이터가 많으면 그 유형에 많이 학습되어 모델이 편향 될 수 있기 때문에 중복데이터를 제거해주는 것이 좋습니다.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ood 스코어는 해결하고자하는 문제와 상관없는 이미지일 가능성입니다.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우리는 태양광 패널이 깨끗한지 더러운지 알고 싶은데, 태양광 패널이 아예없는 이미지를 학습하면 모델이 패널의 특징이아닌 다른 특징도 학습해서 혼란스럽게 만들기 때문에 제거해줘야 합니다.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또한 train set은 모든 이미지에 0, 1 라벨되어있기 때문에 ood 유형은 mislabel 이기도 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</a:t>
            </a:r>
            <a:endParaRPr/>
          </a:p>
        </p:txBody>
      </p:sp>
      <p:sp>
        <p:nvSpPr>
          <p:cNvPr id="139" name="Google Shape;139;g3f050d32340_0_83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f050d32340_0_1502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g3f050d32340_0_1502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g3f050d32340_0_1502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f050d32340_0_8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f050d32340_0_8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f050d32340_0_8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f050d32340_0_8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f050d32340_0_1514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g3f050d32340_0_1514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g3f050d32340_0_1514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f050d32340_0_9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g3f050d32340_0_9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f050d32340_0_9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g3f050d32340_0_94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f050d32340_0_9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>
                <a:solidFill>
                  <a:schemeClr val="dk1"/>
                </a:solidFill>
              </a:rPr>
              <a:t>PIL의 </a:t>
            </a:r>
            <a:r>
              <a:rPr b="1" lang="ko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convert('L')</a:t>
            </a:r>
            <a:r>
              <a:rPr b="1" lang="ko">
                <a:solidFill>
                  <a:schemeClr val="dk1"/>
                </a:solidFill>
              </a:rPr>
              <a:t>이 사용하는 휘도(luminance) 공식</a:t>
            </a:r>
            <a:r>
              <a:rPr lang="ko">
                <a:solidFill>
                  <a:schemeClr val="dk1"/>
                </a:solidFill>
              </a:rPr>
              <a:t>을 기준으로 합니다. 컬러 이미지(RGB)를 흑백으로 바꿀 때, 단순히 R, G, B를 똑같은 비중으로 평균 내는 게 아니라 사람 눈이 색상마다 밝기를 다르게 느끼는 정도를 반영한 가중 평균을 사용합니다.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L=0.299×R+0.587×G+0.114×BL = 0.299 \times R + 0.587 \times G + 0.114 \times BL=0.299×R+0.587×G+0.114×B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ko">
                <a:solidFill>
                  <a:schemeClr val="dk1"/>
                </a:solidFill>
              </a:rPr>
              <a:t>초록(G)에 가장 큰 가중치(0.587) → 사람 눈이 초록색 변화에 가장 민감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ko">
                <a:solidFill>
                  <a:schemeClr val="dk1"/>
                </a:solidFill>
              </a:rPr>
              <a:t>빨강(R) 0.299, 파랑(B) 0.114 → 상대적으로 덜 민감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이렇게 각 픽셀을 하나의 흑백 값(0~255)으로 변환한 뒤, </a:t>
            </a:r>
            <a:r>
              <a:rPr b="1" lang="ko">
                <a:solidFill>
                  <a:schemeClr val="dk1"/>
                </a:solidFill>
              </a:rPr>
              <a:t>이미지 전체 픽셀 값의 평균</a:t>
            </a:r>
            <a:r>
              <a:rPr lang="ko">
                <a:solidFill>
                  <a:schemeClr val="dk1"/>
                </a:solidFill>
              </a:rPr>
              <a:t>을 그 이미지의 "밝기"로 정의했습니다.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>
                <a:solidFill>
                  <a:schemeClr val="dk1"/>
                </a:solidFill>
              </a:rPr>
              <a:t>값의 의미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ko">
                <a:solidFill>
                  <a:schemeClr val="dk1"/>
                </a:solidFill>
              </a:rPr>
              <a:t>0에 가까움 = 전체적으로 어두운 이미지 (그림자 많음, 야간 촬영 등)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ko">
                <a:solidFill>
                  <a:schemeClr val="dk1"/>
                </a:solidFill>
              </a:rPr>
              <a:t>255에 가까움 = 전체적으로 밝은 이미지 (한낮 촬영, 흰색/밝은 지붕 등)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ko">
                <a:solidFill>
                  <a:schemeClr val="dk1"/>
                </a:solidFill>
              </a:rPr>
              <a:t>앞서 결과에서 class 0 평균 115.46, class 1 평균 119.97이 나온 건, 이 0~255 스케일 기준입니다.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>
                <a:solidFill>
                  <a:schemeClr val="dk1"/>
                </a:solidFill>
              </a:rPr>
              <a:t>한계점 (참고)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이 방식은 </a:t>
            </a:r>
            <a:r>
              <a:rPr b="1" lang="ko">
                <a:solidFill>
                  <a:schemeClr val="dk1"/>
                </a:solidFill>
              </a:rPr>
              <a:t>이미지 전체의 평균 밝기</a:t>
            </a:r>
            <a:r>
              <a:rPr lang="ko">
                <a:solidFill>
                  <a:schemeClr val="dk1"/>
                </a:solidFill>
              </a:rPr>
              <a:t>만 보기 때문에, 국소적인 밝기 차이(예: 패널 부분만 어둡고 지붕은 밝은 경우 등 공간적 패턴)는 반영하지 못합니다. 만약 "패널 표면의 오염(먼지, 그림자)"처럼 국소적 밝기 변화가 중요한 문제라면, 전체 평균보다는 </a:t>
            </a:r>
            <a:r>
              <a:rPr b="1" lang="ko">
                <a:solidFill>
                  <a:schemeClr val="dk1"/>
                </a:solidFill>
              </a:rPr>
              <a:t>패널 영역만 크롭해서 밝기를 재는 방식</a:t>
            </a:r>
            <a:r>
              <a:rPr lang="ko">
                <a:solidFill>
                  <a:schemeClr val="dk1"/>
                </a:solidFill>
              </a:rPr>
              <a:t>이 더 의미 있는 지표가 될 수 있습니다.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g3f050d32340_0_96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f050d32340_0_9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g3f050d32340_0_98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f050d32340_0_10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g3f050d32340_0_100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f050d32340_0_10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g3f050d32340_0_10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f050d32340_0_10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g3f050d32340_0_10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f050d32340_0_10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g3f050d32340_0_104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f050d32340_0_10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g3f050d32340_0_105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f050d32340_0_10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>
                <a:solidFill>
                  <a:schemeClr val="dk1"/>
                </a:solidFill>
              </a:rPr>
              <a:t>세 점수는 서로 거의 독립적입니다.</a:t>
            </a:r>
            <a:r>
              <a:rPr lang="ko">
                <a:solidFill>
                  <a:schemeClr val="dk1"/>
                </a:solidFill>
              </a:rPr>
              <a:t> 이는 오히려 좋은 신호입니다.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>
                <a:solidFill>
                  <a:schemeClr val="dk1"/>
                </a:solidFill>
              </a:rPr>
              <a:t>이게 의미하는 것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앞서 대화에서 "워터마크 이미지가 ood_score와 mislabel_score에 동시에 높게 나온다"는 정성적 관찰을 했었는데, </a:t>
            </a:r>
            <a:r>
              <a:rPr b="1" lang="ko">
                <a:solidFill>
                  <a:schemeClr val="dk1"/>
                </a:solidFill>
              </a:rPr>
              <a:t>전체 데이터 기준으로 보면 그건 소수의 특이 케이스였을 뿐, 전반적인 경향은 아니었다</a:t>
            </a:r>
            <a:r>
              <a:rPr lang="ko">
                <a:solidFill>
                  <a:schemeClr val="dk1"/>
                </a:solidFill>
              </a:rPr>
              <a:t>는 게 이 상관계수로 확인됩니다. 0.164는 통계적으로 "약한 상관"이라 부르기도 애매한 수준(보통 0.3 미만은 무시 가능한 수준으로 봄)입니다.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>
                <a:solidFill>
                  <a:schemeClr val="dk1"/>
                </a:solidFill>
              </a:rPr>
              <a:t>이걸 긍정적으로 해석해야 하는 이유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세 점수가 서로 상관관계가 낮다는 건, </a:t>
            </a:r>
            <a:r>
              <a:rPr b="1" lang="ko">
                <a:solidFill>
                  <a:schemeClr val="dk1"/>
                </a:solidFill>
              </a:rPr>
              <a:t>세 오염 탐지 방법론(pHash 기반 dup, CLIP 기반 ood, cross-validation 기반 mislabel)이 각자 독립적인 신호를 포착하고 있다</a:t>
            </a:r>
            <a:r>
              <a:rPr lang="ko">
                <a:solidFill>
                  <a:schemeClr val="dk1"/>
                </a:solidFill>
              </a:rPr>
              <a:t>는 뜻입니다. 만약 세 점수가 서로 강하게 상관되어 있었다면(예: 0.7 이상), "사실 세 방법이 다 같은 것을 탐지하고 있는 게 아닌가"라는 의심이 들었을 텐데, 지금 결과는 오히려 </a:t>
            </a:r>
            <a:r>
              <a:rPr b="1" lang="ko">
                <a:solidFill>
                  <a:schemeClr val="dk1"/>
                </a:solidFill>
              </a:rPr>
              <a:t>각 방법론이 서로 다른 유형의 오염을 잘 구분해서 잡아내고 있다</a:t>
            </a:r>
            <a:r>
              <a:rPr lang="ko">
                <a:solidFill>
                  <a:schemeClr val="dk1"/>
                </a:solidFill>
              </a:rPr>
              <a:t>는 근거가 됩니다.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앞서 "워터마크 이미지가 여러 축에서 겹친다"고 관찰했던 건, </a:t>
            </a:r>
            <a:r>
              <a:rPr b="1" lang="ko">
                <a:solidFill>
                  <a:schemeClr val="dk1"/>
                </a:solidFill>
              </a:rPr>
              <a:t>전체 경향이 아니라 극소수 상위권 이미지에서만 발생한 예외적 현상</a:t>
            </a:r>
            <a:r>
              <a:rPr lang="ko">
                <a:solidFill>
                  <a:schemeClr val="dk1"/>
                </a:solidFill>
              </a:rPr>
              <a:t>이었다고 정리하는 게 더 정확합니다.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g3f050d32340_0_107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f050d32340_0_1526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5" name="Google Shape;355;g3f050d32340_0_1526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g3f050d32340_0_1526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f050d32340_0_1589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6" name="Google Shape;366;g3f050d32340_0_1589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g3f050d32340_0_1589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f050d32340_0_1207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7" name="Google Shape;377;g3f050d32340_0_1207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g3f050d32340_0_1207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f050d32340_0_1244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5" name="Google Shape;415;g3f050d32340_0_1244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g3f050d32340_0_1244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3f050d32340_0_1270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2" name="Google Shape;442;g3f050d32340_0_1270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g3f050d32340_0_1270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f050d32340_0_1296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9" name="Google Shape;469;g3f050d32340_0_1296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g3f050d32340_0_1296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3f050d32340_0_1579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6" name="Google Shape;496;g3f050d32340_0_1579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g3f050d32340_0_1579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3f052d6347f_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g3f052d6347f_7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g3f050d32340_0_10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g3f050d32340_0_109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3f050d32340_0_1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g3f050d32340_0_11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g3f050d32340_0_1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g3f050d32340_0_11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g3f050d32340_0_1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g3f050d32340_0_114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g3f050d32340_0_1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g3f050d32340_0_116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g3f050d32340_0_1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g3f050d32340_0_118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g3f050d32340_0_1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g3f050d32340_0_119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g3f050d32340_0_1599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8" name="Google Shape;658;g3f050d32340_0_1599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g3f050d32340_0_1599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g3f050d32340_0_13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9" name="Google Shape;669;g3f050d32340_0_13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g3f050d32340_0_13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8" name="Google Shape;688;g3f050d32340_0_135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g3f050d32340_0_13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0" name="Google Shape;710;g3f050d32340_0_137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g3f050d32340_0_13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6" name="Google Shape;726;g3f050d32340_0_138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3f050d32340_0_14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8" name="Google Shape;748;g3f050d32340_0_14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g3f050d32340_0_14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6" name="Google Shape;766;g3f050d32340_0_14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g3f050d32340_0_14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7" name="Google Shape;777;g3f050d32340_0_14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g3f050d32340_0_14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7" name="Google Shape;797;g3f050d32340_0_145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g3f050d32340_0_1538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3" name="Google Shape;813;g3f050d32340_0_1538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4" name="Google Shape;814;g3f050d32340_0_1538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2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g3f050d32340_0_14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4" name="Google Shape;824;g3f050d32340_0_14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g3f050d32340_0_1560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0" name="Google Shape;830;g3f050d32340_0_1560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1" name="Google Shape;831;g3f050d32340_0_1560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8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g3f050d32340_0_1548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0" name="Google Shape;840;g3f050d32340_0_1548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1" name="Google Shape;841;g3f050d32340_0_1548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g3f02c6bbddd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0" name="Google Shape;850;g3f02c6bbddd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g3f02c6bbdd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7" name="Google Shape;857;g3f02c6bbdd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g3f02c6bbddd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3" name="Google Shape;863;g3f02c6bbddd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g3f02c6bbddd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9" name="Google Shape;869;g3f02c6bbddd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4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g3f050d32340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ROC 곡선은 더럽다고 판단하는 기준 확률</a:t>
            </a:r>
            <a:r>
              <a:rPr b="1" lang="ko">
                <a:solidFill>
                  <a:schemeClr val="dk1"/>
                </a:solidFill>
              </a:rPr>
              <a:t>(Threshold)을 1부터 0까지 아주 잘게 변화시키면서, 각기준마다 계산되는 (FPR, TPR) 좌표들을 찍어서 선으로 연결한 그래프</a:t>
            </a:r>
            <a:r>
              <a:rPr lang="ko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왼쪽에 가까울 수록 더러움 기준이 1에 가까워야 더럽다고 판정(positive)하기때문에 깨끗함 기준이 결벽에 가까움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오른쪽으로 갈 수록 더러움 기준이 0에 가까워져서 조금만 더러워도 더럽다고 판정함 (누가봐도 깨끗하지만 이정도면 더럽지 인것)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TPR(참양성률)은 실제로 더러운 패널에 대해 더럽다고 예측한 비율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 FPR(거짓 양성률)은 실제로 깨끗한 패널에 대해 더럽다고 예측한 비율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ROC-AUC가 높을 수록 실제 오염 케이스의 오염 확률을 높게 예측하고 실제 깨끗한 케이스의 오염 확률을 매우 낮게 예측한다는 의미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76" name="Google Shape;876;g3f050d32340_0_18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g3f050d32340_0_3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dup </a:t>
            </a:r>
            <a:r>
              <a:rPr lang="ko"/>
              <a:t>스코어는 타 이미지와 아주 작은 차이만 있는 중복일 가능성입니다. </a:t>
            </a:r>
            <a:br>
              <a:rPr lang="ko"/>
            </a:br>
            <a:r>
              <a:rPr lang="ko"/>
              <a:t>비슷한 유형의 데이터가 많으면 그 유형에 많이 학습되어 모델이 편향 될 수 있기 때문에 중복데이터를 제거해주는 것이 좋습니다.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ood 스코어는 해결하고자하는 문제와 상관없는 이미지일 가능성입니다.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우리는 태양광 패널이 깨끗한지 더러운지 알고 싶은데, 태양광 패널이 아예없는 이미지를 학습하면 모델이 패널의 특징이아닌 다른 특징도 학습해서 혼란스럽게 만들기 때문에 제거해줘야 합니다.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또한 train set은 모든 이미지에 0, 1 라벨되어있기 때문에 ood 유형은 mislabel 이기도 합니다.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</a:t>
            </a:r>
            <a:endParaRPr/>
          </a:p>
        </p:txBody>
      </p:sp>
      <p:sp>
        <p:nvSpPr>
          <p:cNvPr id="893" name="Google Shape;893;g3f050d32340_0_36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4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g3f050d32340_0_4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6" name="Google Shape;906;g3f050d32340_0_4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6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g3f02c6bbddd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8" name="Google Shape;918;g3f02c6bbddd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5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g3f02c6bbddd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7" name="Google Shape;927;g3f02c6bbddd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g3f02c6bbddd_13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9" name="Google Shape;939;g3f02c6bbddd_13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0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g3f02c6bbddd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2" name="Google Shape;952;g3f02c6bbddd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7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g3f050d32340_0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9" name="Google Shape;959;g3f050d32340_0_19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0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Google Shape;971;g3f052d6347f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2" name="Google Shape;972;g3f052d6347f_2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7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g3f052d6347f_2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>
                <a:solidFill>
                  <a:schemeClr val="dk1"/>
                </a:solidFill>
              </a:rPr>
              <a:t>PIL의 </a:t>
            </a:r>
            <a:r>
              <a:rPr b="1" lang="ko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convert('L')</a:t>
            </a:r>
            <a:r>
              <a:rPr b="1" lang="ko">
                <a:solidFill>
                  <a:schemeClr val="dk1"/>
                </a:solidFill>
              </a:rPr>
              <a:t>이 사용하는 휘도(luminance) 공식</a:t>
            </a:r>
            <a:r>
              <a:rPr lang="ko">
                <a:solidFill>
                  <a:schemeClr val="dk1"/>
                </a:solidFill>
              </a:rPr>
              <a:t>을 기준으로 합니다. 컬러 이미지(RGB)를 흑백으로 바꿀 때, 단순히 R, G, B를 똑같은 비중으로 평균 내는 게 아니라 사람 눈이 색상마다 밝기를 다르게 느끼는 정도를 반영한 가중 평균을 사용합니다.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L=0.299×R+0.587×G+0.114×BL = 0.299 \times R + 0.587 \times G + 0.114 \times BL=0.299×R+0.587×G+0.114×B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ko">
                <a:solidFill>
                  <a:schemeClr val="dk1"/>
                </a:solidFill>
              </a:rPr>
              <a:t>초록(G)에 가장 큰 가중치(0.587) → 사람 눈이 초록색 변화에 가장 민감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ko">
                <a:solidFill>
                  <a:schemeClr val="dk1"/>
                </a:solidFill>
              </a:rPr>
              <a:t>빨강(R) 0.299, 파랑(B) 0.114 → 상대적으로 덜 민감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이렇게 각 픽셀을 하나의 흑백 값(0~255)으로 변환한 뒤, </a:t>
            </a:r>
            <a:r>
              <a:rPr b="1" lang="ko">
                <a:solidFill>
                  <a:schemeClr val="dk1"/>
                </a:solidFill>
              </a:rPr>
              <a:t>이미지 전체 픽셀 값의 평균</a:t>
            </a:r>
            <a:r>
              <a:rPr lang="ko">
                <a:solidFill>
                  <a:schemeClr val="dk1"/>
                </a:solidFill>
              </a:rPr>
              <a:t>을 그 이미지의 "밝기"로 정의했습니다.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>
                <a:solidFill>
                  <a:schemeClr val="dk1"/>
                </a:solidFill>
              </a:rPr>
              <a:t>값의 의미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ko">
                <a:solidFill>
                  <a:schemeClr val="dk1"/>
                </a:solidFill>
              </a:rPr>
              <a:t>0에 가까움 = 전체적으로 어두운 이미지 (그림자 많음, 야간 촬영 등)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ko">
                <a:solidFill>
                  <a:schemeClr val="dk1"/>
                </a:solidFill>
              </a:rPr>
              <a:t>255에 가까움 = 전체적으로 밝은 이미지 (한낮 촬영, 흰색/밝은 지붕 등)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ko">
                <a:solidFill>
                  <a:schemeClr val="dk1"/>
                </a:solidFill>
              </a:rPr>
              <a:t>앞서 결과에서 class 0 평균 115.46, class 1 평균 119.97이 나온 건, 이 0~255 스케일 기준입니다.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>
                <a:solidFill>
                  <a:schemeClr val="dk1"/>
                </a:solidFill>
              </a:rPr>
              <a:t>한계점 (참고)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이 방식은 </a:t>
            </a:r>
            <a:r>
              <a:rPr b="1" lang="ko">
                <a:solidFill>
                  <a:schemeClr val="dk1"/>
                </a:solidFill>
              </a:rPr>
              <a:t>이미지 전체의 평균 밝기</a:t>
            </a:r>
            <a:r>
              <a:rPr lang="ko">
                <a:solidFill>
                  <a:schemeClr val="dk1"/>
                </a:solidFill>
              </a:rPr>
              <a:t>만 보기 때문에, 국소적인 밝기 차이(예: 패널 부분만 어둡고 지붕은 밝은 경우 등 공간적 패턴)는 반영하지 못합니다. 만약 "패널 표면의 오염(먼지, 그림자)"처럼 국소적 밝기 변화가 중요한 문제라면, 전체 평균보다는 </a:t>
            </a:r>
            <a:r>
              <a:rPr b="1" lang="ko">
                <a:solidFill>
                  <a:schemeClr val="dk1"/>
                </a:solidFill>
              </a:rPr>
              <a:t>패널 영역만 크롭해서 밝기를 재는 방식</a:t>
            </a:r>
            <a:r>
              <a:rPr lang="ko">
                <a:solidFill>
                  <a:schemeClr val="dk1"/>
                </a:solidFill>
              </a:rPr>
              <a:t>이 더 의미 있는 지표가 될 수 있습니다.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9" name="Google Shape;989;g3f052d6347f_2_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5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Google Shape;1006;g3f052d6347f_4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7" name="Google Shape;1007;g3f052d6347f_4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3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g3f050d32340_0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5" name="Google Shape;1015;g3f050d32340_0_20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9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g3f050d32340_0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1" name="Google Shape;1031;g3f050d32340_0_2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0" name="Shape 1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Google Shape;1041;g3f050d32340_0_2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2" name="Google Shape;1042;g3f050d32340_0_2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6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Google Shape;1057;g3f050d32340_0_2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8" name="Google Shape;1058;g3f050d32340_0_24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0" name="Shape 1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" name="Google Shape;1071;g3f050d32340_0_2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2" name="Google Shape;1072;g3f050d32340_0_25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4" name="Shape 1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" name="Google Shape;1085;g3f050d32340_0_2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6" name="Google Shape;1086;g3f050d32340_0_27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2" name="Shape 1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" name="Google Shape;1103;g3f052d6347f_4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>
                <a:solidFill>
                  <a:schemeClr val="dk1"/>
                </a:solidFill>
              </a:rPr>
              <a:t>세 점수는 서로 거의 독립적입니다.</a:t>
            </a:r>
            <a:r>
              <a:rPr lang="ko">
                <a:solidFill>
                  <a:schemeClr val="dk1"/>
                </a:solidFill>
              </a:rPr>
              <a:t> 이는 오히려 좋은 신호입니다.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>
                <a:solidFill>
                  <a:schemeClr val="dk1"/>
                </a:solidFill>
              </a:rPr>
              <a:t>이게 의미하는 것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앞서 대화에서 "워터마크 이미지가 ood_score와 mislabel_score에 동시에 높게 나온다"는 정성적 관찰을 했었는데, </a:t>
            </a:r>
            <a:r>
              <a:rPr b="1" lang="ko">
                <a:solidFill>
                  <a:schemeClr val="dk1"/>
                </a:solidFill>
              </a:rPr>
              <a:t>전체 데이터 기준으로 보면 그건 소수의 특이 케이스였을 뿐, 전반적인 경향은 아니었다</a:t>
            </a:r>
            <a:r>
              <a:rPr lang="ko">
                <a:solidFill>
                  <a:schemeClr val="dk1"/>
                </a:solidFill>
              </a:rPr>
              <a:t>는 게 이 상관계수로 확인됩니다. 0.164는 통계적으로 "약한 상관"이라 부르기도 애매한 수준(보통 0.3 미만은 무시 가능한 수준으로 봄)입니다.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>
                <a:solidFill>
                  <a:schemeClr val="dk1"/>
                </a:solidFill>
              </a:rPr>
              <a:t>이걸 긍정적으로 해석해야 하는 이유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세 점수가 서로 상관관계가 낮다는 건, </a:t>
            </a:r>
            <a:r>
              <a:rPr b="1" lang="ko">
                <a:solidFill>
                  <a:schemeClr val="dk1"/>
                </a:solidFill>
              </a:rPr>
              <a:t>세 오염 탐지 방법론(pHash 기반 dup, CLIP 기반 ood, cross-validation 기반 mislabel)이 각자 독립적인 신호를 포착하고 있다</a:t>
            </a:r>
            <a:r>
              <a:rPr lang="ko">
                <a:solidFill>
                  <a:schemeClr val="dk1"/>
                </a:solidFill>
              </a:rPr>
              <a:t>는 뜻입니다. 만약 세 점수가 서로 강하게 상관되어 있었다면(예: 0.7 이상), "사실 세 방법이 다 같은 것을 탐지하고 있는 게 아닌가"라는 의심이 들었을 텐데, 지금 결과는 오히려 </a:t>
            </a:r>
            <a:r>
              <a:rPr b="1" lang="ko">
                <a:solidFill>
                  <a:schemeClr val="dk1"/>
                </a:solidFill>
              </a:rPr>
              <a:t>각 방법론이 서로 다른 유형의 오염을 잘 구분해서 잡아내고 있다</a:t>
            </a:r>
            <a:r>
              <a:rPr lang="ko">
                <a:solidFill>
                  <a:schemeClr val="dk1"/>
                </a:solidFill>
              </a:rPr>
              <a:t>는 근거가 됩니다.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앞서 "워터마크 이미지가 여러 축에서 겹친다"고 관찰했던 건, </a:t>
            </a:r>
            <a:r>
              <a:rPr b="1" lang="ko">
                <a:solidFill>
                  <a:schemeClr val="dk1"/>
                </a:solidFill>
              </a:rPr>
              <a:t>전체 경향이 아니라 극소수 상위권 이미지에서만 발생한 예외적 현상</a:t>
            </a:r>
            <a:r>
              <a:rPr lang="ko">
                <a:solidFill>
                  <a:schemeClr val="dk1"/>
                </a:solidFill>
              </a:rPr>
              <a:t>이었다고 정리하는 게 더 정확합니다.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4" name="Google Shape;1104;g3f052d6347f_4_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3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3f02c6bbddd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3f02c6bbddd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0" name="Shape 1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" name="Google Shape;1131;g3f052d6347f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2" name="Google Shape;1132;g3f052d6347f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7" name="Shape 1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8" name="Google Shape;1138;g3f050d32340_0_556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9" name="Google Shape;1139;g3f050d32340_0_556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0" name="Google Shape;1140;g3f050d32340_0_556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5" name="Shape 1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6" name="Google Shape;1176;g3f050d32340_0_593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7" name="Google Shape;1177;g3f050d32340_0_593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8" name="Google Shape;1178;g3f050d32340_0_593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2" name="Shape 1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3" name="Google Shape;1203;g3f050d32340_0_619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4" name="Google Shape;1204;g3f050d32340_0_619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5" name="Google Shape;1205;g3f050d32340_0_619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9" name="Shape 1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0" name="Google Shape;1230;g3f050d32340_0_645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1" name="Google Shape;1231;g3f050d32340_0_645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2" name="Google Shape;1232;g3f050d32340_0_645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6" name="Shape 1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g3f02c6bbddd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8" name="Google Shape;1258;g3f02c6bbddd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4" name="Shape 1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5" name="Google Shape;1265;g3f052d6347f_3_5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6" name="Google Shape;1266;g3f052d6347f_3_58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3" name="Shape 1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4" name="Google Shape;1294;g3f050d32340_0_4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5" name="Google Shape;1295;g3f050d32340_0_4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3" name="Shape 1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4" name="Google Shape;1314;g3f052d6347f_3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5" name="Google Shape;1315;g3f052d6347f_3_5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2" name="Shape 1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3" name="Google Shape;1333;g3f052d6347f_3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4" name="Google Shape;1334;g3f052d6347f_3_6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1" name="Shape 1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2" name="Google Shape;1352;g3f052d6347f_3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3" name="Google Shape;1353;g3f052d6347f_3_10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0" name="Shape 1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1" name="Google Shape;1371;g3f052d6347f_3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2" name="Google Shape;1372;g3f052d6347f_3_1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9" name="Shape 1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0" name="Google Shape;1390;g3f052d6347f_3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1" name="Google Shape;1391;g3f052d6347f_3_8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6" name="Shape 1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7" name="Google Shape;1407;g3f052d6347f_3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8" name="Google Shape;1408;g3f052d6347f_3_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5" name="Shape 1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6" name="Google Shape;1416;g3f050d32340_0_6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7" name="Google Shape;1417;g3f050d32340_0_6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2" name="Shape 1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" name="Google Shape;1423;g3f052d6347f_3_3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4" name="Google Shape;1424;g3f052d6347f_3_30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1" name="Shape 1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2" name="Google Shape;1442;g3f052d6347f_3_4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3" name="Google Shape;1443;g3f052d6347f_3_40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3" name="Shape 1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" name="Google Shape;1464;g3f052d6347f_3_4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5" name="Google Shape;1465;g3f052d6347f_3_4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9" name="Shape 1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0" name="Google Shape;1480;g3f052d6347f_3_4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1" name="Google Shape;1481;g3f052d6347f_3_4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1" name="Shape 1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2" name="Google Shape;1502;g3f052d6347f_3_4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3" name="Google Shape;1503;g3f052d6347f_3_45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9" name="Shape 1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0" name="Google Shape;1520;g3f052d6347f_3_4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1" name="Google Shape;1521;g3f052d6347f_3_47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0" name="Shape 1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1" name="Google Shape;1531;g3f052d6347f_3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2" name="Google Shape;1532;g3f052d6347f_3_2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0" name="Shape 1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1" name="Google Shape;1551;g3f052d6347f_3_4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2" name="Google Shape;1552;g3f052d6347f_3_48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6" name="Shape 1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7" name="Google Shape;1567;g3f02c6bbddd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8" name="Google Shape;1568;g3f02c6bbddd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2" name="Shape 1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3" name="Google Shape;1573;g3f02c6bbddd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4" name="Google Shape;1574;g3f02c6bbddd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9" name="Shape 1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0" name="Google Shape;1580;g3f02c6bbddd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1" name="Google Shape;1581;g3f02c6bbddd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6" name="Shape 1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" name="Google Shape;1587;g3f052d6347f_3_5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8" name="Google Shape;1588;g3f052d6347f_3_5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Relationship Id="rId4" Type="http://schemas.openxmlformats.org/officeDocument/2006/relationships/image" Target="../media/image12.png"/><Relationship Id="rId5" Type="http://schemas.openxmlformats.org/officeDocument/2006/relationships/image" Target="../media/image24.png"/><Relationship Id="rId6" Type="http://schemas.openxmlformats.org/officeDocument/2006/relationships/image" Target="../media/image2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Relationship Id="rId4" Type="http://schemas.openxmlformats.org/officeDocument/2006/relationships/image" Target="../media/image12.png"/><Relationship Id="rId5" Type="http://schemas.openxmlformats.org/officeDocument/2006/relationships/image" Target="../media/image84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6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2.png"/><Relationship Id="rId4" Type="http://schemas.openxmlformats.org/officeDocument/2006/relationships/image" Target="../media/image58.png"/><Relationship Id="rId5" Type="http://schemas.openxmlformats.org/officeDocument/2006/relationships/image" Target="../media/image20.png"/><Relationship Id="rId6" Type="http://schemas.openxmlformats.org/officeDocument/2006/relationships/image" Target="../media/image2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21.png"/><Relationship Id="rId7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21.png"/><Relationship Id="rId6" Type="http://schemas.openxmlformats.org/officeDocument/2006/relationships/image" Target="../media/image11.png"/><Relationship Id="rId7" Type="http://schemas.openxmlformats.org/officeDocument/2006/relationships/image" Target="../media/image29.png"/><Relationship Id="rId8" Type="http://schemas.openxmlformats.org/officeDocument/2006/relationships/image" Target="../media/image4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Relationship Id="rId4" Type="http://schemas.openxmlformats.org/officeDocument/2006/relationships/image" Target="../media/image19.png"/><Relationship Id="rId9" Type="http://schemas.openxmlformats.org/officeDocument/2006/relationships/image" Target="../media/image36.png"/><Relationship Id="rId5" Type="http://schemas.openxmlformats.org/officeDocument/2006/relationships/image" Target="../media/image21.png"/><Relationship Id="rId6" Type="http://schemas.openxmlformats.org/officeDocument/2006/relationships/image" Target="../media/image41.png"/><Relationship Id="rId7" Type="http://schemas.openxmlformats.org/officeDocument/2006/relationships/image" Target="../media/image11.png"/><Relationship Id="rId8" Type="http://schemas.openxmlformats.org/officeDocument/2006/relationships/image" Target="../media/image3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Relationship Id="rId4" Type="http://schemas.openxmlformats.org/officeDocument/2006/relationships/image" Target="../media/image17.png"/><Relationship Id="rId5" Type="http://schemas.openxmlformats.org/officeDocument/2006/relationships/image" Target="../media/image16.png"/><Relationship Id="rId6" Type="http://schemas.openxmlformats.org/officeDocument/2006/relationships/image" Target="../media/image1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Relationship Id="rId4" Type="http://schemas.openxmlformats.org/officeDocument/2006/relationships/image" Target="../media/image20.png"/><Relationship Id="rId5" Type="http://schemas.openxmlformats.org/officeDocument/2006/relationships/image" Target="../media/image4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0.png"/><Relationship Id="rId4" Type="http://schemas.openxmlformats.org/officeDocument/2006/relationships/image" Target="../media/image7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20.png"/><Relationship Id="rId6" Type="http://schemas.openxmlformats.org/officeDocument/2006/relationships/image" Target="../media/image2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png"/><Relationship Id="rId4" Type="http://schemas.openxmlformats.org/officeDocument/2006/relationships/image" Target="../media/image13.png"/><Relationship Id="rId5" Type="http://schemas.openxmlformats.org/officeDocument/2006/relationships/image" Target="../media/image20.png"/><Relationship Id="rId6" Type="http://schemas.openxmlformats.org/officeDocument/2006/relationships/image" Target="../media/image5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3.png"/><Relationship Id="rId4" Type="http://schemas.openxmlformats.org/officeDocument/2006/relationships/image" Target="../media/image3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3.png"/><Relationship Id="rId4" Type="http://schemas.openxmlformats.org/officeDocument/2006/relationships/image" Target="../media/image38.png"/><Relationship Id="rId5" Type="http://schemas.openxmlformats.org/officeDocument/2006/relationships/image" Target="../media/image4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6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5.png"/><Relationship Id="rId4" Type="http://schemas.openxmlformats.org/officeDocument/2006/relationships/image" Target="../media/image5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54.png"/><Relationship Id="rId4" Type="http://schemas.openxmlformats.org/officeDocument/2006/relationships/image" Target="../media/image53.png"/><Relationship Id="rId5" Type="http://schemas.openxmlformats.org/officeDocument/2006/relationships/image" Target="../media/image52.png"/><Relationship Id="rId6" Type="http://schemas.openxmlformats.org/officeDocument/2006/relationships/image" Target="../media/image50.png"/><Relationship Id="rId7" Type="http://schemas.openxmlformats.org/officeDocument/2006/relationships/image" Target="../media/image12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54.png"/><Relationship Id="rId4" Type="http://schemas.openxmlformats.org/officeDocument/2006/relationships/image" Target="../media/image53.png"/><Relationship Id="rId5" Type="http://schemas.openxmlformats.org/officeDocument/2006/relationships/image" Target="../media/image61.png"/><Relationship Id="rId6" Type="http://schemas.openxmlformats.org/officeDocument/2006/relationships/image" Target="../media/image71.png"/><Relationship Id="rId7" Type="http://schemas.openxmlformats.org/officeDocument/2006/relationships/image" Target="../media/image57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54.png"/><Relationship Id="rId4" Type="http://schemas.openxmlformats.org/officeDocument/2006/relationships/image" Target="../media/image53.png"/><Relationship Id="rId5" Type="http://schemas.openxmlformats.org/officeDocument/2006/relationships/image" Target="../media/image69.png"/><Relationship Id="rId6" Type="http://schemas.openxmlformats.org/officeDocument/2006/relationships/image" Target="../media/image59.png"/><Relationship Id="rId7" Type="http://schemas.openxmlformats.org/officeDocument/2006/relationships/image" Target="../media/image56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54.png"/><Relationship Id="rId4" Type="http://schemas.openxmlformats.org/officeDocument/2006/relationships/image" Target="../media/image53.png"/><Relationship Id="rId5" Type="http://schemas.openxmlformats.org/officeDocument/2006/relationships/image" Target="../media/image74.png"/><Relationship Id="rId6" Type="http://schemas.openxmlformats.org/officeDocument/2006/relationships/image" Target="../media/image60.png"/><Relationship Id="rId7" Type="http://schemas.openxmlformats.org/officeDocument/2006/relationships/image" Target="../media/image72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54.png"/><Relationship Id="rId4" Type="http://schemas.openxmlformats.org/officeDocument/2006/relationships/image" Target="../media/image53.png"/><Relationship Id="rId5" Type="http://schemas.openxmlformats.org/officeDocument/2006/relationships/image" Target="../media/image75.png"/><Relationship Id="rId6" Type="http://schemas.openxmlformats.org/officeDocument/2006/relationships/image" Target="../media/image63.png"/><Relationship Id="rId7" Type="http://schemas.openxmlformats.org/officeDocument/2006/relationships/image" Target="../media/image62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54.png"/><Relationship Id="rId4" Type="http://schemas.openxmlformats.org/officeDocument/2006/relationships/image" Target="../media/image64.png"/><Relationship Id="rId5" Type="http://schemas.openxmlformats.org/officeDocument/2006/relationships/image" Target="../media/image82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54.png"/><Relationship Id="rId4" Type="http://schemas.openxmlformats.org/officeDocument/2006/relationships/image" Target="../media/image76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8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77.png"/><Relationship Id="rId4" Type="http://schemas.openxmlformats.org/officeDocument/2006/relationships/image" Target="../media/image85.png"/><Relationship Id="rId5" Type="http://schemas.openxmlformats.org/officeDocument/2006/relationships/image" Target="../media/image70.png"/></Relationships>
</file>

<file path=ppt/slides/_rels/slide37.xml.rels><?xml version="1.0" encoding="UTF-8" standalone="yes"?><Relationships xmlns="http://schemas.openxmlformats.org/package/2006/relationships"><Relationship Id="rId10" Type="http://schemas.openxmlformats.org/officeDocument/2006/relationships/image" Target="../media/image89.png"/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77.png"/><Relationship Id="rId4" Type="http://schemas.openxmlformats.org/officeDocument/2006/relationships/image" Target="../media/image78.png"/><Relationship Id="rId9" Type="http://schemas.openxmlformats.org/officeDocument/2006/relationships/image" Target="../media/image100.png"/><Relationship Id="rId5" Type="http://schemas.openxmlformats.org/officeDocument/2006/relationships/image" Target="../media/image80.png"/><Relationship Id="rId6" Type="http://schemas.openxmlformats.org/officeDocument/2006/relationships/image" Target="../media/image79.png"/><Relationship Id="rId7" Type="http://schemas.openxmlformats.org/officeDocument/2006/relationships/image" Target="../media/image86.png"/><Relationship Id="rId8" Type="http://schemas.openxmlformats.org/officeDocument/2006/relationships/image" Target="../media/image81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77.png"/><Relationship Id="rId4" Type="http://schemas.openxmlformats.org/officeDocument/2006/relationships/image" Target="../media/image88.png"/><Relationship Id="rId5" Type="http://schemas.openxmlformats.org/officeDocument/2006/relationships/image" Target="../media/image83.png"/><Relationship Id="rId6" Type="http://schemas.openxmlformats.org/officeDocument/2006/relationships/image" Target="../media/image91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77.png"/><Relationship Id="rId4" Type="http://schemas.openxmlformats.org/officeDocument/2006/relationships/image" Target="../media/image116.png"/><Relationship Id="rId5" Type="http://schemas.openxmlformats.org/officeDocument/2006/relationships/image" Target="../media/image109.png"/><Relationship Id="rId6" Type="http://schemas.openxmlformats.org/officeDocument/2006/relationships/image" Target="../media/image102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77.png"/><Relationship Id="rId4" Type="http://schemas.openxmlformats.org/officeDocument/2006/relationships/image" Target="../media/image87.png"/><Relationship Id="rId5" Type="http://schemas.openxmlformats.org/officeDocument/2006/relationships/image" Target="../media/image118.png"/><Relationship Id="rId6" Type="http://schemas.openxmlformats.org/officeDocument/2006/relationships/image" Target="../media/image94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77.png"/><Relationship Id="rId4" Type="http://schemas.openxmlformats.org/officeDocument/2006/relationships/image" Target="../media/image90.png"/><Relationship Id="rId5" Type="http://schemas.openxmlformats.org/officeDocument/2006/relationships/image" Target="../media/image95.png"/><Relationship Id="rId6" Type="http://schemas.openxmlformats.org/officeDocument/2006/relationships/image" Target="../media/image107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92.png"/><Relationship Id="rId4" Type="http://schemas.openxmlformats.org/officeDocument/2006/relationships/image" Target="../media/image105.png"/><Relationship Id="rId9" Type="http://schemas.openxmlformats.org/officeDocument/2006/relationships/image" Target="../media/image99.png"/><Relationship Id="rId5" Type="http://schemas.openxmlformats.org/officeDocument/2006/relationships/image" Target="../media/image93.png"/><Relationship Id="rId6" Type="http://schemas.openxmlformats.org/officeDocument/2006/relationships/image" Target="../media/image98.png"/><Relationship Id="rId7" Type="http://schemas.openxmlformats.org/officeDocument/2006/relationships/image" Target="../media/image97.png"/><Relationship Id="rId8" Type="http://schemas.openxmlformats.org/officeDocument/2006/relationships/image" Target="../media/image96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77.png"/><Relationship Id="rId4" Type="http://schemas.openxmlformats.org/officeDocument/2006/relationships/image" Target="../media/image106.png"/><Relationship Id="rId5" Type="http://schemas.openxmlformats.org/officeDocument/2006/relationships/image" Target="../media/image108.png"/><Relationship Id="rId6" Type="http://schemas.openxmlformats.org/officeDocument/2006/relationships/image" Target="../media/image101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8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15.jp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8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8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111.jp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112.jp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13.png"/><Relationship Id="rId4" Type="http://schemas.openxmlformats.org/officeDocument/2006/relationships/image" Target="../media/image12.png"/><Relationship Id="rId5" Type="http://schemas.openxmlformats.org/officeDocument/2006/relationships/image" Target="../media/image24.png"/><Relationship Id="rId6" Type="http://schemas.openxmlformats.org/officeDocument/2006/relationships/image" Target="../media/image23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13.png"/><Relationship Id="rId4" Type="http://schemas.openxmlformats.org/officeDocument/2006/relationships/image" Target="../media/image12.png"/><Relationship Id="rId5" Type="http://schemas.openxmlformats.org/officeDocument/2006/relationships/image" Target="../media/image84.jp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13.png"/><Relationship Id="rId4" Type="http://schemas.openxmlformats.org/officeDocument/2006/relationships/image" Target="../media/image12.png"/><Relationship Id="rId5" Type="http://schemas.openxmlformats.org/officeDocument/2006/relationships/image" Target="../media/image113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117.png"/><Relationship Id="rId4" Type="http://schemas.openxmlformats.org/officeDocument/2006/relationships/image" Target="../media/image114.png"/><Relationship Id="rId5" Type="http://schemas.openxmlformats.org/officeDocument/2006/relationships/image" Target="../media/image110.png"/><Relationship Id="rId6" Type="http://schemas.openxmlformats.org/officeDocument/2006/relationships/image" Target="../media/image119.jp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26.jp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22.png"/><Relationship Id="rId4" Type="http://schemas.openxmlformats.org/officeDocument/2006/relationships/image" Target="../media/image58.png"/><Relationship Id="rId5" Type="http://schemas.openxmlformats.org/officeDocument/2006/relationships/image" Target="../media/image20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21.png"/><Relationship Id="rId7" Type="http://schemas.openxmlformats.org/officeDocument/2006/relationships/image" Target="../media/image11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21.png"/><Relationship Id="rId6" Type="http://schemas.openxmlformats.org/officeDocument/2006/relationships/image" Target="../media/image11.png"/><Relationship Id="rId7" Type="http://schemas.openxmlformats.org/officeDocument/2006/relationships/image" Target="../media/image29.png"/><Relationship Id="rId8" Type="http://schemas.openxmlformats.org/officeDocument/2006/relationships/image" Target="../media/image43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13.png"/><Relationship Id="rId4" Type="http://schemas.openxmlformats.org/officeDocument/2006/relationships/image" Target="../media/image19.png"/><Relationship Id="rId9" Type="http://schemas.openxmlformats.org/officeDocument/2006/relationships/image" Target="../media/image36.png"/><Relationship Id="rId5" Type="http://schemas.openxmlformats.org/officeDocument/2006/relationships/image" Target="../media/image21.png"/><Relationship Id="rId6" Type="http://schemas.openxmlformats.org/officeDocument/2006/relationships/image" Target="../media/image41.png"/><Relationship Id="rId7" Type="http://schemas.openxmlformats.org/officeDocument/2006/relationships/image" Target="../media/image11.png"/><Relationship Id="rId8" Type="http://schemas.openxmlformats.org/officeDocument/2006/relationships/image" Target="../media/image34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13.png"/><Relationship Id="rId4" Type="http://schemas.openxmlformats.org/officeDocument/2006/relationships/image" Target="../media/image17.png"/><Relationship Id="rId5" Type="http://schemas.openxmlformats.org/officeDocument/2006/relationships/image" Target="../media/image16.png"/><Relationship Id="rId6" Type="http://schemas.openxmlformats.org/officeDocument/2006/relationships/image" Target="../media/image18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13.png"/><Relationship Id="rId4" Type="http://schemas.openxmlformats.org/officeDocument/2006/relationships/image" Target="../media/image20.png"/><Relationship Id="rId5" Type="http://schemas.openxmlformats.org/officeDocument/2006/relationships/image" Target="../media/image47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40.png"/><Relationship Id="rId4" Type="http://schemas.openxmlformats.org/officeDocument/2006/relationships/image" Target="../media/image73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20.png"/><Relationship Id="rId6" Type="http://schemas.openxmlformats.org/officeDocument/2006/relationships/image" Target="../media/image28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17.png"/><Relationship Id="rId4" Type="http://schemas.openxmlformats.org/officeDocument/2006/relationships/image" Target="../media/image13.png"/><Relationship Id="rId5" Type="http://schemas.openxmlformats.org/officeDocument/2006/relationships/image" Target="../media/image20.png"/><Relationship Id="rId6" Type="http://schemas.openxmlformats.org/officeDocument/2006/relationships/image" Target="../media/image51.pn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13.png"/><Relationship Id="rId4" Type="http://schemas.openxmlformats.org/officeDocument/2006/relationships/image" Target="../media/image30.pn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13.png"/><Relationship Id="rId4" Type="http://schemas.openxmlformats.org/officeDocument/2006/relationships/image" Target="../media/image38.png"/><Relationship Id="rId5" Type="http://schemas.openxmlformats.org/officeDocument/2006/relationships/image" Target="../media/image48.pn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35.pn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31.pn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66.png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49.png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26.jpg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55.png"/><Relationship Id="rId4" Type="http://schemas.openxmlformats.org/officeDocument/2006/relationships/image" Target="../media/image53.png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54.png"/><Relationship Id="rId4" Type="http://schemas.openxmlformats.org/officeDocument/2006/relationships/image" Target="../media/image53.png"/><Relationship Id="rId5" Type="http://schemas.openxmlformats.org/officeDocument/2006/relationships/image" Target="../media/image52.png"/><Relationship Id="rId6" Type="http://schemas.openxmlformats.org/officeDocument/2006/relationships/image" Target="../media/image50.png"/><Relationship Id="rId7" Type="http://schemas.openxmlformats.org/officeDocument/2006/relationships/image" Target="../media/image121.png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54.png"/><Relationship Id="rId4" Type="http://schemas.openxmlformats.org/officeDocument/2006/relationships/image" Target="../media/image53.png"/><Relationship Id="rId5" Type="http://schemas.openxmlformats.org/officeDocument/2006/relationships/image" Target="../media/image61.png"/><Relationship Id="rId6" Type="http://schemas.openxmlformats.org/officeDocument/2006/relationships/image" Target="../media/image71.png"/><Relationship Id="rId7" Type="http://schemas.openxmlformats.org/officeDocument/2006/relationships/image" Target="../media/image57.png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54.png"/><Relationship Id="rId4" Type="http://schemas.openxmlformats.org/officeDocument/2006/relationships/image" Target="../media/image53.png"/><Relationship Id="rId5" Type="http://schemas.openxmlformats.org/officeDocument/2006/relationships/image" Target="../media/image69.png"/><Relationship Id="rId6" Type="http://schemas.openxmlformats.org/officeDocument/2006/relationships/image" Target="../media/image59.png"/><Relationship Id="rId7" Type="http://schemas.openxmlformats.org/officeDocument/2006/relationships/image" Target="../media/image56.png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54.png"/><Relationship Id="rId4" Type="http://schemas.openxmlformats.org/officeDocument/2006/relationships/image" Target="../media/image53.png"/><Relationship Id="rId5" Type="http://schemas.openxmlformats.org/officeDocument/2006/relationships/image" Target="../media/image74.png"/><Relationship Id="rId6" Type="http://schemas.openxmlformats.org/officeDocument/2006/relationships/image" Target="../media/image60.png"/><Relationship Id="rId7" Type="http://schemas.openxmlformats.org/officeDocument/2006/relationships/image" Target="../media/image72.png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54.png"/><Relationship Id="rId4" Type="http://schemas.openxmlformats.org/officeDocument/2006/relationships/image" Target="../media/image53.png"/><Relationship Id="rId5" Type="http://schemas.openxmlformats.org/officeDocument/2006/relationships/image" Target="../media/image75.png"/><Relationship Id="rId6" Type="http://schemas.openxmlformats.org/officeDocument/2006/relationships/image" Target="../media/image63.png"/><Relationship Id="rId7" Type="http://schemas.openxmlformats.org/officeDocument/2006/relationships/image" Target="../media/image62.png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54.png"/><Relationship Id="rId4" Type="http://schemas.openxmlformats.org/officeDocument/2006/relationships/image" Target="../media/image64.png"/><Relationship Id="rId5" Type="http://schemas.openxmlformats.org/officeDocument/2006/relationships/image" Target="../media/image82.png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54.png"/><Relationship Id="rId4" Type="http://schemas.openxmlformats.org/officeDocument/2006/relationships/image" Target="../media/image76.png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77.png"/><Relationship Id="rId4" Type="http://schemas.openxmlformats.org/officeDocument/2006/relationships/image" Target="../media/image85.png"/><Relationship Id="rId5" Type="http://schemas.openxmlformats.org/officeDocument/2006/relationships/image" Target="../media/image70.png"/></Relationships>
</file>

<file path=ppt/slides/_rels/slide87.xml.rels><?xml version="1.0" encoding="UTF-8" standalone="yes"?><Relationships xmlns="http://schemas.openxmlformats.org/package/2006/relationships"><Relationship Id="rId10" Type="http://schemas.openxmlformats.org/officeDocument/2006/relationships/image" Target="../media/image89.png"/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77.png"/><Relationship Id="rId4" Type="http://schemas.openxmlformats.org/officeDocument/2006/relationships/image" Target="../media/image78.png"/><Relationship Id="rId9" Type="http://schemas.openxmlformats.org/officeDocument/2006/relationships/image" Target="../media/image100.png"/><Relationship Id="rId5" Type="http://schemas.openxmlformats.org/officeDocument/2006/relationships/image" Target="../media/image80.png"/><Relationship Id="rId6" Type="http://schemas.openxmlformats.org/officeDocument/2006/relationships/image" Target="../media/image79.png"/><Relationship Id="rId7" Type="http://schemas.openxmlformats.org/officeDocument/2006/relationships/image" Target="../media/image86.png"/><Relationship Id="rId8" Type="http://schemas.openxmlformats.org/officeDocument/2006/relationships/image" Target="../media/image81.png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77.png"/><Relationship Id="rId4" Type="http://schemas.openxmlformats.org/officeDocument/2006/relationships/image" Target="../media/image88.png"/><Relationship Id="rId5" Type="http://schemas.openxmlformats.org/officeDocument/2006/relationships/image" Target="../media/image83.png"/><Relationship Id="rId6" Type="http://schemas.openxmlformats.org/officeDocument/2006/relationships/image" Target="../media/image91.png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77.png"/><Relationship Id="rId4" Type="http://schemas.openxmlformats.org/officeDocument/2006/relationships/image" Target="../media/image116.png"/><Relationship Id="rId5" Type="http://schemas.openxmlformats.org/officeDocument/2006/relationships/image" Target="../media/image109.png"/><Relationship Id="rId6" Type="http://schemas.openxmlformats.org/officeDocument/2006/relationships/image" Target="../media/image102.png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0.xml"/><Relationship Id="rId3" Type="http://schemas.openxmlformats.org/officeDocument/2006/relationships/image" Target="../media/image77.png"/><Relationship Id="rId4" Type="http://schemas.openxmlformats.org/officeDocument/2006/relationships/image" Target="../media/image87.png"/><Relationship Id="rId5" Type="http://schemas.openxmlformats.org/officeDocument/2006/relationships/image" Target="../media/image118.png"/><Relationship Id="rId6" Type="http://schemas.openxmlformats.org/officeDocument/2006/relationships/image" Target="../media/image94.png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1.xml"/><Relationship Id="rId3" Type="http://schemas.openxmlformats.org/officeDocument/2006/relationships/image" Target="../media/image77.png"/><Relationship Id="rId4" Type="http://schemas.openxmlformats.org/officeDocument/2006/relationships/image" Target="../media/image90.png"/><Relationship Id="rId5" Type="http://schemas.openxmlformats.org/officeDocument/2006/relationships/image" Target="../media/image95.png"/><Relationship Id="rId6" Type="http://schemas.openxmlformats.org/officeDocument/2006/relationships/image" Target="../media/image107.png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2.xml"/><Relationship Id="rId3" Type="http://schemas.openxmlformats.org/officeDocument/2006/relationships/image" Target="../media/image92.png"/><Relationship Id="rId4" Type="http://schemas.openxmlformats.org/officeDocument/2006/relationships/image" Target="../media/image105.png"/><Relationship Id="rId9" Type="http://schemas.openxmlformats.org/officeDocument/2006/relationships/image" Target="../media/image99.png"/><Relationship Id="rId5" Type="http://schemas.openxmlformats.org/officeDocument/2006/relationships/image" Target="../media/image93.png"/><Relationship Id="rId6" Type="http://schemas.openxmlformats.org/officeDocument/2006/relationships/image" Target="../media/image98.png"/><Relationship Id="rId7" Type="http://schemas.openxmlformats.org/officeDocument/2006/relationships/image" Target="../media/image97.png"/><Relationship Id="rId8" Type="http://schemas.openxmlformats.org/officeDocument/2006/relationships/image" Target="../media/image96.png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3.xml"/><Relationship Id="rId3" Type="http://schemas.openxmlformats.org/officeDocument/2006/relationships/image" Target="../media/image77.png"/><Relationship Id="rId4" Type="http://schemas.openxmlformats.org/officeDocument/2006/relationships/image" Target="../media/image106.png"/><Relationship Id="rId5" Type="http://schemas.openxmlformats.org/officeDocument/2006/relationships/image" Target="../media/image108.png"/><Relationship Id="rId6" Type="http://schemas.openxmlformats.org/officeDocument/2006/relationships/image" Target="../media/image101.png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4.xml"/><Relationship Id="rId3" Type="http://schemas.openxmlformats.org/officeDocument/2006/relationships/image" Target="../media/image115.jpg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Relationship Id="rId3" Type="http://schemas.openxmlformats.org/officeDocument/2006/relationships/image" Target="../media/image12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E7E0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/>
          <p:nvPr/>
        </p:nvSpPr>
        <p:spPr>
          <a:xfrm>
            <a:off x="480060" y="411480"/>
            <a:ext cx="1371600" cy="288000"/>
          </a:xfrm>
          <a:prstGeom prst="roundRect">
            <a:avLst>
              <a:gd fmla="val 19048" name="adj"/>
            </a:avLst>
          </a:prstGeom>
          <a:solidFill>
            <a:srgbClr val="1C2A4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4"/>
          <p:cNvSpPr/>
          <p:nvPr/>
        </p:nvSpPr>
        <p:spPr>
          <a:xfrm>
            <a:off x="480060" y="411480"/>
            <a:ext cx="13716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ko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AIFFEL DLTHON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8" name="Google Shape;58;p14"/>
          <p:cNvPicPr preferRelativeResize="0"/>
          <p:nvPr/>
        </p:nvPicPr>
        <p:blipFill rotWithShape="1">
          <a:blip r:embed="rId3">
            <a:alphaModFix amt="10000"/>
          </a:blip>
          <a:srcRect b="0" l="0" r="0" t="0"/>
          <a:stretch/>
        </p:blipFill>
        <p:spPr>
          <a:xfrm>
            <a:off x="6583680" y="2057400"/>
            <a:ext cx="2194560" cy="219456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4"/>
          <p:cNvSpPr/>
          <p:nvPr/>
        </p:nvSpPr>
        <p:spPr>
          <a:xfrm>
            <a:off x="480060" y="1748790"/>
            <a:ext cx="7543800" cy="7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A44"/>
              </a:buClr>
              <a:buSzPts val="3200"/>
              <a:buFont typeface="Calibri"/>
              <a:buNone/>
            </a:pPr>
            <a:r>
              <a:rPr b="1" i="0" lang="ko" sz="3200" u="none" cap="none" strike="noStrike">
                <a:solidFill>
                  <a:srgbClr val="1C2A44"/>
                </a:solidFill>
                <a:latin typeface="Calibri"/>
                <a:ea typeface="Calibri"/>
                <a:cs typeface="Calibri"/>
                <a:sym typeface="Calibri"/>
              </a:rPr>
              <a:t>AIFFEL DLthon 발표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14"/>
          <p:cNvSpPr/>
          <p:nvPr/>
        </p:nvSpPr>
        <p:spPr>
          <a:xfrm>
            <a:off x="500634" y="2434590"/>
            <a:ext cx="6858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4C"/>
              </a:buClr>
              <a:buSzPts val="1400"/>
              <a:buFont typeface="Calibri"/>
              <a:buNone/>
            </a:pPr>
            <a:r>
              <a:rPr b="0" i="1" lang="ko" sz="1400" u="none" cap="none" strike="noStrike">
                <a:solidFill>
                  <a:srgbClr val="C9A24C"/>
                </a:solidFill>
                <a:latin typeface="Calibri"/>
                <a:ea typeface="Calibri"/>
                <a:cs typeface="Calibri"/>
                <a:sym typeface="Calibri"/>
              </a:rPr>
              <a:t>Kaggle Competition Presentation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1" name="Google Shape;61;p14"/>
          <p:cNvCxnSpPr/>
          <p:nvPr/>
        </p:nvCxnSpPr>
        <p:spPr>
          <a:xfrm>
            <a:off x="500634" y="2880360"/>
            <a:ext cx="2469000" cy="0"/>
          </a:xfrm>
          <a:prstGeom prst="straightConnector1">
            <a:avLst/>
          </a:prstGeom>
          <a:noFill/>
          <a:ln cap="flat" cmpd="sng" w="19050">
            <a:solidFill>
              <a:srgbClr val="C9A24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4"/>
          <p:cNvSpPr/>
          <p:nvPr/>
        </p:nvSpPr>
        <p:spPr>
          <a:xfrm>
            <a:off x="377190" y="4217670"/>
            <a:ext cx="8286600" cy="685800"/>
          </a:xfrm>
          <a:prstGeom prst="roundRect">
            <a:avLst>
              <a:gd fmla="val 8000" name="adj"/>
            </a:avLst>
          </a:prstGeom>
          <a:solidFill>
            <a:srgbClr val="C9A24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4"/>
          <p:cNvSpPr/>
          <p:nvPr/>
        </p:nvSpPr>
        <p:spPr>
          <a:xfrm>
            <a:off x="377190" y="4306824"/>
            <a:ext cx="27621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4A68"/>
              </a:buClr>
              <a:buSzPts val="800"/>
              <a:buFont typeface="Calibri"/>
              <a:buNone/>
            </a:pPr>
            <a:r>
              <a:rPr b="1" i="0" lang="ko" u="none" cap="none" strike="noStrike">
                <a:solidFill>
                  <a:srgbClr val="3A4A68"/>
                </a:solidFill>
                <a:latin typeface="Calibri"/>
                <a:ea typeface="Calibri"/>
                <a:cs typeface="Calibri"/>
                <a:sym typeface="Calibri"/>
              </a:rPr>
              <a:t>발표자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14"/>
          <p:cNvSpPr/>
          <p:nvPr/>
        </p:nvSpPr>
        <p:spPr>
          <a:xfrm>
            <a:off x="377190" y="4519422"/>
            <a:ext cx="27621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2A44"/>
              </a:buClr>
              <a:buSzPts val="1400"/>
              <a:buFont typeface="Calibri"/>
              <a:buNone/>
            </a:pPr>
            <a:r>
              <a:rPr b="1" lang="ko">
                <a:solidFill>
                  <a:srgbClr val="1C2A44"/>
                </a:solidFill>
                <a:latin typeface="Calibri"/>
                <a:ea typeface="Calibri"/>
                <a:cs typeface="Calibri"/>
                <a:sym typeface="Calibri"/>
              </a:rPr>
              <a:t>오 용 석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4"/>
          <p:cNvSpPr/>
          <p:nvPr/>
        </p:nvSpPr>
        <p:spPr>
          <a:xfrm>
            <a:off x="3139363" y="4306824"/>
            <a:ext cx="27621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4A68"/>
              </a:buClr>
              <a:buSzPts val="800"/>
              <a:buFont typeface="Calibri"/>
              <a:buNone/>
            </a:pPr>
            <a:r>
              <a:rPr b="1" i="0" lang="ko" u="none" cap="none" strike="noStrike">
                <a:solidFill>
                  <a:srgbClr val="3A4A68"/>
                </a:solidFill>
                <a:latin typeface="Calibri"/>
                <a:ea typeface="Calibri"/>
                <a:cs typeface="Calibri"/>
                <a:sym typeface="Calibri"/>
              </a:rPr>
              <a:t>팀명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14"/>
          <p:cNvSpPr/>
          <p:nvPr/>
        </p:nvSpPr>
        <p:spPr>
          <a:xfrm>
            <a:off x="3139363" y="4519422"/>
            <a:ext cx="27621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2A44"/>
              </a:buClr>
              <a:buSzPts val="1400"/>
              <a:buFont typeface="Calibri"/>
              <a:buNone/>
            </a:pPr>
            <a:r>
              <a:rPr b="1" lang="ko">
                <a:solidFill>
                  <a:srgbClr val="1C2A44"/>
                </a:solidFill>
                <a:latin typeface="Calibri"/>
                <a:ea typeface="Calibri"/>
                <a:cs typeface="Calibri"/>
                <a:sym typeface="Calibri"/>
              </a:rPr>
              <a:t>Offline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7" name="Google Shape;67;p14"/>
          <p:cNvCxnSpPr/>
          <p:nvPr/>
        </p:nvCxnSpPr>
        <p:spPr>
          <a:xfrm>
            <a:off x="3139364" y="4320540"/>
            <a:ext cx="0" cy="480300"/>
          </a:xfrm>
          <a:prstGeom prst="straightConnector1">
            <a:avLst/>
          </a:prstGeom>
          <a:noFill/>
          <a:ln cap="flat" cmpd="sng" w="7150">
            <a:solidFill>
              <a:srgbClr val="1C2A44">
                <a:alpha val="451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8" name="Google Shape;68;p14"/>
          <p:cNvSpPr/>
          <p:nvPr/>
        </p:nvSpPr>
        <p:spPr>
          <a:xfrm>
            <a:off x="5901538" y="4306824"/>
            <a:ext cx="27621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4A68"/>
              </a:buClr>
              <a:buSzPts val="800"/>
              <a:buFont typeface="Calibri"/>
              <a:buNone/>
            </a:pPr>
            <a:r>
              <a:rPr b="1" i="0" lang="ko" u="none" cap="none" strike="noStrike">
                <a:solidFill>
                  <a:srgbClr val="3A4A68"/>
                </a:solidFill>
                <a:latin typeface="Calibri"/>
                <a:ea typeface="Calibri"/>
                <a:cs typeface="Calibri"/>
                <a:sym typeface="Calibri"/>
              </a:rPr>
              <a:t>발표일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14"/>
          <p:cNvSpPr/>
          <p:nvPr/>
        </p:nvSpPr>
        <p:spPr>
          <a:xfrm>
            <a:off x="5901538" y="4519422"/>
            <a:ext cx="27621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2A44"/>
              </a:buClr>
              <a:buSzPts val="1400"/>
              <a:buFont typeface="Calibri"/>
              <a:buNone/>
            </a:pPr>
            <a:r>
              <a:rPr b="1" i="0" lang="ko" sz="1400" u="none" cap="none" strike="noStrike">
                <a:solidFill>
                  <a:srgbClr val="1C2A44"/>
                </a:solidFill>
                <a:latin typeface="Calibri"/>
                <a:ea typeface="Calibri"/>
                <a:cs typeface="Calibri"/>
                <a:sym typeface="Calibri"/>
              </a:rPr>
              <a:t>2026.07.02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0" name="Google Shape;70;p14"/>
          <p:cNvCxnSpPr/>
          <p:nvPr/>
        </p:nvCxnSpPr>
        <p:spPr>
          <a:xfrm>
            <a:off x="5901538" y="4320540"/>
            <a:ext cx="0" cy="480300"/>
          </a:xfrm>
          <a:prstGeom prst="straightConnector1">
            <a:avLst/>
          </a:prstGeom>
          <a:noFill/>
          <a:ln cap="flat" cmpd="sng" w="7150">
            <a:solidFill>
              <a:srgbClr val="1C2A44">
                <a:alpha val="451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E7E0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/>
          <p:nvPr/>
        </p:nvSpPr>
        <p:spPr>
          <a:xfrm>
            <a:off x="480060" y="187601"/>
            <a:ext cx="34290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A44"/>
              </a:buClr>
              <a:buSzPts val="2400"/>
              <a:buFont typeface="Calibri"/>
              <a:buNone/>
            </a:pPr>
            <a:r>
              <a:rPr b="1" i="0" lang="ko" sz="2400" u="none" cap="none" strike="noStrike">
                <a:solidFill>
                  <a:srgbClr val="1C2A44"/>
                </a:solidFill>
                <a:latin typeface="Calibri"/>
                <a:ea typeface="Calibri"/>
                <a:cs typeface="Calibri"/>
                <a:sym typeface="Calibri"/>
              </a:rPr>
              <a:t>목차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5"/>
          <p:cNvSpPr/>
          <p:nvPr/>
        </p:nvSpPr>
        <p:spPr>
          <a:xfrm>
            <a:off x="507492" y="599081"/>
            <a:ext cx="3429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4C"/>
              </a:buClr>
              <a:buSzPts val="1100"/>
              <a:buFont typeface="Calibri"/>
              <a:buNone/>
            </a:pPr>
            <a:r>
              <a:rPr b="0" i="1" lang="ko" sz="1100" u="none" cap="none" strike="noStrike">
                <a:solidFill>
                  <a:srgbClr val="C9A24C"/>
                </a:solidFill>
                <a:latin typeface="Calibri"/>
                <a:ea typeface="Calibri"/>
                <a:cs typeface="Calibri"/>
                <a:sym typeface="Calibri"/>
              </a:rPr>
              <a:t>Contents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8" name="Google Shape;78;p15"/>
          <p:cNvCxnSpPr/>
          <p:nvPr/>
        </p:nvCxnSpPr>
        <p:spPr>
          <a:xfrm>
            <a:off x="493776" y="907691"/>
            <a:ext cx="2057400" cy="0"/>
          </a:xfrm>
          <a:prstGeom prst="straightConnector1">
            <a:avLst/>
          </a:prstGeom>
          <a:noFill/>
          <a:ln cap="flat" cmpd="sng" w="19050">
            <a:solidFill>
              <a:srgbClr val="C9A24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9" name="Google Shape;79;p15"/>
          <p:cNvSpPr/>
          <p:nvPr/>
        </p:nvSpPr>
        <p:spPr>
          <a:xfrm>
            <a:off x="480060" y="1113431"/>
            <a:ext cx="8183700" cy="384000"/>
          </a:xfrm>
          <a:prstGeom prst="roundRect">
            <a:avLst>
              <a:gd fmla="val 10714" name="adj"/>
            </a:avLst>
          </a:prstGeom>
          <a:solidFill>
            <a:srgbClr val="1C2A4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5"/>
          <p:cNvSpPr/>
          <p:nvPr/>
        </p:nvSpPr>
        <p:spPr>
          <a:xfrm>
            <a:off x="603504" y="1175153"/>
            <a:ext cx="260700" cy="260700"/>
          </a:xfrm>
          <a:prstGeom prst="ellipse">
            <a:avLst/>
          </a:prstGeom>
          <a:solidFill>
            <a:srgbClr val="C9A24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1" name="Google Shape;8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5226" y="1236875"/>
            <a:ext cx="137160" cy="13716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5"/>
          <p:cNvSpPr/>
          <p:nvPr/>
        </p:nvSpPr>
        <p:spPr>
          <a:xfrm>
            <a:off x="960120" y="1113431"/>
            <a:ext cx="7566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4C"/>
              </a:buClr>
              <a:buSzPts val="1200"/>
              <a:buFont typeface="Calibri"/>
              <a:buNone/>
            </a:pPr>
            <a:r>
              <a:rPr b="1" i="0" lang="ko" sz="1200" u="none" cap="none" strike="noStrike">
                <a:solidFill>
                  <a:srgbClr val="C9A24C"/>
                </a:solidFill>
                <a:latin typeface="Calibri"/>
                <a:ea typeface="Calibri"/>
                <a:cs typeface="Calibri"/>
                <a:sym typeface="Calibri"/>
              </a:rPr>
              <a:t>01   </a:t>
            </a:r>
            <a:r>
              <a:rPr b="1" i="0" lang="ko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캐글 챌린지 소개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5"/>
          <p:cNvSpPr/>
          <p:nvPr/>
        </p:nvSpPr>
        <p:spPr>
          <a:xfrm>
            <a:off x="480060" y="1579775"/>
            <a:ext cx="8183700" cy="384000"/>
          </a:xfrm>
          <a:prstGeom prst="roundRect">
            <a:avLst>
              <a:gd fmla="val 10714" name="adj"/>
            </a:avLst>
          </a:prstGeom>
          <a:solidFill>
            <a:srgbClr val="1C2A4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5"/>
          <p:cNvSpPr/>
          <p:nvPr/>
        </p:nvSpPr>
        <p:spPr>
          <a:xfrm>
            <a:off x="603504" y="1641497"/>
            <a:ext cx="260700" cy="260700"/>
          </a:xfrm>
          <a:prstGeom prst="ellipse">
            <a:avLst/>
          </a:prstGeom>
          <a:solidFill>
            <a:srgbClr val="C9A24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5" name="Google Shape;8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5226" y="1703219"/>
            <a:ext cx="137160" cy="13716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5"/>
          <p:cNvSpPr/>
          <p:nvPr/>
        </p:nvSpPr>
        <p:spPr>
          <a:xfrm>
            <a:off x="960120" y="1579775"/>
            <a:ext cx="7566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4C"/>
              </a:buClr>
              <a:buSzPts val="1200"/>
              <a:buFont typeface="Calibri"/>
              <a:buNone/>
            </a:pPr>
            <a:r>
              <a:rPr b="1" i="0" lang="ko" sz="1200" u="none" cap="none" strike="noStrike">
                <a:solidFill>
                  <a:srgbClr val="C9A24C"/>
                </a:solidFill>
                <a:latin typeface="Calibri"/>
                <a:ea typeface="Calibri"/>
                <a:cs typeface="Calibri"/>
                <a:sym typeface="Calibri"/>
              </a:rPr>
              <a:t>02   </a:t>
            </a:r>
            <a:r>
              <a:rPr b="1" i="0" lang="ko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챌린지 수행 과정 및 최종 결과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5"/>
          <p:cNvSpPr/>
          <p:nvPr/>
        </p:nvSpPr>
        <p:spPr>
          <a:xfrm>
            <a:off x="480060" y="2046119"/>
            <a:ext cx="8183700" cy="384000"/>
          </a:xfrm>
          <a:prstGeom prst="roundRect">
            <a:avLst>
              <a:gd fmla="val 10714" name="adj"/>
            </a:avLst>
          </a:prstGeom>
          <a:solidFill>
            <a:srgbClr val="1C2A4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5"/>
          <p:cNvSpPr/>
          <p:nvPr/>
        </p:nvSpPr>
        <p:spPr>
          <a:xfrm>
            <a:off x="603504" y="2107841"/>
            <a:ext cx="260700" cy="260700"/>
          </a:xfrm>
          <a:prstGeom prst="ellipse">
            <a:avLst/>
          </a:prstGeom>
          <a:solidFill>
            <a:srgbClr val="C9A24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9" name="Google Shape;8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5226" y="2169563"/>
            <a:ext cx="137160" cy="13716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5"/>
          <p:cNvSpPr/>
          <p:nvPr/>
        </p:nvSpPr>
        <p:spPr>
          <a:xfrm>
            <a:off x="960120" y="2046119"/>
            <a:ext cx="7566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4C"/>
              </a:buClr>
              <a:buSzPts val="1200"/>
              <a:buFont typeface="Calibri"/>
              <a:buNone/>
            </a:pPr>
            <a:r>
              <a:rPr b="1" i="0" lang="ko" sz="1200" u="none" cap="none" strike="noStrike">
                <a:solidFill>
                  <a:srgbClr val="C9A24C"/>
                </a:solidFill>
                <a:latin typeface="Calibri"/>
                <a:ea typeface="Calibri"/>
                <a:cs typeface="Calibri"/>
                <a:sym typeface="Calibri"/>
              </a:rPr>
              <a:t>03   </a:t>
            </a:r>
            <a:r>
              <a:rPr b="1" i="0" lang="ko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Track-B (학습 데이터 정제)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5"/>
          <p:cNvSpPr/>
          <p:nvPr/>
        </p:nvSpPr>
        <p:spPr>
          <a:xfrm>
            <a:off x="480060" y="2512463"/>
            <a:ext cx="8183700" cy="384000"/>
          </a:xfrm>
          <a:prstGeom prst="roundRect">
            <a:avLst>
              <a:gd fmla="val 10714" name="adj"/>
            </a:avLst>
          </a:prstGeom>
          <a:solidFill>
            <a:srgbClr val="1C2A4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5"/>
          <p:cNvSpPr/>
          <p:nvPr/>
        </p:nvSpPr>
        <p:spPr>
          <a:xfrm>
            <a:off x="603504" y="2574185"/>
            <a:ext cx="260700" cy="260700"/>
          </a:xfrm>
          <a:prstGeom prst="ellipse">
            <a:avLst/>
          </a:prstGeom>
          <a:solidFill>
            <a:srgbClr val="C9A24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3" name="Google Shape;9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5226" y="2635907"/>
            <a:ext cx="137160" cy="13716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5"/>
          <p:cNvSpPr/>
          <p:nvPr/>
        </p:nvSpPr>
        <p:spPr>
          <a:xfrm>
            <a:off x="960120" y="2512463"/>
            <a:ext cx="7566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4C"/>
              </a:buClr>
              <a:buSzPts val="1200"/>
              <a:buFont typeface="Calibri"/>
              <a:buNone/>
            </a:pPr>
            <a:r>
              <a:rPr b="1" i="0" lang="ko" sz="1200" u="none" cap="none" strike="noStrike">
                <a:solidFill>
                  <a:srgbClr val="C9A24C"/>
                </a:solidFill>
                <a:latin typeface="Calibri"/>
                <a:ea typeface="Calibri"/>
                <a:cs typeface="Calibri"/>
                <a:sym typeface="Calibri"/>
              </a:rPr>
              <a:t>04   </a:t>
            </a:r>
            <a:r>
              <a:rPr b="1" i="0" lang="ko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Track-A (패널 오염 확률 예측 모델 개발)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5"/>
          <p:cNvSpPr/>
          <p:nvPr/>
        </p:nvSpPr>
        <p:spPr>
          <a:xfrm>
            <a:off x="857250" y="2978807"/>
            <a:ext cx="7806300" cy="288000"/>
          </a:xfrm>
          <a:prstGeom prst="roundRect">
            <a:avLst>
              <a:gd fmla="val 11905" name="adj"/>
            </a:avLst>
          </a:prstGeom>
          <a:solidFill>
            <a:srgbClr val="F7F5F0"/>
          </a:solidFill>
          <a:ln cap="flat" cmpd="sng" w="7150">
            <a:solidFill>
              <a:srgbClr val="DCD8C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5"/>
          <p:cNvSpPr/>
          <p:nvPr/>
        </p:nvSpPr>
        <p:spPr>
          <a:xfrm>
            <a:off x="1028700" y="2978807"/>
            <a:ext cx="75321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4C"/>
              </a:buClr>
              <a:buSzPts val="1000"/>
              <a:buFont typeface="Calibri"/>
              <a:buNone/>
            </a:pPr>
            <a:r>
              <a:rPr b="1" i="0" lang="ko" sz="1000" u="none" cap="none" strike="noStrike">
                <a:solidFill>
                  <a:srgbClr val="C9A24C"/>
                </a:solidFill>
                <a:latin typeface="Calibri"/>
                <a:ea typeface="Calibri"/>
                <a:cs typeface="Calibri"/>
                <a:sym typeface="Calibri"/>
              </a:rPr>
              <a:t>4.1   </a:t>
            </a:r>
            <a:r>
              <a:rPr b="1" i="0" lang="ko" sz="1000" u="none" cap="none" strike="noStrike">
                <a:solidFill>
                  <a:srgbClr val="1C2A44"/>
                </a:solidFill>
                <a:latin typeface="Calibri"/>
                <a:ea typeface="Calibri"/>
                <a:cs typeface="Calibri"/>
                <a:sym typeface="Calibri"/>
              </a:rPr>
              <a:t>데이터 전처리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5"/>
          <p:cNvSpPr/>
          <p:nvPr/>
        </p:nvSpPr>
        <p:spPr>
          <a:xfrm>
            <a:off x="857250" y="3349139"/>
            <a:ext cx="7806300" cy="288000"/>
          </a:xfrm>
          <a:prstGeom prst="roundRect">
            <a:avLst>
              <a:gd fmla="val 11905" name="adj"/>
            </a:avLst>
          </a:prstGeom>
          <a:solidFill>
            <a:srgbClr val="F7F5F0"/>
          </a:solidFill>
          <a:ln cap="flat" cmpd="sng" w="7150">
            <a:solidFill>
              <a:srgbClr val="DCD8C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5"/>
          <p:cNvSpPr/>
          <p:nvPr/>
        </p:nvSpPr>
        <p:spPr>
          <a:xfrm>
            <a:off x="1028700" y="3349139"/>
            <a:ext cx="75321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4C"/>
              </a:buClr>
              <a:buSzPts val="1000"/>
              <a:buFont typeface="Calibri"/>
              <a:buNone/>
            </a:pPr>
            <a:r>
              <a:rPr b="1" i="0" lang="ko" sz="1000" u="none" cap="none" strike="noStrike">
                <a:solidFill>
                  <a:srgbClr val="C9A24C"/>
                </a:solidFill>
                <a:latin typeface="Calibri"/>
                <a:ea typeface="Calibri"/>
                <a:cs typeface="Calibri"/>
                <a:sym typeface="Calibri"/>
              </a:rPr>
              <a:t>4.2   </a:t>
            </a:r>
            <a:r>
              <a:rPr b="1" i="0" lang="ko" sz="1000" u="none" cap="none" strike="noStrike">
                <a:solidFill>
                  <a:srgbClr val="1C2A44"/>
                </a:solidFill>
                <a:latin typeface="Calibri"/>
                <a:ea typeface="Calibri"/>
                <a:cs typeface="Calibri"/>
                <a:sym typeface="Calibri"/>
              </a:rPr>
              <a:t>모델 선정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5"/>
          <p:cNvSpPr/>
          <p:nvPr/>
        </p:nvSpPr>
        <p:spPr>
          <a:xfrm>
            <a:off x="857250" y="3719471"/>
            <a:ext cx="7806300" cy="288000"/>
          </a:xfrm>
          <a:prstGeom prst="roundRect">
            <a:avLst>
              <a:gd fmla="val 11905" name="adj"/>
            </a:avLst>
          </a:prstGeom>
          <a:solidFill>
            <a:srgbClr val="F7F5F0"/>
          </a:solidFill>
          <a:ln cap="flat" cmpd="sng" w="7150">
            <a:solidFill>
              <a:srgbClr val="DCD8C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5"/>
          <p:cNvSpPr/>
          <p:nvPr/>
        </p:nvSpPr>
        <p:spPr>
          <a:xfrm>
            <a:off x="1028700" y="3719471"/>
            <a:ext cx="75321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4C"/>
              </a:buClr>
              <a:buSzPts val="1000"/>
              <a:buFont typeface="Calibri"/>
              <a:buNone/>
            </a:pPr>
            <a:r>
              <a:rPr b="1" i="0" lang="ko" sz="1000" u="none" cap="none" strike="noStrike">
                <a:solidFill>
                  <a:srgbClr val="C9A24C"/>
                </a:solidFill>
                <a:latin typeface="Calibri"/>
                <a:ea typeface="Calibri"/>
                <a:cs typeface="Calibri"/>
                <a:sym typeface="Calibri"/>
              </a:rPr>
              <a:t>4.3   </a:t>
            </a:r>
            <a:r>
              <a:rPr b="1" i="0" lang="ko" sz="1000" u="none" cap="none" strike="noStrike">
                <a:solidFill>
                  <a:srgbClr val="1C2A44"/>
                </a:solidFill>
                <a:latin typeface="Calibri"/>
                <a:ea typeface="Calibri"/>
                <a:cs typeface="Calibri"/>
                <a:sym typeface="Calibri"/>
              </a:rPr>
              <a:t>학습 전략 </a:t>
            </a:r>
            <a:r>
              <a:rPr b="1" lang="ko" sz="1000">
                <a:solidFill>
                  <a:srgbClr val="1C2A44"/>
                </a:solidFill>
                <a:latin typeface="Calibri"/>
                <a:ea typeface="Calibri"/>
                <a:cs typeface="Calibri"/>
                <a:sym typeface="Calibri"/>
              </a:rPr>
              <a:t>선정</a:t>
            </a:r>
            <a:r>
              <a:rPr b="1" i="0" lang="ko" sz="1000" u="none" cap="none" strike="noStrike">
                <a:solidFill>
                  <a:srgbClr val="1C2A44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5"/>
          <p:cNvSpPr/>
          <p:nvPr/>
        </p:nvSpPr>
        <p:spPr>
          <a:xfrm>
            <a:off x="480060" y="4089803"/>
            <a:ext cx="8183700" cy="384000"/>
          </a:xfrm>
          <a:prstGeom prst="roundRect">
            <a:avLst>
              <a:gd fmla="val 10714" name="adj"/>
            </a:avLst>
          </a:prstGeom>
          <a:solidFill>
            <a:srgbClr val="1C2A4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5"/>
          <p:cNvSpPr/>
          <p:nvPr/>
        </p:nvSpPr>
        <p:spPr>
          <a:xfrm>
            <a:off x="603504" y="4151525"/>
            <a:ext cx="260700" cy="260700"/>
          </a:xfrm>
          <a:prstGeom prst="ellipse">
            <a:avLst/>
          </a:prstGeom>
          <a:solidFill>
            <a:srgbClr val="C9A24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3" name="Google Shape;10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5226" y="4213247"/>
            <a:ext cx="137160" cy="13716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5"/>
          <p:cNvSpPr/>
          <p:nvPr/>
        </p:nvSpPr>
        <p:spPr>
          <a:xfrm>
            <a:off x="960120" y="4089803"/>
            <a:ext cx="7566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4C"/>
              </a:buClr>
              <a:buSzPts val="1200"/>
              <a:buFont typeface="Calibri"/>
              <a:buNone/>
            </a:pPr>
            <a:r>
              <a:rPr b="1" i="0" lang="ko" sz="1200" u="none" cap="none" strike="noStrike">
                <a:solidFill>
                  <a:srgbClr val="C9A24C"/>
                </a:solidFill>
                <a:latin typeface="Calibri"/>
                <a:ea typeface="Calibri"/>
                <a:cs typeface="Calibri"/>
                <a:sym typeface="Calibri"/>
              </a:rPr>
              <a:t>05   </a:t>
            </a:r>
            <a:r>
              <a:rPr b="1" i="0" lang="ko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최종 결론 및 한계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5"/>
          <p:cNvSpPr/>
          <p:nvPr/>
        </p:nvSpPr>
        <p:spPr>
          <a:xfrm>
            <a:off x="480060" y="4556147"/>
            <a:ext cx="8183700" cy="384000"/>
          </a:xfrm>
          <a:prstGeom prst="roundRect">
            <a:avLst>
              <a:gd fmla="val 10714" name="adj"/>
            </a:avLst>
          </a:prstGeom>
          <a:solidFill>
            <a:srgbClr val="1C2A4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5"/>
          <p:cNvSpPr/>
          <p:nvPr/>
        </p:nvSpPr>
        <p:spPr>
          <a:xfrm>
            <a:off x="603504" y="4617869"/>
            <a:ext cx="260700" cy="260700"/>
          </a:xfrm>
          <a:prstGeom prst="ellipse">
            <a:avLst/>
          </a:prstGeom>
          <a:solidFill>
            <a:srgbClr val="C9A24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7" name="Google Shape;10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5226" y="4679591"/>
            <a:ext cx="137160" cy="13716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5"/>
          <p:cNvSpPr/>
          <p:nvPr/>
        </p:nvSpPr>
        <p:spPr>
          <a:xfrm>
            <a:off x="960120" y="4556147"/>
            <a:ext cx="75666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24C"/>
              </a:buClr>
              <a:buSzPts val="1200"/>
              <a:buFont typeface="Calibri"/>
              <a:buNone/>
            </a:pPr>
            <a:r>
              <a:rPr b="1" i="0" lang="ko" sz="1200" u="none" cap="none" strike="noStrike">
                <a:solidFill>
                  <a:srgbClr val="C9A24C"/>
                </a:solidFill>
                <a:latin typeface="Calibri"/>
                <a:ea typeface="Calibri"/>
                <a:cs typeface="Calibri"/>
                <a:sym typeface="Calibri"/>
              </a:rPr>
              <a:t>06   </a:t>
            </a:r>
            <a:r>
              <a:rPr b="1" i="0" lang="ko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Q&amp;A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E7E0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6"/>
          <p:cNvSpPr/>
          <p:nvPr/>
        </p:nvSpPr>
        <p:spPr>
          <a:xfrm>
            <a:off x="480060" y="411480"/>
            <a:ext cx="1166100" cy="274200"/>
          </a:xfrm>
          <a:prstGeom prst="roundRect">
            <a:avLst>
              <a:gd fmla="val 20000" name="adj"/>
            </a:avLst>
          </a:prstGeom>
          <a:solidFill>
            <a:srgbClr val="1C2A4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6"/>
          <p:cNvSpPr/>
          <p:nvPr/>
        </p:nvSpPr>
        <p:spPr>
          <a:xfrm>
            <a:off x="480060" y="411480"/>
            <a:ext cx="1166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ko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SECTION 01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6" name="Google Shape;116;p16"/>
          <p:cNvPicPr preferRelativeResize="0"/>
          <p:nvPr/>
        </p:nvPicPr>
        <p:blipFill rotWithShape="1">
          <a:blip r:embed="rId3">
            <a:alphaModFix amt="10000"/>
          </a:blip>
          <a:srcRect b="0" l="0" r="0" t="0"/>
          <a:stretch/>
        </p:blipFill>
        <p:spPr>
          <a:xfrm>
            <a:off x="6858000" y="1783080"/>
            <a:ext cx="1783080" cy="178308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6"/>
          <p:cNvSpPr/>
          <p:nvPr/>
        </p:nvSpPr>
        <p:spPr>
          <a:xfrm>
            <a:off x="500634" y="2160270"/>
            <a:ext cx="7406400" cy="7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A44"/>
              </a:buClr>
              <a:buSzPts val="2700"/>
              <a:buFont typeface="Calibri"/>
              <a:buNone/>
            </a:pPr>
            <a:r>
              <a:rPr b="1" i="0" lang="ko" sz="2700" u="none" cap="none" strike="noStrike">
                <a:solidFill>
                  <a:srgbClr val="1C2A44"/>
                </a:solidFill>
                <a:latin typeface="Calibri"/>
                <a:ea typeface="Calibri"/>
                <a:cs typeface="Calibri"/>
                <a:sym typeface="Calibri"/>
              </a:rPr>
              <a:t>캐글 챌린지 소개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8" name="Google Shape;118;p16"/>
          <p:cNvCxnSpPr/>
          <p:nvPr/>
        </p:nvCxnSpPr>
        <p:spPr>
          <a:xfrm>
            <a:off x="514350" y="2846070"/>
            <a:ext cx="1783200" cy="0"/>
          </a:xfrm>
          <a:prstGeom prst="straightConnector1">
            <a:avLst/>
          </a:prstGeom>
          <a:noFill/>
          <a:ln cap="flat" cmpd="sng" w="19050">
            <a:solidFill>
              <a:srgbClr val="C9A24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9" name="Google Shape;119;p16"/>
          <p:cNvSpPr/>
          <p:nvPr/>
        </p:nvSpPr>
        <p:spPr>
          <a:xfrm>
            <a:off x="8298180" y="4766310"/>
            <a:ext cx="4803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8496"/>
              </a:buClr>
              <a:buSzPts val="900"/>
              <a:buFont typeface="Calibri"/>
              <a:buNone/>
            </a:pPr>
            <a:r>
              <a:rPr b="0" i="0" lang="ko" sz="900" u="none" cap="none" strike="noStrike">
                <a:solidFill>
                  <a:srgbClr val="8A8496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4" name="Google Shape;12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137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86313" y="1590377"/>
            <a:ext cx="3929063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7"/>
          <p:cNvSpPr txBox="1"/>
          <p:nvPr/>
        </p:nvSpPr>
        <p:spPr>
          <a:xfrm>
            <a:off x="428625" y="1590367"/>
            <a:ext cx="4125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과제목표</a:t>
            </a:r>
            <a:endParaRPr sz="1100"/>
          </a:p>
        </p:txBody>
      </p:sp>
      <p:sp>
        <p:nvSpPr>
          <p:cNvPr id="127" name="Google Shape;127;p17"/>
          <p:cNvSpPr txBox="1"/>
          <p:nvPr/>
        </p:nvSpPr>
        <p:spPr>
          <a:xfrm>
            <a:off x="634331" y="2173060"/>
            <a:ext cx="36402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10B981"/>
                </a:solidFill>
                <a:latin typeface="Lato"/>
                <a:ea typeface="Lato"/>
                <a:cs typeface="Lato"/>
                <a:sym typeface="Lato"/>
              </a:rPr>
              <a:t>dusty_prob:</a:t>
            </a:r>
            <a:r>
              <a:rPr lang="ko" sz="1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ko" sz="1050">
                <a:solidFill>
                  <a:srgbClr val="3C4043"/>
                </a:solidFill>
                <a:highlight>
                  <a:srgbClr val="FFFFFF"/>
                </a:highlight>
              </a:rPr>
              <a:t>이미지가 패널일 때 Dusty일 확률 (0~1)</a:t>
            </a:r>
            <a:r>
              <a:rPr lang="ko" sz="1100">
                <a:solidFill>
                  <a:schemeClr val="dk1"/>
                </a:solidFill>
              </a:rPr>
              <a:t> </a:t>
            </a:r>
            <a:endParaRPr sz="110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28" name="Google Shape;128;p17"/>
          <p:cNvGrpSpPr/>
          <p:nvPr/>
        </p:nvGrpSpPr>
        <p:grpSpPr>
          <a:xfrm>
            <a:off x="428625" y="677651"/>
            <a:ext cx="8694075" cy="369300"/>
            <a:chOff x="428625" y="677651"/>
            <a:chExt cx="8694075" cy="369300"/>
          </a:xfrm>
        </p:grpSpPr>
        <p:sp>
          <p:nvSpPr>
            <p:cNvPr id="129" name="Google Shape;129;p17"/>
            <p:cNvSpPr txBox="1"/>
            <p:nvPr/>
          </p:nvSpPr>
          <p:spPr>
            <a:xfrm>
              <a:off x="571500" y="677651"/>
              <a:ext cx="85512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996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2400">
                  <a:solidFill>
                    <a:srgbClr val="1E293B"/>
                  </a:solidFill>
                  <a:latin typeface="Poppins"/>
                  <a:ea typeface="Poppins"/>
                  <a:cs typeface="Poppins"/>
                  <a:sym typeface="Poppins"/>
                </a:rPr>
                <a:t>Track-A: </a:t>
              </a:r>
              <a:r>
                <a:rPr b="1" i="0" lang="ko" sz="2400" u="none" cap="none" strike="noStrike">
                  <a:solidFill>
                    <a:srgbClr val="1E293B"/>
                  </a:solidFill>
                  <a:latin typeface="Poppins"/>
                  <a:ea typeface="Poppins"/>
                  <a:cs typeface="Poppins"/>
                  <a:sym typeface="Poppins"/>
                </a:rPr>
                <a:t>태양광 패널 </a:t>
              </a:r>
              <a:r>
                <a:rPr b="1" lang="ko" sz="2400">
                  <a:solidFill>
                    <a:srgbClr val="1E293B"/>
                  </a:solidFill>
                  <a:latin typeface="Poppins"/>
                  <a:ea typeface="Poppins"/>
                  <a:cs typeface="Poppins"/>
                  <a:sym typeface="Poppins"/>
                </a:rPr>
                <a:t>오염 분류</a:t>
              </a:r>
              <a:r>
                <a:rPr b="1" i="0" lang="ko" sz="2400" u="none" cap="none" strike="noStrike">
                  <a:solidFill>
                    <a:srgbClr val="1E293B"/>
                  </a:solidFill>
                  <a:latin typeface="Poppins"/>
                  <a:ea typeface="Poppins"/>
                  <a:cs typeface="Poppins"/>
                  <a:sym typeface="Poppins"/>
                </a:rPr>
                <a:t> 과제</a:t>
              </a:r>
              <a:endParaRPr sz="1100"/>
            </a:p>
          </p:txBody>
        </p:sp>
        <p:sp>
          <p:nvSpPr>
            <p:cNvPr id="130" name="Google Shape;130;p17"/>
            <p:cNvSpPr/>
            <p:nvPr/>
          </p:nvSpPr>
          <p:spPr>
            <a:xfrm>
              <a:off x="428625" y="677651"/>
              <a:ext cx="57000" cy="360000"/>
            </a:xfrm>
            <a:prstGeom prst="rect">
              <a:avLst/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1" name="Google Shape;131;p17"/>
          <p:cNvSpPr txBox="1"/>
          <p:nvPr/>
        </p:nvSpPr>
        <p:spPr>
          <a:xfrm>
            <a:off x="485775" y="1897313"/>
            <a:ext cx="3977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1155CC"/>
                </a:solidFill>
                <a:latin typeface="Lato"/>
                <a:ea typeface="Lato"/>
                <a:cs typeface="Lato"/>
                <a:sym typeface="Lato"/>
              </a:rPr>
              <a:t>태양광 패널 이미지 학습 데이터로 패널 오염 확률 예측</a:t>
            </a:r>
            <a:endParaRPr sz="1100">
              <a:solidFill>
                <a:srgbClr val="1155CC"/>
              </a:solidFill>
            </a:endParaRPr>
          </a:p>
        </p:txBody>
      </p:sp>
      <p:pic>
        <p:nvPicPr>
          <p:cNvPr id="132" name="Google Shape;132;p17"/>
          <p:cNvPicPr preferRelativeResize="0"/>
          <p:nvPr/>
        </p:nvPicPr>
        <p:blipFill rotWithShape="1">
          <a:blip r:embed="rId5">
            <a:alphaModFix/>
          </a:blip>
          <a:srcRect b="0" l="4607" r="4698" t="0"/>
          <a:stretch/>
        </p:blipFill>
        <p:spPr>
          <a:xfrm>
            <a:off x="4786275" y="1590375"/>
            <a:ext cx="3929100" cy="2857500"/>
          </a:xfrm>
          <a:prstGeom prst="roundRect">
            <a:avLst>
              <a:gd fmla="val 4785" name="adj"/>
            </a:avLst>
          </a:prstGeom>
          <a:noFill/>
          <a:ln>
            <a:noFill/>
          </a:ln>
        </p:spPr>
      </p:pic>
      <p:sp>
        <p:nvSpPr>
          <p:cNvPr id="133" name="Google Shape;133;p17"/>
          <p:cNvSpPr txBox="1"/>
          <p:nvPr/>
        </p:nvSpPr>
        <p:spPr>
          <a:xfrm>
            <a:off x="428627" y="2428265"/>
            <a:ext cx="4125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평가방법</a:t>
            </a:r>
            <a:endParaRPr sz="1100"/>
          </a:p>
        </p:txBody>
      </p:sp>
      <p:sp>
        <p:nvSpPr>
          <p:cNvPr id="134" name="Google Shape;134;p17"/>
          <p:cNvSpPr txBox="1"/>
          <p:nvPr/>
        </p:nvSpPr>
        <p:spPr>
          <a:xfrm>
            <a:off x="634334" y="2718906"/>
            <a:ext cx="36402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10B981"/>
                </a:solidFill>
                <a:latin typeface="Lato"/>
                <a:ea typeface="Lato"/>
                <a:cs typeface="Lato"/>
                <a:sym typeface="Lato"/>
              </a:rPr>
              <a:t>ROC-AUC:</a:t>
            </a:r>
            <a:r>
              <a:rPr lang="ko" sz="1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ko" sz="1050">
                <a:solidFill>
                  <a:srgbClr val="3C4043"/>
                </a:solidFill>
                <a:highlight>
                  <a:srgbClr val="FFFFFF"/>
                </a:highlight>
              </a:rPr>
              <a:t>모델이 Dusty를 Clean보다 높게 점수 매기는 능력</a:t>
            </a:r>
            <a:endParaRPr sz="110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5" name="Google Shape;135;p17"/>
          <p:cNvSpPr txBox="1"/>
          <p:nvPr/>
        </p:nvSpPr>
        <p:spPr>
          <a:xfrm>
            <a:off x="5250850" y="4562900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깨끗함 패널 이미지(좌) / 더러움 패널 이미지(우) </a:t>
            </a:r>
            <a:endParaRPr/>
          </a:p>
        </p:txBody>
      </p:sp>
      <p:pic>
        <p:nvPicPr>
          <p:cNvPr id="136" name="Google Shape;136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16675" y="2949525"/>
            <a:ext cx="2130550" cy="2036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1" name="Google Shape;14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137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86313" y="1590377"/>
            <a:ext cx="3929063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8"/>
          <p:cNvSpPr txBox="1"/>
          <p:nvPr/>
        </p:nvSpPr>
        <p:spPr>
          <a:xfrm>
            <a:off x="428625" y="1590367"/>
            <a:ext cx="4125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과제목표</a:t>
            </a:r>
            <a:endParaRPr sz="1100"/>
          </a:p>
        </p:txBody>
      </p:sp>
      <p:sp>
        <p:nvSpPr>
          <p:cNvPr id="144" name="Google Shape;144;p18"/>
          <p:cNvSpPr txBox="1"/>
          <p:nvPr/>
        </p:nvSpPr>
        <p:spPr>
          <a:xfrm>
            <a:off x="634331" y="2539406"/>
            <a:ext cx="3640200" cy="7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10B981"/>
                </a:solidFill>
                <a:latin typeface="Lato"/>
                <a:ea typeface="Lato"/>
                <a:cs typeface="Lato"/>
                <a:sym typeface="Lato"/>
              </a:rPr>
              <a:t>dup_score :</a:t>
            </a:r>
            <a:r>
              <a:rPr lang="ko" sz="1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타 이미지와 시각적으로 근접 중복일 가능성</a:t>
            </a:r>
            <a:endParaRPr sz="110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10B981"/>
                </a:solidFill>
                <a:latin typeface="Lato"/>
                <a:ea typeface="Lato"/>
                <a:cs typeface="Lato"/>
                <a:sym typeface="Lato"/>
              </a:rPr>
              <a:t>ood_score :</a:t>
            </a:r>
            <a:r>
              <a:rPr lang="ko" sz="1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패널이 아닌 이미지(off-topic)일 가능성  </a:t>
            </a:r>
            <a:endParaRPr sz="110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10B981"/>
                </a:solidFill>
                <a:latin typeface="Lato"/>
                <a:ea typeface="Lato"/>
                <a:cs typeface="Lato"/>
                <a:sym typeface="Lato"/>
              </a:rPr>
              <a:t>mislabel_score :</a:t>
            </a:r>
            <a:r>
              <a:rPr lang="ko" sz="1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clean/dusty 라벨이 반대로 부여되었을 가능성</a:t>
            </a:r>
            <a:endParaRPr sz="110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5" name="Google Shape;145;p18"/>
          <p:cNvSpPr txBox="1"/>
          <p:nvPr/>
        </p:nvSpPr>
        <p:spPr>
          <a:xfrm>
            <a:off x="571500" y="677651"/>
            <a:ext cx="8551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40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Track-B: </a:t>
            </a:r>
            <a:r>
              <a:rPr b="1" i="0" lang="ko" sz="24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태양광 패널 데이터 품질 탐지 과제</a:t>
            </a:r>
            <a:endParaRPr sz="1100"/>
          </a:p>
        </p:txBody>
      </p:sp>
      <p:sp>
        <p:nvSpPr>
          <p:cNvPr id="146" name="Google Shape;146;p18"/>
          <p:cNvSpPr/>
          <p:nvPr/>
        </p:nvSpPr>
        <p:spPr>
          <a:xfrm>
            <a:off x="428625" y="677651"/>
            <a:ext cx="57000" cy="360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8"/>
          <p:cNvSpPr txBox="1"/>
          <p:nvPr/>
        </p:nvSpPr>
        <p:spPr>
          <a:xfrm>
            <a:off x="485775" y="1897313"/>
            <a:ext cx="39777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1155CC"/>
                </a:solidFill>
                <a:latin typeface="Lato"/>
                <a:ea typeface="Lato"/>
                <a:cs typeface="Lato"/>
                <a:sym typeface="Lato"/>
              </a:rPr>
              <a:t>태양광 패널 이미지 학습 데이터셋에 섞여 있는 3개 유형의 오염을 구별하고, 이미지별 의심 점수 산출하는 것이 목표</a:t>
            </a:r>
            <a:endParaRPr sz="1100">
              <a:solidFill>
                <a:srgbClr val="1155CC"/>
              </a:solidFill>
            </a:endParaRPr>
          </a:p>
        </p:txBody>
      </p:sp>
      <p:sp>
        <p:nvSpPr>
          <p:cNvPr id="148" name="Google Shape;148;p18"/>
          <p:cNvSpPr txBox="1"/>
          <p:nvPr/>
        </p:nvSpPr>
        <p:spPr>
          <a:xfrm>
            <a:off x="5250850" y="4562900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태양광 패널 데이터셋에 포함된 OOD 유형 이미지</a:t>
            </a:r>
            <a:endParaRPr/>
          </a:p>
        </p:txBody>
      </p:sp>
      <p:pic>
        <p:nvPicPr>
          <p:cNvPr id="149" name="Google Shape;149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86325" y="1590375"/>
            <a:ext cx="3929100" cy="2857500"/>
          </a:xfrm>
          <a:prstGeom prst="roundRect">
            <a:avLst>
              <a:gd fmla="val 5026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E7E0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9"/>
          <p:cNvSpPr/>
          <p:nvPr/>
        </p:nvSpPr>
        <p:spPr>
          <a:xfrm>
            <a:off x="480060" y="411480"/>
            <a:ext cx="1166100" cy="274200"/>
          </a:xfrm>
          <a:prstGeom prst="roundRect">
            <a:avLst>
              <a:gd fmla="val 20000" name="adj"/>
            </a:avLst>
          </a:prstGeom>
          <a:solidFill>
            <a:srgbClr val="1C2A4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9"/>
          <p:cNvSpPr/>
          <p:nvPr/>
        </p:nvSpPr>
        <p:spPr>
          <a:xfrm>
            <a:off x="480060" y="411480"/>
            <a:ext cx="1166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ko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SECTION 02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7" name="Google Shape;157;p19"/>
          <p:cNvPicPr preferRelativeResize="0"/>
          <p:nvPr/>
        </p:nvPicPr>
        <p:blipFill rotWithShape="1">
          <a:blip r:embed="rId3">
            <a:alphaModFix amt="10000"/>
          </a:blip>
          <a:srcRect b="0" l="0" r="0" t="0"/>
          <a:stretch/>
        </p:blipFill>
        <p:spPr>
          <a:xfrm>
            <a:off x="6858000" y="1783080"/>
            <a:ext cx="1783080" cy="178308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9"/>
          <p:cNvSpPr/>
          <p:nvPr/>
        </p:nvSpPr>
        <p:spPr>
          <a:xfrm>
            <a:off x="500634" y="2160270"/>
            <a:ext cx="7406400" cy="7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A44"/>
              </a:buClr>
              <a:buSzPts val="2700"/>
              <a:buFont typeface="Calibri"/>
              <a:buNone/>
            </a:pPr>
            <a:r>
              <a:rPr b="1" i="0" lang="ko" sz="2700" u="none" cap="none" strike="noStrike">
                <a:solidFill>
                  <a:srgbClr val="1C2A44"/>
                </a:solidFill>
                <a:latin typeface="Calibri"/>
                <a:ea typeface="Calibri"/>
                <a:cs typeface="Calibri"/>
                <a:sym typeface="Calibri"/>
              </a:rPr>
              <a:t>챌린지 수행 과정 및 최종 결과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9" name="Google Shape;159;p19"/>
          <p:cNvCxnSpPr/>
          <p:nvPr/>
        </p:nvCxnSpPr>
        <p:spPr>
          <a:xfrm>
            <a:off x="514350" y="2846070"/>
            <a:ext cx="1783200" cy="0"/>
          </a:xfrm>
          <a:prstGeom prst="straightConnector1">
            <a:avLst/>
          </a:prstGeom>
          <a:noFill/>
          <a:ln cap="flat" cmpd="sng" w="19050">
            <a:solidFill>
              <a:srgbClr val="C9A24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0" name="Google Shape;160;p19"/>
          <p:cNvSpPr/>
          <p:nvPr/>
        </p:nvSpPr>
        <p:spPr>
          <a:xfrm>
            <a:off x="8298180" y="4766310"/>
            <a:ext cx="4803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8496"/>
              </a:buClr>
              <a:buSzPts val="900"/>
              <a:buFont typeface="Calibri"/>
              <a:buNone/>
            </a:pPr>
            <a:r>
              <a:rPr b="0" i="0" lang="ko" sz="900" u="none" cap="none" strike="noStrike">
                <a:solidFill>
                  <a:srgbClr val="8A8496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5" name="Google Shape;165;p20"/>
          <p:cNvGrpSpPr/>
          <p:nvPr/>
        </p:nvGrpSpPr>
        <p:grpSpPr>
          <a:xfrm>
            <a:off x="0" y="0"/>
            <a:ext cx="9210675" cy="5143500"/>
            <a:chOff x="-35700" y="0"/>
            <a:chExt cx="9210675" cy="5143500"/>
          </a:xfrm>
        </p:grpSpPr>
        <p:pic>
          <p:nvPicPr>
            <p:cNvPr descr="첫번째 슬라이드 디자인. &#10;수행 과정 흐름도 생성.&#10;총 두개 트랙이 있고 데이터는 공통임.&#10;트랙 b에서 세 개 점수 기반으로 데이터 필터링하고, 이 결과로 트랙 a에서 최종 이미지 분류하는 과정.&#10;&#10;아래 글 참고: &#10;1. track-b 수행&#10;데이터 EDA -&gt; ood_score, mislabel_score, duplication_score 생성 전략 수립 -&gt; track-b 제출 결과 평가 &#10;과정 반복하여 track-b 로부터 train 이미지 배제 목록 선정 &#10;&#10;2. track-a 는 track-b 결과를 토대로 수행&#10;track-b를 통해 정제된 데이터  -&gt;  EDA 및 전처리 -&gt; baseline 모델 테스트 -&gt; baseline 모델 최종 선정 &#10;&#10;아래 과정 반복&#10;track-a 학습 전략 수립 -&gt;  데이터 전처리 -&gt; 모델 학습 -&gt; 결과 제출 및 평가&#10;&#10;3. 최종 track-a 결과 " id="166" name="Google Shape;166;p2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-35700" y="0"/>
              <a:ext cx="9210675" cy="5143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7" name="Google Shape;167;p20"/>
            <p:cNvSpPr/>
            <p:nvPr/>
          </p:nvSpPr>
          <p:spPr>
            <a:xfrm>
              <a:off x="5867771" y="2983925"/>
              <a:ext cx="2056500" cy="252900"/>
            </a:xfrm>
            <a:prstGeom prst="rect">
              <a:avLst/>
            </a:prstGeom>
            <a:solidFill>
              <a:srgbClr val="E6E5E9"/>
            </a:solidFill>
            <a:ln cap="flat" cmpd="sng" w="9525">
              <a:solidFill>
                <a:srgbClr val="E6E5E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1200">
                  <a:solidFill>
                    <a:srgbClr val="08070B"/>
                  </a:solidFill>
                </a:rPr>
                <a:t>[A</a:t>
              </a:r>
              <a:r>
                <a:rPr b="1" lang="ko" sz="600">
                  <a:solidFill>
                    <a:srgbClr val="08070B"/>
                  </a:solidFill>
                </a:rPr>
                <a:t> </a:t>
              </a:r>
              <a:r>
                <a:rPr b="1" lang="ko" sz="1200">
                  <a:solidFill>
                    <a:srgbClr val="08070B"/>
                  </a:solidFill>
                </a:rPr>
                <a:t>Model</a:t>
              </a:r>
              <a:r>
                <a:rPr b="1" lang="ko" sz="600">
                  <a:solidFill>
                    <a:srgbClr val="08070B"/>
                  </a:solidFill>
                </a:rPr>
                <a:t> </a:t>
              </a:r>
              <a:r>
                <a:rPr b="1" lang="ko" sz="1200">
                  <a:solidFill>
                    <a:srgbClr val="08070B"/>
                  </a:solidFill>
                </a:rPr>
                <a:t>develop</a:t>
              </a:r>
              <a:r>
                <a:rPr b="1" lang="ko" sz="600">
                  <a:solidFill>
                    <a:srgbClr val="08070B"/>
                  </a:solidFill>
                </a:rPr>
                <a:t> </a:t>
              </a:r>
              <a:r>
                <a:rPr b="1" lang="ko" sz="1200">
                  <a:solidFill>
                    <a:srgbClr val="08070B"/>
                  </a:solidFill>
                </a:rPr>
                <a:t>Cycle]</a:t>
              </a:r>
              <a:endParaRPr b="1" sz="1200">
                <a:solidFill>
                  <a:srgbClr val="08070B"/>
                </a:solidFill>
              </a:endParaRPr>
            </a:p>
          </p:txBody>
        </p:sp>
        <p:sp>
          <p:nvSpPr>
            <p:cNvPr id="168" name="Google Shape;168;p20"/>
            <p:cNvSpPr/>
            <p:nvPr/>
          </p:nvSpPr>
          <p:spPr>
            <a:xfrm>
              <a:off x="2149364" y="3837025"/>
              <a:ext cx="548700" cy="252900"/>
            </a:xfrm>
            <a:prstGeom prst="rect">
              <a:avLst/>
            </a:prstGeom>
            <a:solidFill>
              <a:srgbClr val="E6E5E9"/>
            </a:solidFill>
            <a:ln cap="flat" cmpd="sng" w="9525">
              <a:solidFill>
                <a:srgbClr val="E6E5E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/>
            </a:p>
          </p:txBody>
        </p:sp>
      </p:grpSp>
      <p:sp>
        <p:nvSpPr>
          <p:cNvPr id="169" name="Google Shape;16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170" name="Google Shape;170;p20"/>
          <p:cNvSpPr/>
          <p:nvPr/>
        </p:nvSpPr>
        <p:spPr>
          <a:xfrm>
            <a:off x="3740138" y="4624525"/>
            <a:ext cx="1730400" cy="471000"/>
          </a:xfrm>
          <a:prstGeom prst="rect">
            <a:avLst/>
          </a:prstGeom>
          <a:solidFill>
            <a:srgbClr val="E6E5E9"/>
          </a:solidFill>
          <a:ln cap="flat" cmpd="sng" w="9525">
            <a:solidFill>
              <a:srgbClr val="E6E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pic>
        <p:nvPicPr>
          <p:cNvPr id="176" name="Google Shape;17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8925" y="2188028"/>
            <a:ext cx="8633823" cy="102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8925" y="3292964"/>
            <a:ext cx="8633824" cy="143632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8" name="Google Shape;178;p21"/>
          <p:cNvGrpSpPr/>
          <p:nvPr/>
        </p:nvGrpSpPr>
        <p:grpSpPr>
          <a:xfrm>
            <a:off x="428625" y="677651"/>
            <a:ext cx="8694075" cy="369300"/>
            <a:chOff x="428625" y="677651"/>
            <a:chExt cx="8694075" cy="369300"/>
          </a:xfrm>
        </p:grpSpPr>
        <p:sp>
          <p:nvSpPr>
            <p:cNvPr id="179" name="Google Shape;179;p21"/>
            <p:cNvSpPr txBox="1"/>
            <p:nvPr/>
          </p:nvSpPr>
          <p:spPr>
            <a:xfrm>
              <a:off x="571500" y="677651"/>
              <a:ext cx="85512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996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2400">
                  <a:solidFill>
                    <a:srgbClr val="1E293B"/>
                  </a:solidFill>
                  <a:latin typeface="Poppins"/>
                  <a:ea typeface="Poppins"/>
                  <a:cs typeface="Poppins"/>
                  <a:sym typeface="Poppins"/>
                </a:rPr>
                <a:t>최종 제출 결과</a:t>
              </a:r>
              <a:endParaRPr sz="1100"/>
            </a:p>
          </p:txBody>
        </p:sp>
        <p:sp>
          <p:nvSpPr>
            <p:cNvPr id="180" name="Google Shape;180;p21"/>
            <p:cNvSpPr/>
            <p:nvPr/>
          </p:nvSpPr>
          <p:spPr>
            <a:xfrm>
              <a:off x="428625" y="677651"/>
              <a:ext cx="57000" cy="360000"/>
            </a:xfrm>
            <a:prstGeom prst="rect">
              <a:avLst/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descr="image.png" id="181" name="Google Shape;181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05900" y="1195200"/>
            <a:ext cx="8566850" cy="883625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1"/>
          <p:cNvSpPr txBox="1"/>
          <p:nvPr/>
        </p:nvSpPr>
        <p:spPr>
          <a:xfrm>
            <a:off x="428625" y="1360909"/>
            <a:ext cx="4125600" cy="52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rgbClr val="1155C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Track-A</a:t>
            </a:r>
            <a:r>
              <a:rPr lang="ko" sz="1600">
                <a:solidFill>
                  <a:srgbClr val="1155C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</a:t>
            </a:r>
            <a:r>
              <a:rPr lang="ko" sz="1600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: 최종 스코어 0.93 </a:t>
            </a:r>
            <a:endParaRPr sz="1600">
              <a:solidFill>
                <a:srgbClr val="0F172A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rgbClr val="1155C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Track-B</a:t>
            </a:r>
            <a:r>
              <a:rPr lang="ko" sz="1600">
                <a:solidFill>
                  <a:srgbClr val="1155C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</a:t>
            </a:r>
            <a:r>
              <a:rPr lang="ko" sz="1600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: 최종 스코어 0.42 </a:t>
            </a:r>
            <a:endParaRPr sz="1600">
              <a:solidFill>
                <a:srgbClr val="0F172A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183" name="Google Shape;183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08472" y="3938669"/>
            <a:ext cx="1102525" cy="186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E7E0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2"/>
          <p:cNvSpPr/>
          <p:nvPr/>
        </p:nvSpPr>
        <p:spPr>
          <a:xfrm>
            <a:off x="480060" y="411480"/>
            <a:ext cx="1166100" cy="274200"/>
          </a:xfrm>
          <a:prstGeom prst="roundRect">
            <a:avLst>
              <a:gd fmla="val 20000" name="adj"/>
            </a:avLst>
          </a:prstGeom>
          <a:solidFill>
            <a:srgbClr val="1C2A4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22"/>
          <p:cNvSpPr/>
          <p:nvPr/>
        </p:nvSpPr>
        <p:spPr>
          <a:xfrm>
            <a:off x="480060" y="411480"/>
            <a:ext cx="1166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ko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SECTION 03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91" name="Google Shape;191;p22"/>
          <p:cNvPicPr preferRelativeResize="0"/>
          <p:nvPr/>
        </p:nvPicPr>
        <p:blipFill rotWithShape="1">
          <a:blip r:embed="rId3">
            <a:alphaModFix amt="10000"/>
          </a:blip>
          <a:srcRect b="0" l="0" r="0" t="0"/>
          <a:stretch/>
        </p:blipFill>
        <p:spPr>
          <a:xfrm>
            <a:off x="6858000" y="1783080"/>
            <a:ext cx="1783080" cy="178308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2"/>
          <p:cNvSpPr/>
          <p:nvPr/>
        </p:nvSpPr>
        <p:spPr>
          <a:xfrm>
            <a:off x="500634" y="2160270"/>
            <a:ext cx="7406400" cy="7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A44"/>
              </a:buClr>
              <a:buSzPts val="2700"/>
              <a:buFont typeface="Calibri"/>
              <a:buNone/>
            </a:pPr>
            <a:r>
              <a:rPr b="1" i="0" lang="ko" sz="3300" u="none" cap="none" strike="noStrike">
                <a:solidFill>
                  <a:srgbClr val="1C2A44"/>
                </a:solidFill>
                <a:latin typeface="Calibri"/>
                <a:ea typeface="Calibri"/>
                <a:cs typeface="Calibri"/>
                <a:sym typeface="Calibri"/>
              </a:rPr>
              <a:t>Track-B (</a:t>
            </a:r>
            <a:r>
              <a:rPr b="1" i="0" lang="ko" sz="2700" u="none" cap="none" strike="noStrike">
                <a:solidFill>
                  <a:srgbClr val="1C2A44"/>
                </a:solidFill>
                <a:latin typeface="Calibri"/>
                <a:ea typeface="Calibri"/>
                <a:cs typeface="Calibri"/>
                <a:sym typeface="Calibri"/>
              </a:rPr>
              <a:t>학습 데이터 정제</a:t>
            </a:r>
            <a:r>
              <a:rPr b="1" i="0" lang="ko" sz="3300" u="none" cap="none" strike="noStrike">
                <a:solidFill>
                  <a:srgbClr val="1C2A44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3" name="Google Shape;193;p22"/>
          <p:cNvCxnSpPr/>
          <p:nvPr/>
        </p:nvCxnSpPr>
        <p:spPr>
          <a:xfrm>
            <a:off x="514350" y="2846070"/>
            <a:ext cx="1783200" cy="0"/>
          </a:xfrm>
          <a:prstGeom prst="straightConnector1">
            <a:avLst/>
          </a:prstGeom>
          <a:noFill/>
          <a:ln cap="flat" cmpd="sng" w="19050">
            <a:solidFill>
              <a:srgbClr val="C9A24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4" name="Google Shape;194;p22"/>
          <p:cNvSpPr/>
          <p:nvPr/>
        </p:nvSpPr>
        <p:spPr>
          <a:xfrm>
            <a:off x="8298180" y="4766310"/>
            <a:ext cx="4803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8496"/>
              </a:buClr>
              <a:buSzPts val="900"/>
              <a:buFont typeface="Calibri"/>
              <a:buNone/>
            </a:pPr>
            <a:r>
              <a:rPr b="0" i="0" lang="ko" sz="900" u="none" cap="none" strike="noStrike">
                <a:solidFill>
                  <a:srgbClr val="8A8496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9" name="Google Shape;19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0" name="Google Shape;200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625" y="3409243"/>
            <a:ext cx="8286750" cy="10771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1" name="Google Shape;201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6494" y="1283873"/>
            <a:ext cx="8286750" cy="3391495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3"/>
          <p:cNvSpPr txBox="1"/>
          <p:nvPr/>
        </p:nvSpPr>
        <p:spPr>
          <a:xfrm>
            <a:off x="642938" y="3623555"/>
            <a:ext cx="78582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5725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 </a:t>
            </a:r>
            <a:r>
              <a:rPr b="1" i="0" lang="ko" sz="11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데이터 무결성 :</a:t>
            </a:r>
            <a:r>
              <a:rPr b="0" i="0" lang="ko" sz="11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이미지 ID와 실제 파일 매칭 결과 누락 0건 확인</a:t>
            </a:r>
            <a:endParaRPr sz="1100"/>
          </a:p>
        </p:txBody>
      </p:sp>
      <p:sp>
        <p:nvSpPr>
          <p:cNvPr id="203" name="Google Shape;203;p23"/>
          <p:cNvSpPr txBox="1"/>
          <p:nvPr/>
        </p:nvSpPr>
        <p:spPr>
          <a:xfrm>
            <a:off x="642938" y="3947815"/>
            <a:ext cx="78582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5725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 클래스 경미한 불균형 </a:t>
            </a:r>
            <a:r>
              <a:rPr b="1" i="0" lang="ko" sz="11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: </a:t>
            </a:r>
            <a:r>
              <a:rPr b="1" lang="ko" sz="1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ko" sz="1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Class 0(813개) vs. Class 1(553개)는 경미한 불균형 분포, 모델 학습시 Class 1의 성능저하 방지를 고려가 필요 </a:t>
            </a:r>
            <a:r>
              <a:rPr i="0" lang="ko" sz="11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sz="1100">
              <a:solidFill>
                <a:srgbClr val="980000"/>
              </a:solidFill>
            </a:endParaRPr>
          </a:p>
        </p:txBody>
      </p:sp>
      <p:pic>
        <p:nvPicPr>
          <p:cNvPr descr="image.png" id="204" name="Google Shape;204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2938" y="3666418"/>
            <a:ext cx="135731" cy="13573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5" name="Google Shape;205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2938" y="3990677"/>
            <a:ext cx="135731" cy="135731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3"/>
          <p:cNvSpPr txBox="1"/>
          <p:nvPr/>
        </p:nvSpPr>
        <p:spPr>
          <a:xfrm>
            <a:off x="571500" y="677651"/>
            <a:ext cx="8551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24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EDA: </a:t>
            </a:r>
            <a:r>
              <a:rPr b="1" i="0" lang="ko" sz="1700" u="none" cap="none" strike="noStrike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라벨 분포 및 데이터 무결성</a:t>
            </a:r>
            <a:endParaRPr sz="400">
              <a:solidFill>
                <a:srgbClr val="999999"/>
              </a:solidFill>
            </a:endParaRPr>
          </a:p>
        </p:txBody>
      </p:sp>
      <p:sp>
        <p:nvSpPr>
          <p:cNvPr id="207" name="Google Shape;207;p23"/>
          <p:cNvSpPr/>
          <p:nvPr/>
        </p:nvSpPr>
        <p:spPr>
          <a:xfrm>
            <a:off x="428625" y="677651"/>
            <a:ext cx="57000" cy="360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2" name="Google Shape;21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3" name="Google Shape;213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625" y="1324575"/>
            <a:ext cx="3502675" cy="33761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4"/>
          <p:cNvSpPr txBox="1"/>
          <p:nvPr/>
        </p:nvSpPr>
        <p:spPr>
          <a:xfrm>
            <a:off x="593275" y="1564100"/>
            <a:ext cx="3293100" cy="19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5725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다양한  이미지 크기 </a:t>
            </a:r>
            <a:r>
              <a:rPr b="1" i="0" lang="ko" sz="11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r>
              <a:rPr b="0" i="0" lang="ko" sz="11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ko" sz="1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이미지 크기가 균일하지 않고 다양, 80 px 이미지들은 이상치로 별도로 확인 필요하며 모델 학습 전 resize 처리 필수  </a:t>
            </a:r>
            <a:endParaRPr sz="110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ko" sz="1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b="1" sz="110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ko" sz="1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RGB 채널 :</a:t>
            </a:r>
            <a:r>
              <a:rPr lang="ko" sz="1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샘플 200장 모두 컬러 이미지(3채널)이고 흑백 이미지와 섞여 있지 않음</a:t>
            </a:r>
            <a:endParaRPr sz="110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image.png" id="215" name="Google Shape;215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7538" y="1564093"/>
            <a:ext cx="135731" cy="13573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6" name="Google Shape;216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27538" y="3140427"/>
            <a:ext cx="135731" cy="135731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4"/>
          <p:cNvSpPr txBox="1"/>
          <p:nvPr/>
        </p:nvSpPr>
        <p:spPr>
          <a:xfrm>
            <a:off x="571500" y="677651"/>
            <a:ext cx="8551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24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EDA: </a:t>
            </a:r>
            <a:r>
              <a:rPr b="1" lang="ko" sz="170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이미지 크기 &amp; 채널 분포</a:t>
            </a:r>
            <a:endParaRPr sz="400">
              <a:solidFill>
                <a:srgbClr val="999999"/>
              </a:solidFill>
            </a:endParaRPr>
          </a:p>
        </p:txBody>
      </p:sp>
      <p:sp>
        <p:nvSpPr>
          <p:cNvPr id="218" name="Google Shape;218;p24"/>
          <p:cNvSpPr/>
          <p:nvPr/>
        </p:nvSpPr>
        <p:spPr>
          <a:xfrm>
            <a:off x="428625" y="677651"/>
            <a:ext cx="57000" cy="360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9" name="Google Shape;219;p2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157875" y="1372200"/>
            <a:ext cx="4657524" cy="2275875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4"/>
          <p:cNvSpPr txBox="1"/>
          <p:nvPr/>
        </p:nvSpPr>
        <p:spPr>
          <a:xfrm>
            <a:off x="5376756" y="3713469"/>
            <a:ext cx="2582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rgbClr val="595959"/>
                </a:solidFill>
              </a:rPr>
              <a:t>[표1]  이미지 크기(너비/ 높이) 분포</a:t>
            </a:r>
            <a:endParaRPr sz="900"/>
          </a:p>
        </p:txBody>
      </p:sp>
      <p:sp>
        <p:nvSpPr>
          <p:cNvPr id="221" name="Google Shape;221;p24"/>
          <p:cNvSpPr txBox="1"/>
          <p:nvPr/>
        </p:nvSpPr>
        <p:spPr>
          <a:xfrm>
            <a:off x="916283" y="2259300"/>
            <a:ext cx="2316000" cy="6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1155CC"/>
                </a:solidFill>
                <a:latin typeface="Lato"/>
                <a:ea typeface="Lato"/>
                <a:cs typeface="Lato"/>
                <a:sym typeface="Lato"/>
              </a:rPr>
              <a:t>이미지 너비 M= 457.5 px (80~512) </a:t>
            </a:r>
            <a:endParaRPr sz="1100">
              <a:solidFill>
                <a:srgbClr val="1155CC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1155CC"/>
                </a:solidFill>
                <a:latin typeface="Lato"/>
                <a:ea typeface="Lato"/>
                <a:cs typeface="Lato"/>
                <a:sym typeface="Lato"/>
              </a:rPr>
              <a:t>이미지 높이 M= 391.8 px (80~512)</a:t>
            </a:r>
            <a:endParaRPr>
              <a:solidFill>
                <a:srgbClr val="1155CC"/>
              </a:solidFill>
            </a:endParaRPr>
          </a:p>
        </p:txBody>
      </p:sp>
      <p:sp>
        <p:nvSpPr>
          <p:cNvPr id="222" name="Google Shape;222;p24"/>
          <p:cNvSpPr txBox="1"/>
          <p:nvPr/>
        </p:nvSpPr>
        <p:spPr>
          <a:xfrm>
            <a:off x="-3975100" y="635959"/>
            <a:ext cx="3924000" cy="24012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이미지 사이즈가 비정상적인것들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이미지 결측(깨짐, 비어있음) 확인 추가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채널 확인 : 흑백, 컬러 차이로 혼란을 주는 데이터 정제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23" name="Google Shape;223;p24"/>
          <p:cNvSpPr txBox="1"/>
          <p:nvPr/>
        </p:nvSpPr>
        <p:spPr>
          <a:xfrm>
            <a:off x="-5188100" y="4193075"/>
            <a:ext cx="3983700" cy="4617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수정완료 후 박스 삭제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224" name="Google Shape;224;p2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9143988" y="3576400"/>
            <a:ext cx="5549326" cy="145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9" name="Google Shape;22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70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0" name="Google Shape;230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5638" y="4353875"/>
            <a:ext cx="3941149" cy="382592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5"/>
          <p:cNvSpPr txBox="1"/>
          <p:nvPr/>
        </p:nvSpPr>
        <p:spPr>
          <a:xfrm>
            <a:off x="5411950" y="3791000"/>
            <a:ext cx="3293100" cy="3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5725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밝기 정도 </a:t>
            </a:r>
            <a:r>
              <a:rPr b="1" i="0" lang="ko" sz="11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: </a:t>
            </a:r>
            <a:r>
              <a:rPr lang="ko" sz="1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두 클래스의 밝기 차이는 약 4.5로 크지 않고 밝기는 두 클래스를 구분하는 특징은 아님 </a:t>
            </a:r>
            <a:r>
              <a:rPr i="0" lang="ko" sz="11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sz="110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image.png" id="232" name="Google Shape;232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8413" y="4488293"/>
            <a:ext cx="135731" cy="135731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5"/>
          <p:cNvSpPr txBox="1"/>
          <p:nvPr/>
        </p:nvSpPr>
        <p:spPr>
          <a:xfrm>
            <a:off x="571500" y="677651"/>
            <a:ext cx="8551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24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EDA: </a:t>
            </a:r>
            <a:r>
              <a:rPr b="1" lang="ko" sz="170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클래스별  이미지 &amp; 밝기</a:t>
            </a:r>
            <a:r>
              <a:rPr b="1" lang="ko" sz="240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100"/>
          </a:p>
        </p:txBody>
      </p:sp>
      <p:sp>
        <p:nvSpPr>
          <p:cNvPr id="234" name="Google Shape;234;p25"/>
          <p:cNvSpPr/>
          <p:nvPr/>
        </p:nvSpPr>
        <p:spPr>
          <a:xfrm>
            <a:off x="428625" y="677651"/>
            <a:ext cx="57000" cy="360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5" name="Google Shape;235;p25"/>
          <p:cNvPicPr preferRelativeResize="0"/>
          <p:nvPr/>
        </p:nvPicPr>
        <p:blipFill rotWithShape="1">
          <a:blip r:embed="rId6">
            <a:alphaModFix/>
          </a:blip>
          <a:srcRect b="8012" l="4825" r="0" t="0"/>
          <a:stretch/>
        </p:blipFill>
        <p:spPr>
          <a:xfrm>
            <a:off x="5091613" y="1306800"/>
            <a:ext cx="3691274" cy="2437225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5"/>
          <p:cNvSpPr txBox="1"/>
          <p:nvPr/>
        </p:nvSpPr>
        <p:spPr>
          <a:xfrm>
            <a:off x="5706488" y="4201875"/>
            <a:ext cx="2461500" cy="53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1155CC"/>
                </a:solidFill>
              </a:rPr>
              <a:t>Class 0 밝기 : M=115.46, SD=21.07</a:t>
            </a:r>
            <a:endParaRPr sz="1100">
              <a:solidFill>
                <a:srgbClr val="1155CC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1155CC"/>
                </a:solidFill>
              </a:rPr>
              <a:t>Class 1 밝기 : M=119.97, SD=21.37</a:t>
            </a:r>
            <a:endParaRPr sz="1100">
              <a:solidFill>
                <a:srgbClr val="1155CC"/>
              </a:solidFill>
            </a:endParaRPr>
          </a:p>
        </p:txBody>
      </p:sp>
      <p:pic>
        <p:nvPicPr>
          <p:cNvPr descr="image.png" id="237" name="Google Shape;237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329488" y="3790977"/>
            <a:ext cx="135731" cy="1357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09438" y="1335800"/>
            <a:ext cx="3893525" cy="1508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2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85638" y="2903663"/>
            <a:ext cx="3941150" cy="139065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5"/>
          <p:cNvSpPr txBox="1"/>
          <p:nvPr/>
        </p:nvSpPr>
        <p:spPr>
          <a:xfrm>
            <a:off x="963150" y="4387925"/>
            <a:ext cx="2900400" cy="2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1155CC"/>
                </a:solidFill>
              </a:rPr>
              <a:t>Class 0 = Clean            Class 1 = Dirty</a:t>
            </a:r>
            <a:endParaRPr sz="1200">
              <a:solidFill>
                <a:srgbClr val="1155CC"/>
              </a:solidFill>
            </a:endParaRPr>
          </a:p>
        </p:txBody>
      </p:sp>
      <p:sp>
        <p:nvSpPr>
          <p:cNvPr id="241" name="Google Shape;241;p25"/>
          <p:cNvSpPr txBox="1"/>
          <p:nvPr/>
        </p:nvSpPr>
        <p:spPr>
          <a:xfrm>
            <a:off x="-4621600" y="2903675"/>
            <a:ext cx="2900400" cy="4617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수정완료 후 박스 삭제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42" name="Google Shape;242;p25"/>
          <p:cNvSpPr txBox="1"/>
          <p:nvPr/>
        </p:nvSpPr>
        <p:spPr>
          <a:xfrm>
            <a:off x="-4621600" y="3576625"/>
            <a:ext cx="2900400" cy="12930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HSV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이 슬라이드의 밝기는 색상 분포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7" name="Google Shape;247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8556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8" name="Google Shape;248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625" y="1286900"/>
            <a:ext cx="4229800" cy="363355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6"/>
          <p:cNvSpPr txBox="1"/>
          <p:nvPr/>
        </p:nvSpPr>
        <p:spPr>
          <a:xfrm>
            <a:off x="635794" y="3282084"/>
            <a:ext cx="786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250" name="Google Shape;250;p26"/>
          <p:cNvSpPr txBox="1"/>
          <p:nvPr/>
        </p:nvSpPr>
        <p:spPr>
          <a:xfrm>
            <a:off x="635794" y="3933393"/>
            <a:ext cx="786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251" name="Google Shape;251;p26"/>
          <p:cNvSpPr txBox="1"/>
          <p:nvPr/>
        </p:nvSpPr>
        <p:spPr>
          <a:xfrm>
            <a:off x="571500" y="677651"/>
            <a:ext cx="8551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24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dup_score:</a:t>
            </a:r>
            <a:r>
              <a:rPr b="1" i="0" lang="ko" sz="1700" u="none" cap="none" strike="noStrike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lang="ko" sz="170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중복 이미지 탐지</a:t>
            </a:r>
            <a:r>
              <a:rPr b="1" i="0" lang="ko" sz="1700" u="none" cap="none" strike="noStrike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b="1" sz="1700">
              <a:solidFill>
                <a:srgbClr val="999999"/>
              </a:solidFill>
            </a:endParaRPr>
          </a:p>
        </p:txBody>
      </p:sp>
      <p:sp>
        <p:nvSpPr>
          <p:cNvPr id="252" name="Google Shape;252;p26"/>
          <p:cNvSpPr/>
          <p:nvPr/>
        </p:nvSpPr>
        <p:spPr>
          <a:xfrm>
            <a:off x="428625" y="677651"/>
            <a:ext cx="57000" cy="360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6"/>
          <p:cNvSpPr txBox="1"/>
          <p:nvPr/>
        </p:nvSpPr>
        <p:spPr>
          <a:xfrm>
            <a:off x="616294" y="1732343"/>
            <a:ext cx="3854400" cy="3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시각적 유사도를 비교하는데 유용한  pHash를 사용하여 중복된 이미지를 필터링  </a:t>
            </a:r>
            <a:endParaRPr sz="1100"/>
          </a:p>
        </p:txBody>
      </p:sp>
      <p:sp>
        <p:nvSpPr>
          <p:cNvPr id="254" name="Google Shape;254;p26"/>
          <p:cNvSpPr txBox="1"/>
          <p:nvPr/>
        </p:nvSpPr>
        <p:spPr>
          <a:xfrm>
            <a:off x="635794" y="1423969"/>
            <a:ext cx="33303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rgbClr val="1155C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방법 </a:t>
            </a:r>
            <a:r>
              <a:rPr lang="ko" sz="1600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: Perceptual Hash 최근접 거리</a:t>
            </a:r>
            <a:endParaRPr sz="1100"/>
          </a:p>
        </p:txBody>
      </p:sp>
      <p:sp>
        <p:nvSpPr>
          <p:cNvPr id="255" name="Google Shape;255;p26"/>
          <p:cNvSpPr txBox="1"/>
          <p:nvPr/>
        </p:nvSpPr>
        <p:spPr>
          <a:xfrm>
            <a:off x="576581" y="2238356"/>
            <a:ext cx="3933900" cy="25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8575" spcFirstLastPara="1" rIns="0" wrap="square" tIns="0">
            <a:spAutoFit/>
          </a:bodyPr>
          <a:lstStyle/>
          <a:p>
            <a:pPr indent="-23495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Lato"/>
              <a:buChar char="●"/>
            </a:pPr>
            <a:r>
              <a:rPr b="1" lang="ko" sz="1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이미지 축소/흑백 전환 : </a:t>
            </a:r>
            <a:r>
              <a:rPr lang="ko" sz="1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밝기 정보만 남김</a:t>
            </a:r>
            <a:endParaRPr sz="110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  <a:p>
            <a:pPr indent="-234950" lvl="0" marL="3429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Lato"/>
              <a:buChar char="●"/>
            </a:pPr>
            <a:r>
              <a:rPr b="1" lang="ko" sz="1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이산코사인 변환:</a:t>
            </a:r>
            <a:r>
              <a:rPr lang="ko" sz="1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이미지의 전체적 구조를 주파수 영역으로 변환</a:t>
            </a:r>
            <a:endParaRPr sz="110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  <a:p>
            <a:pPr indent="-234950" lvl="0" marL="3429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Lato"/>
              <a:buChar char="●"/>
            </a:pPr>
            <a:r>
              <a:rPr b="1" lang="ko" sz="1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해시생성</a:t>
            </a:r>
            <a:r>
              <a:rPr lang="ko" sz="1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: 변환된 데이터의 값을 평균과 비교하여 0과 1의 비트열로 변환</a:t>
            </a:r>
            <a:endParaRPr sz="110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  <a:p>
            <a:pPr indent="-234950" lvl="0" marL="3429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Lato"/>
              <a:buChar char="●"/>
            </a:pPr>
            <a:r>
              <a:rPr b="1" lang="ko" sz="1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Hamming distance 계산:  </a:t>
            </a:r>
            <a:r>
              <a:rPr lang="ko" sz="1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최근접 이웃</a:t>
            </a:r>
            <a:r>
              <a:rPr b="1" lang="ko" sz="1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ko" sz="1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해시 거리 계산</a:t>
            </a:r>
            <a:endParaRPr sz="110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  <a:p>
            <a:pPr indent="-234950" lvl="1" marL="685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Lato"/>
              <a:buChar char="○"/>
            </a:pPr>
            <a:r>
              <a:rPr lang="ko" sz="1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거리 0= 원본 동일, 거리가 큼 = 서로 다른 이미지</a:t>
            </a:r>
            <a:endParaRPr sz="110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  <a:p>
            <a:pPr indent="-234950" lvl="0" marL="3429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Lato"/>
              <a:buChar char="●"/>
            </a:pPr>
            <a:r>
              <a:rPr b="1" lang="ko" sz="1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임계값에 따른 거리 분포 확인:   </a:t>
            </a:r>
            <a:endParaRPr sz="110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  <a:p>
            <a:pPr indent="-234950" lvl="1" marL="685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Lato"/>
              <a:buChar char="○"/>
            </a:pPr>
            <a:r>
              <a:rPr lang="ko" sz="1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임계값=5 경우,  72개의 유사 쌍 후보가 발견 평균 0.94(SD=1.38)로  매우 가까운 거리에 몰려 있어 임계값을 10으로 변경하여 재확인 </a:t>
            </a:r>
            <a:endParaRPr sz="110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56" name="Google Shape;256;p26"/>
          <p:cNvPicPr preferRelativeResize="0"/>
          <p:nvPr/>
        </p:nvPicPr>
        <p:blipFill rotWithShape="1">
          <a:blip r:embed="rId5">
            <a:alphaModFix/>
          </a:blip>
          <a:srcRect b="27767" l="0" r="0" t="0"/>
          <a:stretch/>
        </p:blipFill>
        <p:spPr>
          <a:xfrm>
            <a:off x="5465900" y="1037650"/>
            <a:ext cx="3188825" cy="1918125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26"/>
          <p:cNvSpPr txBox="1"/>
          <p:nvPr/>
        </p:nvSpPr>
        <p:spPr>
          <a:xfrm>
            <a:off x="5726300" y="723700"/>
            <a:ext cx="2768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rgbClr val="595959"/>
                </a:solidFill>
              </a:rPr>
              <a:t>[그림 2] 이미지 쌍 간 해시 거리 분포(임계값 = 5, 10)</a:t>
            </a:r>
            <a:r>
              <a:rPr lang="ko" sz="900">
                <a:solidFill>
                  <a:schemeClr val="dk1"/>
                </a:solidFill>
              </a:rPr>
              <a:t> </a:t>
            </a:r>
            <a:endParaRPr sz="900"/>
          </a:p>
        </p:txBody>
      </p:sp>
      <p:pic>
        <p:nvPicPr>
          <p:cNvPr id="258" name="Google Shape;258;p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511175" y="3051700"/>
            <a:ext cx="3072876" cy="182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3" name="Google Shape;263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4" name="Google Shape;264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5688" y="1270800"/>
            <a:ext cx="4234988" cy="3648545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7"/>
          <p:cNvSpPr txBox="1"/>
          <p:nvPr/>
        </p:nvSpPr>
        <p:spPr>
          <a:xfrm>
            <a:off x="571500" y="677643"/>
            <a:ext cx="392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24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dup_score:</a:t>
            </a:r>
            <a:r>
              <a:rPr b="1" i="0" lang="ko" sz="1700" u="none" cap="none" strike="noStrike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lang="ko" sz="170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중복 이미지 탐지</a:t>
            </a:r>
            <a:r>
              <a:rPr b="1" i="0" lang="ko" sz="1700" u="none" cap="none" strike="noStrike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b="1" sz="1700">
              <a:solidFill>
                <a:srgbClr val="999999"/>
              </a:solidFill>
            </a:endParaRPr>
          </a:p>
        </p:txBody>
      </p:sp>
      <p:sp>
        <p:nvSpPr>
          <p:cNvPr id="266" name="Google Shape;266;p27"/>
          <p:cNvSpPr/>
          <p:nvPr/>
        </p:nvSpPr>
        <p:spPr>
          <a:xfrm>
            <a:off x="428625" y="677651"/>
            <a:ext cx="57000" cy="360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7"/>
          <p:cNvSpPr txBox="1"/>
          <p:nvPr/>
        </p:nvSpPr>
        <p:spPr>
          <a:xfrm>
            <a:off x="6118350" y="4642150"/>
            <a:ext cx="1817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rgbClr val="595959"/>
                </a:solidFill>
              </a:rPr>
              <a:t>[그림 3] 거리 6~8 구간 이미지들 </a:t>
            </a:r>
            <a:endParaRPr sz="900"/>
          </a:p>
        </p:txBody>
      </p:sp>
      <p:sp>
        <p:nvSpPr>
          <p:cNvPr id="268" name="Google Shape;268;p27"/>
          <p:cNvSpPr txBox="1"/>
          <p:nvPr/>
        </p:nvSpPr>
        <p:spPr>
          <a:xfrm>
            <a:off x="387375" y="1465856"/>
            <a:ext cx="3839400" cy="23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8575" spcFirstLastPara="1" rIns="0" wrap="square" tIns="0">
            <a:spAutoFit/>
          </a:bodyPr>
          <a:lstStyle/>
          <a:p>
            <a:pPr indent="-234950" lvl="0" marL="3429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Lato"/>
              <a:buChar char="●"/>
            </a:pPr>
            <a:r>
              <a:rPr b="1" lang="ko" sz="1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임계값에 따른 거리 분포 확인: </a:t>
            </a:r>
            <a:endParaRPr b="1" sz="110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  <a:p>
            <a:pPr indent="-234950" lvl="1" marL="685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Lato"/>
              <a:buChar char="○"/>
            </a:pPr>
            <a:r>
              <a:rPr lang="ko" sz="1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임계값=10 경우,  </a:t>
            </a:r>
            <a:r>
              <a:rPr b="1" lang="ko" sz="1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 </a:t>
            </a:r>
            <a:r>
              <a:rPr lang="ko" sz="1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sz="110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  <a:p>
            <a:pPr indent="-234950" lvl="1" marL="685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Lato"/>
              <a:buChar char="○"/>
            </a:pPr>
            <a:r>
              <a:rPr lang="ko" sz="1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거리 0~8 구간: 모두 동일 원본의 변형(크롭, 워터마크 등)으로 확인됨</a:t>
            </a:r>
            <a:endParaRPr sz="110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  <a:p>
            <a:pPr indent="-234950" lvl="1" marL="685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Lato"/>
              <a:buChar char="○"/>
            </a:pPr>
            <a:r>
              <a:rPr lang="ko" sz="1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거리 10 이상: 전혀 다른 이미지가 유사 해시값을 갖는 오탐 사례 발견</a:t>
            </a:r>
            <a:endParaRPr sz="110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  <a:p>
            <a:pPr indent="-234950" lvl="1" marL="685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Lato"/>
              <a:buChar char="○"/>
            </a:pPr>
            <a:r>
              <a:rPr lang="ko" sz="1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진짜 중복 이미지들이 전체 상위 10~14% 내에 포착</a:t>
            </a:r>
            <a:endParaRPr sz="110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  <a:p>
            <a:pPr indent="-234950" lvl="0" marL="3429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Lato"/>
              <a:buChar char="●"/>
            </a:pPr>
            <a:r>
              <a:rPr b="1" lang="ko" sz="1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최종 임계값 8 확정:  </a:t>
            </a:r>
            <a:r>
              <a:rPr lang="ko" sz="1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이미지 육안 검증을 통해 10보다 8이 적정한다는 판단되어 최종 임계값으로로 결정</a:t>
            </a:r>
            <a:endParaRPr sz="110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  <a:p>
            <a:pPr indent="-234950" lvl="0" marL="3429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Lato"/>
              <a:buChar char="●"/>
            </a:pPr>
            <a:r>
              <a:rPr lang="ko" sz="1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직접 확인한 중복 이미지들이 전체 중 145~187위(상위 10~14%) 위치하여 점수의 신뢰성 확보가 가능 </a:t>
            </a:r>
            <a:endParaRPr sz="110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69" name="Google Shape;269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41150" y="1222425"/>
            <a:ext cx="3737124" cy="341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4" name="Google Shape;274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45150" y="1138550"/>
            <a:ext cx="4070226" cy="352795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8"/>
          <p:cNvSpPr txBox="1"/>
          <p:nvPr/>
        </p:nvSpPr>
        <p:spPr>
          <a:xfrm>
            <a:off x="4745391" y="1348025"/>
            <a:ext cx="4125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rgbClr val="1155C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방법 </a:t>
            </a:r>
            <a:r>
              <a:rPr lang="ko" sz="1600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: </a:t>
            </a:r>
            <a:r>
              <a:rPr b="0" i="0" lang="ko" sz="16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ResNet18 임베딩 기반 분석</a:t>
            </a:r>
            <a:endParaRPr sz="1100"/>
          </a:p>
        </p:txBody>
      </p:sp>
      <p:sp>
        <p:nvSpPr>
          <p:cNvPr id="276" name="Google Shape;276;p28"/>
          <p:cNvSpPr txBox="1"/>
          <p:nvPr/>
        </p:nvSpPr>
        <p:spPr>
          <a:xfrm>
            <a:off x="4793138" y="1743825"/>
            <a:ext cx="3846000" cy="3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1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ImageNet 사전학습 모델</a:t>
            </a:r>
            <a:r>
              <a:rPr lang="ko" sz="1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로</a:t>
            </a:r>
            <a:r>
              <a:rPr b="0" i="0" lang="ko" sz="11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이미지의 고차원 특징 추출 후</a:t>
            </a:r>
            <a:endParaRPr b="0" i="0" sz="1100" u="none" cap="none" strike="noStrike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2개</a:t>
            </a:r>
            <a:r>
              <a:rPr b="0" i="0" lang="ko" sz="11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지표 적용:</a:t>
            </a:r>
            <a:endParaRPr sz="1100"/>
          </a:p>
        </p:txBody>
      </p:sp>
      <p:sp>
        <p:nvSpPr>
          <p:cNvPr id="277" name="Google Shape;277;p28"/>
          <p:cNvSpPr txBox="1"/>
          <p:nvPr/>
        </p:nvSpPr>
        <p:spPr>
          <a:xfrm>
            <a:off x="4850662" y="2681099"/>
            <a:ext cx="786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278" name="Google Shape;278;p28"/>
          <p:cNvSpPr txBox="1"/>
          <p:nvPr/>
        </p:nvSpPr>
        <p:spPr>
          <a:xfrm>
            <a:off x="4745400" y="2215406"/>
            <a:ext cx="3786300" cy="22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8575" spcFirstLastPara="1" rIns="0" wrap="square" tIns="0">
            <a:spAutoFit/>
          </a:bodyPr>
          <a:lstStyle/>
          <a:p>
            <a:pPr indent="-23495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Lato"/>
              <a:buChar char="●"/>
            </a:pPr>
            <a:r>
              <a:rPr b="1" i="0" lang="ko" sz="11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Centroid 거리 :</a:t>
            </a:r>
            <a:r>
              <a:rPr b="0" i="0" lang="ko" sz="11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전체</a:t>
            </a:r>
            <a:r>
              <a:rPr lang="ko" sz="1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이미지 입베딩 평균으로부터 각 이미지가 얼마나 떨어져 있는지 측정 </a:t>
            </a:r>
            <a:endParaRPr sz="110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  <a:p>
            <a:pPr indent="-234950" lvl="0" marL="3429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Lato"/>
              <a:buChar char="●"/>
            </a:pPr>
            <a:r>
              <a:rPr b="1" lang="ko" sz="1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KNN 거리 :</a:t>
            </a:r>
            <a:r>
              <a:rPr lang="ko" sz="1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각 이미지의 k개 최근접 이웃까지의 평균 거리 측정 →  고립된 데이터 탐지 가능 </a:t>
            </a:r>
            <a:endParaRPr sz="110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  <a:p>
            <a:pPr indent="-2349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Lato"/>
              <a:buChar char="●"/>
            </a:pPr>
            <a:r>
              <a:rPr b="1" lang="ko" sz="1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검증결과:</a:t>
            </a:r>
            <a:endParaRPr sz="110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  <a:p>
            <a:pPr indent="-2349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Lato"/>
              <a:buChar char="○"/>
            </a:pPr>
            <a:r>
              <a:rPr lang="ko" sz="1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인포그래픽, 카탈로그성 패털 이미지가 주로 포착 된것을 확인 </a:t>
            </a:r>
            <a:endParaRPr sz="110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  <a:p>
            <a:pPr indent="-234950" lvl="1" marL="6858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Lato"/>
              <a:buChar char="○"/>
            </a:pPr>
            <a:r>
              <a:rPr lang="ko" sz="1100">
                <a:solidFill>
                  <a:srgbClr val="434343"/>
                </a:solidFill>
                <a:latin typeface="Lato"/>
                <a:ea typeface="Lato"/>
                <a:cs typeface="Lato"/>
                <a:sym typeface="Lato"/>
              </a:rPr>
              <a:t>두 방법 모두 명백한 off-topic 보다 인포그래픽·브랜드 제품샷·작업자 등장 사진 등의 패널 이미지를 위주로 포착</a:t>
            </a:r>
            <a:endParaRPr sz="1100">
              <a:solidFill>
                <a:srgbClr val="434343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79" name="Google Shape;279;p28"/>
          <p:cNvSpPr txBox="1"/>
          <p:nvPr/>
        </p:nvSpPr>
        <p:spPr>
          <a:xfrm flipH="1">
            <a:off x="4937711" y="3212793"/>
            <a:ext cx="786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280" name="Google Shape;280;p28"/>
          <p:cNvSpPr txBox="1"/>
          <p:nvPr/>
        </p:nvSpPr>
        <p:spPr>
          <a:xfrm>
            <a:off x="571500" y="677651"/>
            <a:ext cx="8551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24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ood_score: </a:t>
            </a:r>
            <a:r>
              <a:rPr b="1" lang="ko" sz="1700">
                <a:solidFill>
                  <a:srgbClr val="757575"/>
                </a:solidFill>
                <a:latin typeface="Poppins"/>
                <a:ea typeface="Poppins"/>
                <a:cs typeface="Poppins"/>
                <a:sym typeface="Poppins"/>
              </a:rPr>
              <a:t>off-topic 탐지</a:t>
            </a:r>
            <a:endParaRPr b="1" sz="400">
              <a:solidFill>
                <a:srgbClr val="757575"/>
              </a:solidFill>
            </a:endParaRPr>
          </a:p>
        </p:txBody>
      </p:sp>
      <p:sp>
        <p:nvSpPr>
          <p:cNvPr id="281" name="Google Shape;281;p28"/>
          <p:cNvSpPr/>
          <p:nvPr/>
        </p:nvSpPr>
        <p:spPr>
          <a:xfrm>
            <a:off x="428625" y="677651"/>
            <a:ext cx="57000" cy="360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2" name="Google Shape;282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8925" y="1590356"/>
            <a:ext cx="3786301" cy="2570041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28"/>
          <p:cNvSpPr txBox="1"/>
          <p:nvPr/>
        </p:nvSpPr>
        <p:spPr>
          <a:xfrm>
            <a:off x="614025" y="4296919"/>
            <a:ext cx="3176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lang="ko" sz="900">
                <a:solidFill>
                  <a:srgbClr val="595959"/>
                </a:solidFill>
              </a:rPr>
              <a:t>[그림 4] Centroid 거리 상위 이미지</a:t>
            </a:r>
            <a:endParaRPr sz="900">
              <a:solidFill>
                <a:srgbClr val="595959"/>
              </a:solidFill>
            </a:endParaRPr>
          </a:p>
        </p:txBody>
      </p:sp>
      <p:sp>
        <p:nvSpPr>
          <p:cNvPr id="284" name="Google Shape;284;p28"/>
          <p:cNvSpPr txBox="1"/>
          <p:nvPr/>
        </p:nvSpPr>
        <p:spPr>
          <a:xfrm flipH="1" rot="2339460">
            <a:off x="4876221" y="3860512"/>
            <a:ext cx="24317" cy="169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285" name="Google Shape;285;p28"/>
          <p:cNvSpPr txBox="1"/>
          <p:nvPr/>
        </p:nvSpPr>
        <p:spPr>
          <a:xfrm>
            <a:off x="-2491700" y="4296925"/>
            <a:ext cx="3730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데이터셋의 정상 집단에서 떨어진 케이스는 ood일 확률이 높을것이다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0" name="Google Shape;290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5638" y="1265006"/>
            <a:ext cx="4037587" cy="33746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1" name="Google Shape;291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330206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2" name="Google Shape;292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9900" y="1222150"/>
            <a:ext cx="4096049" cy="392135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29"/>
          <p:cNvSpPr txBox="1"/>
          <p:nvPr/>
        </p:nvSpPr>
        <p:spPr>
          <a:xfrm>
            <a:off x="428625" y="1360910"/>
            <a:ext cx="4125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rgbClr val="1155C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보완</a:t>
            </a:r>
            <a:r>
              <a:rPr lang="ko" sz="1600">
                <a:solidFill>
                  <a:srgbClr val="1155C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</a:t>
            </a:r>
            <a:r>
              <a:rPr lang="ko" sz="1600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: OCR 텍스트 신호 추가</a:t>
            </a:r>
            <a:endParaRPr sz="1100"/>
          </a:p>
        </p:txBody>
      </p:sp>
      <p:sp>
        <p:nvSpPr>
          <p:cNvPr id="294" name="Google Shape;294;p29"/>
          <p:cNvSpPr txBox="1"/>
          <p:nvPr/>
        </p:nvSpPr>
        <p:spPr>
          <a:xfrm>
            <a:off x="428625" y="1652275"/>
            <a:ext cx="3750300" cy="3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본 과제의 데이터 안내와 주제이탈(o</a:t>
            </a:r>
            <a:r>
              <a:rPr b="0" i="0" lang="ko" sz="11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ff-topic)의 </a:t>
            </a:r>
            <a:r>
              <a:rPr lang="ko" sz="1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정의에 맞춰 이미지 안의</a:t>
            </a:r>
            <a:r>
              <a:rPr b="0" i="0" lang="ko" sz="11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텍스트</a:t>
            </a:r>
            <a:r>
              <a:rPr lang="ko" sz="1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b="0" i="0" lang="ko" sz="11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탐지하</a:t>
            </a:r>
            <a:r>
              <a:rPr lang="ko" sz="1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는 ocr 텍스트 신호 도입 </a:t>
            </a:r>
            <a:endParaRPr sz="1100"/>
          </a:p>
        </p:txBody>
      </p:sp>
      <p:sp>
        <p:nvSpPr>
          <p:cNvPr id="295" name="Google Shape;295;p29"/>
          <p:cNvSpPr txBox="1"/>
          <p:nvPr/>
        </p:nvSpPr>
        <p:spPr>
          <a:xfrm>
            <a:off x="571500" y="677651"/>
            <a:ext cx="8551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24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ood_score </a:t>
            </a:r>
            <a:r>
              <a:rPr b="1" lang="ko" sz="240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정교</a:t>
            </a:r>
            <a:r>
              <a:rPr b="1" i="0" lang="ko" sz="24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화</a:t>
            </a:r>
            <a:endParaRPr b="1" sz="1700">
              <a:solidFill>
                <a:srgbClr val="999999"/>
              </a:solidFill>
            </a:endParaRPr>
          </a:p>
        </p:txBody>
      </p:sp>
      <p:sp>
        <p:nvSpPr>
          <p:cNvPr id="296" name="Google Shape;296;p29"/>
          <p:cNvSpPr/>
          <p:nvPr/>
        </p:nvSpPr>
        <p:spPr>
          <a:xfrm>
            <a:off x="428625" y="677651"/>
            <a:ext cx="57000" cy="360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9"/>
          <p:cNvSpPr txBox="1"/>
          <p:nvPr/>
        </p:nvSpPr>
        <p:spPr>
          <a:xfrm>
            <a:off x="428625" y="2260481"/>
            <a:ext cx="3721800" cy="263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8575" spcFirstLastPara="1" rIns="0" wrap="square" tIns="0">
            <a:spAutoFit/>
          </a:bodyPr>
          <a:lstStyle/>
          <a:p>
            <a:pPr indent="-23495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Lato"/>
              <a:buChar char="●"/>
            </a:pPr>
            <a:r>
              <a:rPr b="1" lang="ko" sz="1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OCR 기반 텍스트 신호 도입: </a:t>
            </a:r>
            <a:r>
              <a:rPr lang="ko" sz="1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인포그래픽 및 워터마크 이미지의 공통 특징인 화면 내 텍스트 비중 파악 목적으로 pytesseract로 길이 추출</a:t>
            </a:r>
            <a:endParaRPr sz="110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  <a:p>
            <a:pPr indent="-234950" lvl="0" marL="3429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Lato"/>
              <a:buChar char="●"/>
            </a:pPr>
            <a:r>
              <a:rPr b="1" lang="ko" sz="1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다중지표 순위 결합</a:t>
            </a:r>
            <a:r>
              <a:rPr lang="ko" sz="1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:  이미지 임베딩 거리(Centroid, KNN)와 OCR 텍스트 정보의 순위(Rank)를 결합하여 분석 다각화</a:t>
            </a:r>
            <a:endParaRPr sz="110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  <a:p>
            <a:pPr indent="-234950" lvl="0" marL="342900" marR="0" rtl="0" algn="l">
              <a:lnSpc>
                <a:spcPct val="159929"/>
              </a:lnSpc>
              <a:spcBef>
                <a:spcPts val="80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Lato"/>
              <a:buChar char="●"/>
            </a:pPr>
            <a:r>
              <a:rPr b="1" lang="ko" sz="1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최종 ood_score 산출 :</a:t>
            </a:r>
            <a:r>
              <a:rPr lang="ko" sz="1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sz="110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166534"/>
                </a:solidFill>
                <a:latin typeface="Lato"/>
                <a:ea typeface="Lato"/>
                <a:cs typeface="Lato"/>
                <a:sym typeface="Lato"/>
              </a:rPr>
              <a:t>Avg(Centroid_rank, KNN_rank, Text_rank)</a:t>
            </a:r>
            <a:endParaRPr sz="110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  <a:p>
            <a:pPr indent="-234950" lvl="0" marL="3429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Lato"/>
              <a:buChar char="●"/>
            </a:pPr>
            <a:r>
              <a:rPr b="1" lang="ko" sz="1100">
                <a:solidFill>
                  <a:srgbClr val="434343"/>
                </a:solidFill>
                <a:latin typeface="Lato"/>
                <a:ea typeface="Lato"/>
                <a:cs typeface="Lato"/>
                <a:sym typeface="Lato"/>
              </a:rPr>
              <a:t>검증결과</a:t>
            </a:r>
            <a:r>
              <a:rPr lang="ko" sz="1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: </a:t>
            </a:r>
            <a:endParaRPr sz="110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  <a:p>
            <a:pPr indent="-234950" lvl="1" marL="685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Lato"/>
              <a:buChar char="○"/>
            </a:pPr>
            <a:r>
              <a:rPr lang="ko" sz="1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패널 미등장 이미지(워터마크, 물탱크, 전선 등)가 상위 35위(약 2.6%) 내에 성공적으로 포착</a:t>
            </a:r>
            <a:endParaRPr sz="110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98" name="Google Shape;298;p29"/>
          <p:cNvPicPr preferRelativeResize="0"/>
          <p:nvPr/>
        </p:nvPicPr>
        <p:blipFill rotWithShape="1">
          <a:blip r:embed="rId6">
            <a:alphaModFix/>
          </a:blip>
          <a:srcRect b="12358" l="0" r="0" t="0"/>
          <a:stretch/>
        </p:blipFill>
        <p:spPr>
          <a:xfrm>
            <a:off x="4653494" y="1420631"/>
            <a:ext cx="4125600" cy="2962632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9"/>
          <p:cNvSpPr txBox="1"/>
          <p:nvPr/>
        </p:nvSpPr>
        <p:spPr>
          <a:xfrm>
            <a:off x="5637613" y="4425338"/>
            <a:ext cx="2535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595959"/>
                </a:solidFill>
              </a:rPr>
              <a:t>[그림 5] 종합 ood_score 상위 20개 이미지</a:t>
            </a:r>
            <a:r>
              <a:rPr lang="ko" sz="900">
                <a:solidFill>
                  <a:srgbClr val="595959"/>
                </a:solidFill>
              </a:rPr>
              <a:t> </a:t>
            </a:r>
            <a:endParaRPr sz="12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4" name="Google Shape;304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3294" y="1282444"/>
            <a:ext cx="4229812" cy="3926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5" name="Google Shape;305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547370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6" name="Google Shape;306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9125" y="1249700"/>
            <a:ext cx="4291775" cy="4036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30"/>
          <p:cNvSpPr txBox="1"/>
          <p:nvPr/>
        </p:nvSpPr>
        <p:spPr>
          <a:xfrm>
            <a:off x="365400" y="1409943"/>
            <a:ext cx="39282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1155C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방법</a:t>
            </a:r>
            <a:r>
              <a:rPr lang="ko" sz="1300">
                <a:solidFill>
                  <a:srgbClr val="1155C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</a:t>
            </a:r>
            <a:r>
              <a:rPr lang="ko" sz="1600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:</a:t>
            </a:r>
            <a:r>
              <a:rPr lang="ko" sz="1500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ResNet k-fold + clenlab 라벨 품질 점수</a:t>
            </a:r>
            <a:r>
              <a:rPr lang="ko" sz="1600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</a:t>
            </a:r>
            <a:endParaRPr sz="1100"/>
          </a:p>
        </p:txBody>
      </p:sp>
      <p:sp>
        <p:nvSpPr>
          <p:cNvPr id="308" name="Google Shape;308;p30"/>
          <p:cNvSpPr txBox="1"/>
          <p:nvPr/>
        </p:nvSpPr>
        <p:spPr>
          <a:xfrm>
            <a:off x="571500" y="677651"/>
            <a:ext cx="8551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ko" sz="240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mislabel_score: </a:t>
            </a:r>
            <a:r>
              <a:rPr b="1" lang="ko" sz="170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라벨 오류 탐지</a:t>
            </a:r>
            <a:endParaRPr b="1" sz="1700">
              <a:solidFill>
                <a:srgbClr val="999999"/>
              </a:solidFill>
            </a:endParaRPr>
          </a:p>
        </p:txBody>
      </p:sp>
      <p:sp>
        <p:nvSpPr>
          <p:cNvPr id="309" name="Google Shape;309;p30"/>
          <p:cNvSpPr/>
          <p:nvPr/>
        </p:nvSpPr>
        <p:spPr>
          <a:xfrm>
            <a:off x="428625" y="677651"/>
            <a:ext cx="57000" cy="360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30"/>
          <p:cNvSpPr txBox="1"/>
          <p:nvPr/>
        </p:nvSpPr>
        <p:spPr>
          <a:xfrm>
            <a:off x="365401" y="1813525"/>
            <a:ext cx="4125600" cy="31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8575" spcFirstLastPara="1" rIns="0" wrap="square" tIns="0">
            <a:spAutoFit/>
          </a:bodyPr>
          <a:lstStyle/>
          <a:p>
            <a:pPr indent="-23495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Lato"/>
              <a:buChar char="●"/>
            </a:pPr>
            <a:r>
              <a:rPr b="1" lang="ko" sz="11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K-fold 기반 예측 확률 산출:</a:t>
            </a:r>
            <a:r>
              <a:rPr lang="ko" sz="140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ko" sz="11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ResNet18 분류 모델을 5-fold 교차검증 방식으로 학습하여 각 검증셋에 대한 예측 확률 확보</a:t>
            </a:r>
            <a:endParaRPr sz="11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234950" lvl="0" marL="3429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Noto Sans KR"/>
              <a:buChar char="●"/>
            </a:pPr>
            <a:r>
              <a:rPr b="1" lang="ko" sz="11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Cleanlab 기반 품질점수 계산:</a:t>
            </a:r>
            <a:r>
              <a:rPr lang="ko" sz="140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ko" sz="8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cleanlab.rank_label_quality_scores</a:t>
            </a:r>
            <a:r>
              <a:rPr lang="ko" sz="11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 함수를 적용하여 학습된 확률값과 실제 라벨 간의 괴리 정도를 품질점수로 계산</a:t>
            </a:r>
            <a:endParaRPr sz="11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234950" lvl="0" marL="342900" rtl="0" algn="l">
              <a:lnSpc>
                <a:spcPct val="126611"/>
              </a:lnSpc>
              <a:spcBef>
                <a:spcPts val="80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Noto Sans KR"/>
              <a:buChar char="●"/>
            </a:pPr>
            <a:r>
              <a:rPr b="1" lang="ko" sz="11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mislabel_score 산출:</a:t>
            </a:r>
            <a:br>
              <a:rPr lang="ko" sz="140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ko" sz="140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           </a:t>
            </a:r>
            <a:r>
              <a:rPr b="1" lang="ko" sz="11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b="1" lang="ko" sz="1100">
                <a:solidFill>
                  <a:srgbClr val="166534"/>
                </a:solidFill>
                <a:latin typeface="Lato"/>
                <a:ea typeface="Lato"/>
                <a:cs typeface="Lato"/>
                <a:sym typeface="Lato"/>
              </a:rPr>
              <a:t>mislabel_score = 1- quality_score </a:t>
            </a:r>
            <a:endParaRPr b="1" sz="1100">
              <a:solidFill>
                <a:srgbClr val="166534"/>
              </a:solidFill>
              <a:latin typeface="Lato"/>
              <a:ea typeface="Lato"/>
              <a:cs typeface="Lato"/>
              <a:sym typeface="Lato"/>
            </a:endParaRPr>
          </a:p>
          <a:p>
            <a:pPr indent="-234950" lvl="0" marL="3429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Lato"/>
              <a:buChar char="●"/>
            </a:pPr>
            <a:r>
              <a:rPr b="1" lang="ko" sz="1100">
                <a:solidFill>
                  <a:srgbClr val="434343"/>
                </a:solidFill>
                <a:latin typeface="Lato"/>
                <a:ea typeface="Lato"/>
                <a:cs typeface="Lato"/>
                <a:sym typeface="Lato"/>
              </a:rPr>
              <a:t>검증결과: </a:t>
            </a:r>
            <a:endParaRPr sz="1100">
              <a:solidFill>
                <a:srgbClr val="434343"/>
              </a:solidFill>
              <a:latin typeface="Lato"/>
              <a:ea typeface="Lato"/>
              <a:cs typeface="Lato"/>
              <a:sym typeface="Lato"/>
            </a:endParaRPr>
          </a:p>
          <a:p>
            <a:pPr indent="-234950" lvl="1" marL="685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Lato"/>
              <a:buChar char="○"/>
            </a:pPr>
            <a:r>
              <a:rPr lang="ko" sz="1100">
                <a:solidFill>
                  <a:srgbClr val="434343"/>
                </a:solidFill>
                <a:latin typeface="Lato"/>
                <a:ea typeface="Lato"/>
                <a:cs typeface="Lato"/>
                <a:sym typeface="Lato"/>
              </a:rPr>
              <a:t>상위 후보 중 일부가 실제 라벨 오류가 아닌 ood-score, dup_score가 높은 이미지와 겹친다는 점을 발견 </a:t>
            </a:r>
            <a:endParaRPr sz="1100">
              <a:solidFill>
                <a:srgbClr val="434343"/>
              </a:solidFill>
              <a:latin typeface="Lato"/>
              <a:ea typeface="Lato"/>
              <a:cs typeface="Lato"/>
              <a:sym typeface="Lato"/>
            </a:endParaRPr>
          </a:p>
          <a:p>
            <a:pPr indent="-234950" lvl="1" marL="6858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Lato"/>
              <a:buChar char="○"/>
            </a:pPr>
            <a:r>
              <a:rPr lang="ko" sz="1100">
                <a:solidFill>
                  <a:srgbClr val="434343"/>
                </a:solidFill>
                <a:latin typeface="Lato"/>
                <a:ea typeface="Lato"/>
                <a:cs typeface="Lato"/>
                <a:sym typeface="Lato"/>
              </a:rPr>
              <a:t>모델이 비정상 이미지에 대해 예측 확신이 낮아지면 라벨오류로 인지하는 것으로 유추되며, 향후 mislabel 모델 학습시 off-topic과 중복 이미지를 제외하는 보정 필요</a:t>
            </a:r>
            <a:endParaRPr sz="110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11" name="Google Shape;311;p30"/>
          <p:cNvSpPr txBox="1"/>
          <p:nvPr/>
        </p:nvSpPr>
        <p:spPr>
          <a:xfrm>
            <a:off x="5843138" y="4402388"/>
            <a:ext cx="2535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rgbClr val="595959"/>
                </a:solidFill>
              </a:rPr>
              <a:t>[그림 6] mislabel_score 상위 후보 시각화</a:t>
            </a:r>
            <a:r>
              <a:rPr lang="ko" sz="900">
                <a:solidFill>
                  <a:schemeClr val="dk1"/>
                </a:solidFill>
              </a:rPr>
              <a:t> </a:t>
            </a:r>
            <a:endParaRPr sz="900"/>
          </a:p>
        </p:txBody>
      </p:sp>
      <p:pic>
        <p:nvPicPr>
          <p:cNvPr id="312" name="Google Shape;312;p3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78456" y="1479750"/>
            <a:ext cx="3979350" cy="2871788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0"/>
          <p:cNvSpPr txBox="1"/>
          <p:nvPr/>
        </p:nvSpPr>
        <p:spPr>
          <a:xfrm>
            <a:off x="-2408875" y="1566800"/>
            <a:ext cx="1698000" cy="46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resnet fine tune 없이  이진분류해서 예측 확률 확보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cleanlab 한줄 정리 검색해서 설명 준비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quality score가 cleanlab 결과물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18" name="Google Shape;318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9525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9" name="Google Shape;319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625" y="3905510"/>
            <a:ext cx="8286750" cy="50285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20" name="Google Shape;320;p31"/>
          <p:cNvGraphicFramePr/>
          <p:nvPr/>
        </p:nvGraphicFramePr>
        <p:xfrm>
          <a:off x="571500" y="139975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{EBB42007-BD4A-461F-8AA3-06A089F2EFE4}</a:tableStyleId>
              </a:tblPr>
              <a:tblGrid>
                <a:gridCol w="1421500"/>
                <a:gridCol w="2315600"/>
                <a:gridCol w="3585425"/>
              </a:tblGrid>
              <a:tr h="4796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ko" sz="1100" u="none" cap="none" strike="noStrike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항목</a:t>
                      </a:r>
                      <a:endParaRPr sz="1100"/>
                    </a:p>
                  </a:txBody>
                  <a:tcPr marT="19050" marB="19050" marR="47625" marL="47625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ko" sz="1100" u="none" cap="none" strike="noStrike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방법론 (Methodology)</a:t>
                      </a:r>
                      <a:endParaRPr sz="1100"/>
                    </a:p>
                  </a:txBody>
                  <a:tcPr marT="19050" marB="19050" marR="47625" marL="47625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ko" sz="1100" u="none" cap="none" strike="noStrike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주요 검증 결과</a:t>
                      </a:r>
                      <a:endParaRPr sz="1100"/>
                    </a:p>
                  </a:txBody>
                  <a:tcPr marT="19050" marB="19050" marR="47625" marL="47625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4796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ko" sz="110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dup_score</a:t>
                      </a:r>
                      <a:endParaRPr sz="1100"/>
                    </a:p>
                  </a:txBody>
                  <a:tcPr marT="19050" marB="19050" marR="47625" marL="47625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" sz="110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pHash 최근접 거리</a:t>
                      </a:r>
                      <a:endParaRPr sz="1100"/>
                    </a:p>
                  </a:txBody>
                  <a:tcPr marT="19050" marB="19050" marR="47625" marL="47625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" sz="110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임계값 8 기준 중복 상위 10~14% 포착</a:t>
                      </a:r>
                      <a:endParaRPr sz="1100"/>
                    </a:p>
                  </a:txBody>
                  <a:tcPr marT="19050" marB="19050" marR="47625" marL="47625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96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ko" sz="110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ood_score</a:t>
                      </a:r>
                      <a:endParaRPr sz="1100"/>
                    </a:p>
                  </a:txBody>
                  <a:tcPr marT="19050" marB="19050" marR="47625" marL="47625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" sz="110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ResNet 임베딩 + OCR 순위</a:t>
                      </a:r>
                      <a:endParaRPr sz="1100"/>
                    </a:p>
                  </a:txBody>
                  <a:tcPr marT="19050" marB="19050" marR="47625" marL="47625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" sz="110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인포그래픽/패널 미등장 이미지 상위권 탐지</a:t>
                      </a:r>
                      <a:endParaRPr sz="1100"/>
                    </a:p>
                  </a:txBody>
                  <a:tcPr marT="19050" marB="19050" marR="47625" marL="47625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796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ko" sz="110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mislabel_score</a:t>
                      </a:r>
                      <a:endParaRPr sz="1100"/>
                    </a:p>
                  </a:txBody>
                  <a:tcPr marT="19050" marB="19050" marR="47625" marL="47625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" sz="110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ResNet K-fold + cleanlab</a:t>
                      </a:r>
                      <a:endParaRPr sz="1100"/>
                    </a:p>
                  </a:txBody>
                  <a:tcPr marT="19050" marB="19050" marR="47625" marL="47625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" sz="110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OOD/중복 이미지와 혼동 한계(보정 필요)</a:t>
                      </a:r>
                      <a:endParaRPr sz="1100"/>
                    </a:p>
                  </a:txBody>
                  <a:tcPr marT="19050" marB="19050" marR="47625" marL="47625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21" name="Google Shape;321;p31"/>
          <p:cNvSpPr/>
          <p:nvPr/>
        </p:nvSpPr>
        <p:spPr>
          <a:xfrm>
            <a:off x="428625" y="2717639"/>
            <a:ext cx="1608900" cy="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31"/>
          <p:cNvSpPr/>
          <p:nvPr/>
        </p:nvSpPr>
        <p:spPr>
          <a:xfrm>
            <a:off x="2037307" y="2717639"/>
            <a:ext cx="2620500" cy="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31"/>
          <p:cNvSpPr/>
          <p:nvPr/>
        </p:nvSpPr>
        <p:spPr>
          <a:xfrm>
            <a:off x="4657836" y="2717639"/>
            <a:ext cx="4057800" cy="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31"/>
          <p:cNvSpPr/>
          <p:nvPr/>
        </p:nvSpPr>
        <p:spPr>
          <a:xfrm>
            <a:off x="428625" y="3199061"/>
            <a:ext cx="1608900" cy="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31"/>
          <p:cNvSpPr/>
          <p:nvPr/>
        </p:nvSpPr>
        <p:spPr>
          <a:xfrm>
            <a:off x="2037307" y="3199061"/>
            <a:ext cx="2620500" cy="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31"/>
          <p:cNvSpPr/>
          <p:nvPr/>
        </p:nvSpPr>
        <p:spPr>
          <a:xfrm>
            <a:off x="4657836" y="3199061"/>
            <a:ext cx="4057800" cy="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31"/>
          <p:cNvSpPr/>
          <p:nvPr/>
        </p:nvSpPr>
        <p:spPr>
          <a:xfrm>
            <a:off x="428625" y="3680482"/>
            <a:ext cx="1608900" cy="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31"/>
          <p:cNvSpPr/>
          <p:nvPr/>
        </p:nvSpPr>
        <p:spPr>
          <a:xfrm>
            <a:off x="2037307" y="3680482"/>
            <a:ext cx="2620500" cy="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31"/>
          <p:cNvSpPr/>
          <p:nvPr/>
        </p:nvSpPr>
        <p:spPr>
          <a:xfrm>
            <a:off x="4657836" y="3680482"/>
            <a:ext cx="4057800" cy="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31"/>
          <p:cNvSpPr txBox="1"/>
          <p:nvPr/>
        </p:nvSpPr>
        <p:spPr>
          <a:xfrm>
            <a:off x="571500" y="677651"/>
            <a:ext cx="8551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24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작업 요약 및 검증 결과</a:t>
            </a:r>
            <a:endParaRPr sz="1100"/>
          </a:p>
        </p:txBody>
      </p:sp>
      <p:sp>
        <p:nvSpPr>
          <p:cNvPr id="331" name="Google Shape;331;p31"/>
          <p:cNvSpPr/>
          <p:nvPr/>
        </p:nvSpPr>
        <p:spPr>
          <a:xfrm>
            <a:off x="428625" y="677651"/>
            <a:ext cx="57000" cy="360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36" name="Google Shape;336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9525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7" name="Google Shape;337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625" y="1410925"/>
            <a:ext cx="4620425" cy="34751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32"/>
          <p:cNvSpPr txBox="1"/>
          <p:nvPr/>
        </p:nvSpPr>
        <p:spPr>
          <a:xfrm>
            <a:off x="607219" y="4048385"/>
            <a:ext cx="7965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5725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980000"/>
              </a:solidFill>
            </a:endParaRPr>
          </a:p>
        </p:txBody>
      </p:sp>
      <p:sp>
        <p:nvSpPr>
          <p:cNvPr id="339" name="Google Shape;339;p32"/>
          <p:cNvSpPr/>
          <p:nvPr/>
        </p:nvSpPr>
        <p:spPr>
          <a:xfrm>
            <a:off x="428625" y="2717639"/>
            <a:ext cx="1608900" cy="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32"/>
          <p:cNvSpPr/>
          <p:nvPr/>
        </p:nvSpPr>
        <p:spPr>
          <a:xfrm>
            <a:off x="2037307" y="2717639"/>
            <a:ext cx="2620500" cy="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32"/>
          <p:cNvSpPr/>
          <p:nvPr/>
        </p:nvSpPr>
        <p:spPr>
          <a:xfrm>
            <a:off x="4657836" y="2717639"/>
            <a:ext cx="4057800" cy="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32"/>
          <p:cNvSpPr/>
          <p:nvPr/>
        </p:nvSpPr>
        <p:spPr>
          <a:xfrm>
            <a:off x="428625" y="3199061"/>
            <a:ext cx="1608900" cy="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32"/>
          <p:cNvSpPr/>
          <p:nvPr/>
        </p:nvSpPr>
        <p:spPr>
          <a:xfrm>
            <a:off x="2037307" y="3199061"/>
            <a:ext cx="2620500" cy="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32"/>
          <p:cNvSpPr/>
          <p:nvPr/>
        </p:nvSpPr>
        <p:spPr>
          <a:xfrm>
            <a:off x="4657836" y="3199061"/>
            <a:ext cx="4057800" cy="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32"/>
          <p:cNvSpPr/>
          <p:nvPr/>
        </p:nvSpPr>
        <p:spPr>
          <a:xfrm>
            <a:off x="428625" y="3680482"/>
            <a:ext cx="1608900" cy="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32"/>
          <p:cNvSpPr/>
          <p:nvPr/>
        </p:nvSpPr>
        <p:spPr>
          <a:xfrm>
            <a:off x="2037307" y="3680482"/>
            <a:ext cx="2620500" cy="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32"/>
          <p:cNvSpPr/>
          <p:nvPr/>
        </p:nvSpPr>
        <p:spPr>
          <a:xfrm>
            <a:off x="4657836" y="3680482"/>
            <a:ext cx="4057800" cy="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32"/>
          <p:cNvSpPr txBox="1"/>
          <p:nvPr/>
        </p:nvSpPr>
        <p:spPr>
          <a:xfrm>
            <a:off x="571500" y="677651"/>
            <a:ext cx="8551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24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검증 결과</a:t>
            </a:r>
            <a:endParaRPr sz="1100"/>
          </a:p>
        </p:txBody>
      </p:sp>
      <p:sp>
        <p:nvSpPr>
          <p:cNvPr id="349" name="Google Shape;349;p32"/>
          <p:cNvSpPr/>
          <p:nvPr/>
        </p:nvSpPr>
        <p:spPr>
          <a:xfrm>
            <a:off x="428625" y="677651"/>
            <a:ext cx="57000" cy="360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32"/>
          <p:cNvSpPr txBox="1"/>
          <p:nvPr/>
        </p:nvSpPr>
        <p:spPr>
          <a:xfrm>
            <a:off x="523463" y="4404807"/>
            <a:ext cx="39291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351" name="Google Shape;351;p32"/>
          <p:cNvSpPr txBox="1"/>
          <p:nvPr/>
        </p:nvSpPr>
        <p:spPr>
          <a:xfrm>
            <a:off x="428613" y="1574675"/>
            <a:ext cx="4362300" cy="31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ko" sz="1100">
                <a:solidFill>
                  <a:schemeClr val="dk1"/>
                </a:solidFill>
              </a:rPr>
              <a:t>정답 라벨이 제공되지 않아 정량적 AP를 직접 계산하지는 못함 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ko" sz="1100">
                <a:solidFill>
                  <a:schemeClr val="dk1"/>
                </a:solidFill>
              </a:rPr>
              <a:t>각 축의 상위 스코어 이미지를 육안으로 검토하여 정성적으로 타당성 확인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ko" sz="1100">
                <a:solidFill>
                  <a:schemeClr val="dk1"/>
                </a:solidFill>
              </a:rPr>
              <a:t>dup_score: 실제 시각적으로 동일한 이미지 쌍이 상위권 위치 확인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ko" sz="1100">
                <a:solidFill>
                  <a:schemeClr val="dk1"/>
                </a:solidFill>
              </a:rPr>
              <a:t>ood_score: 워터마크, 낙서, 안테나 등 패널이 아닌 이미지가 상위권에 위치함을 확인 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ko" sz="1100">
                <a:solidFill>
                  <a:schemeClr val="dk1"/>
                </a:solidFill>
              </a:rPr>
              <a:t>mislabel_score: 라벨-이미지 불일치보다 스타일 이질성에 더 민감하게 반응하는 한계 확인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ko" sz="1100">
                <a:solidFill>
                  <a:schemeClr val="dk1"/>
                </a:solidFill>
              </a:rPr>
              <a:t>3개 점수간 Spearman 상관계수가 모두 0.2 미만으로 가 낮고 이는 서로 다른 유형의 이상 신호를 독립적으로 포착하고 있음을 시사  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352" name="Google Shape;352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34900" y="1494525"/>
            <a:ext cx="3387893" cy="2910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E7E0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3"/>
          <p:cNvSpPr/>
          <p:nvPr/>
        </p:nvSpPr>
        <p:spPr>
          <a:xfrm>
            <a:off x="480060" y="411480"/>
            <a:ext cx="1166100" cy="274200"/>
          </a:xfrm>
          <a:prstGeom prst="roundRect">
            <a:avLst>
              <a:gd fmla="val 20000" name="adj"/>
            </a:avLst>
          </a:prstGeom>
          <a:solidFill>
            <a:srgbClr val="1C2A4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33"/>
          <p:cNvSpPr/>
          <p:nvPr/>
        </p:nvSpPr>
        <p:spPr>
          <a:xfrm>
            <a:off x="480060" y="411480"/>
            <a:ext cx="1166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ko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SECTION 04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60" name="Google Shape;360;p33"/>
          <p:cNvPicPr preferRelativeResize="0"/>
          <p:nvPr/>
        </p:nvPicPr>
        <p:blipFill rotWithShape="1">
          <a:blip r:embed="rId3">
            <a:alphaModFix amt="10000"/>
          </a:blip>
          <a:srcRect b="0" l="0" r="0" t="0"/>
          <a:stretch/>
        </p:blipFill>
        <p:spPr>
          <a:xfrm>
            <a:off x="6858000" y="1783080"/>
            <a:ext cx="1783080" cy="1783080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33"/>
          <p:cNvSpPr/>
          <p:nvPr/>
        </p:nvSpPr>
        <p:spPr>
          <a:xfrm>
            <a:off x="500634" y="2160270"/>
            <a:ext cx="7406400" cy="7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A44"/>
              </a:buClr>
              <a:buSzPts val="2700"/>
              <a:buFont typeface="Calibri"/>
              <a:buNone/>
            </a:pPr>
            <a:r>
              <a:rPr b="1" i="0" lang="ko" sz="3300" u="none" cap="none" strike="noStrike">
                <a:solidFill>
                  <a:srgbClr val="1C2A44"/>
                </a:solidFill>
                <a:latin typeface="Calibri"/>
                <a:ea typeface="Calibri"/>
                <a:cs typeface="Calibri"/>
                <a:sym typeface="Calibri"/>
              </a:rPr>
              <a:t>Track-A </a:t>
            </a:r>
            <a:r>
              <a:rPr b="1" i="0" lang="ko" sz="3100" u="none" cap="none" strike="noStrike">
                <a:solidFill>
                  <a:srgbClr val="1C2A44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b="1" lang="ko" sz="2700">
                <a:solidFill>
                  <a:srgbClr val="1C2A44"/>
                </a:solidFill>
                <a:latin typeface="Calibri"/>
                <a:ea typeface="Calibri"/>
                <a:cs typeface="Calibri"/>
                <a:sym typeface="Calibri"/>
              </a:rPr>
              <a:t>태양광 </a:t>
            </a:r>
            <a:r>
              <a:rPr b="1" i="0" lang="ko" sz="2700" u="none" cap="none" strike="noStrike">
                <a:solidFill>
                  <a:srgbClr val="1C2A44"/>
                </a:solidFill>
                <a:latin typeface="Calibri"/>
                <a:ea typeface="Calibri"/>
                <a:cs typeface="Calibri"/>
                <a:sym typeface="Calibri"/>
              </a:rPr>
              <a:t>패널 오염 확률 예측</a:t>
            </a:r>
            <a:r>
              <a:rPr b="1" i="0" lang="ko" sz="3100" u="none" cap="none" strike="noStrike">
                <a:solidFill>
                  <a:srgbClr val="1C2A44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2" name="Google Shape;362;p33"/>
          <p:cNvCxnSpPr/>
          <p:nvPr/>
        </p:nvCxnSpPr>
        <p:spPr>
          <a:xfrm>
            <a:off x="514350" y="2846070"/>
            <a:ext cx="1783200" cy="0"/>
          </a:xfrm>
          <a:prstGeom prst="straightConnector1">
            <a:avLst/>
          </a:prstGeom>
          <a:noFill/>
          <a:ln cap="flat" cmpd="sng" w="19050">
            <a:solidFill>
              <a:srgbClr val="C9A24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3" name="Google Shape;363;p33"/>
          <p:cNvSpPr/>
          <p:nvPr/>
        </p:nvSpPr>
        <p:spPr>
          <a:xfrm>
            <a:off x="8298180" y="4766310"/>
            <a:ext cx="4803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8496"/>
              </a:buClr>
              <a:buSzPts val="900"/>
              <a:buFont typeface="Calibri"/>
              <a:buNone/>
            </a:pPr>
            <a:r>
              <a:rPr b="0" i="0" lang="ko" sz="900" u="none" cap="none" strike="noStrike">
                <a:solidFill>
                  <a:srgbClr val="8A8496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E7E0"/>
        </a:solidFill>
      </p:bgPr>
    </p:bg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34"/>
          <p:cNvSpPr/>
          <p:nvPr/>
        </p:nvSpPr>
        <p:spPr>
          <a:xfrm>
            <a:off x="480060" y="411480"/>
            <a:ext cx="1166100" cy="274200"/>
          </a:xfrm>
          <a:prstGeom prst="roundRect">
            <a:avLst>
              <a:gd fmla="val 20000" name="adj"/>
            </a:avLst>
          </a:prstGeom>
          <a:solidFill>
            <a:srgbClr val="1C2A4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34"/>
          <p:cNvSpPr/>
          <p:nvPr/>
        </p:nvSpPr>
        <p:spPr>
          <a:xfrm>
            <a:off x="480060" y="411480"/>
            <a:ext cx="1166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ko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SECTION 02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71" name="Google Shape;371;p34"/>
          <p:cNvPicPr preferRelativeResize="0"/>
          <p:nvPr/>
        </p:nvPicPr>
        <p:blipFill rotWithShape="1">
          <a:blip r:embed="rId3">
            <a:alphaModFix amt="10000"/>
          </a:blip>
          <a:srcRect b="0" l="0" r="0" t="0"/>
          <a:stretch/>
        </p:blipFill>
        <p:spPr>
          <a:xfrm>
            <a:off x="6858000" y="1783080"/>
            <a:ext cx="1783080" cy="1783080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34"/>
          <p:cNvSpPr/>
          <p:nvPr/>
        </p:nvSpPr>
        <p:spPr>
          <a:xfrm>
            <a:off x="500634" y="2160270"/>
            <a:ext cx="7406400" cy="7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A44"/>
              </a:buClr>
              <a:buSzPts val="2700"/>
              <a:buFont typeface="Calibri"/>
              <a:buNone/>
            </a:pPr>
            <a:r>
              <a:rPr b="1" lang="ko" sz="2700">
                <a:solidFill>
                  <a:srgbClr val="1C2A44"/>
                </a:solidFill>
                <a:latin typeface="Calibri"/>
                <a:ea typeface="Calibri"/>
                <a:cs typeface="Calibri"/>
                <a:sym typeface="Calibri"/>
              </a:rPr>
              <a:t>데이터 전처리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3" name="Google Shape;373;p34"/>
          <p:cNvCxnSpPr/>
          <p:nvPr/>
        </p:nvCxnSpPr>
        <p:spPr>
          <a:xfrm>
            <a:off x="514350" y="2846070"/>
            <a:ext cx="1783200" cy="0"/>
          </a:xfrm>
          <a:prstGeom prst="straightConnector1">
            <a:avLst/>
          </a:prstGeom>
          <a:noFill/>
          <a:ln cap="flat" cmpd="sng" w="19050">
            <a:solidFill>
              <a:srgbClr val="C9A24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4" name="Google Shape;374;p34"/>
          <p:cNvSpPr/>
          <p:nvPr/>
        </p:nvSpPr>
        <p:spPr>
          <a:xfrm>
            <a:off x="8298180" y="4766310"/>
            <a:ext cx="4803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8496"/>
              </a:buClr>
              <a:buSzPts val="900"/>
              <a:buFont typeface="Calibri"/>
              <a:buNone/>
            </a:pPr>
            <a:r>
              <a:rPr b="0" i="0" lang="ko" sz="900" u="none" cap="none" strike="noStrike">
                <a:solidFill>
                  <a:srgbClr val="8A8496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D12"/>
        </a:solidFill>
      </p:bgPr>
    </p:bg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35"/>
          <p:cNvSpPr/>
          <p:nvPr/>
        </p:nvSpPr>
        <p:spPr>
          <a:xfrm>
            <a:off x="377190" y="329184"/>
            <a:ext cx="41100" cy="411600"/>
          </a:xfrm>
          <a:prstGeom prst="rect">
            <a:avLst/>
          </a:prstGeom>
          <a:solidFill>
            <a:srgbClr val="C9CDD8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35"/>
          <p:cNvSpPr/>
          <p:nvPr/>
        </p:nvSpPr>
        <p:spPr>
          <a:xfrm>
            <a:off x="534924" y="260604"/>
            <a:ext cx="81609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ko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전처리 전략 요약: </a:t>
            </a:r>
            <a:r>
              <a:rPr b="1" i="0" lang="ko" sz="2000" u="none" cap="none" strike="noStrike">
                <a:solidFill>
                  <a:srgbClr val="C9CDD8"/>
                </a:solidFill>
                <a:latin typeface="Calibri"/>
                <a:ea typeface="Calibri"/>
                <a:cs typeface="Calibri"/>
                <a:sym typeface="Calibri"/>
              </a:rPr>
              <a:t>3가지 핵심 전략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35"/>
          <p:cNvSpPr/>
          <p:nvPr/>
        </p:nvSpPr>
        <p:spPr>
          <a:xfrm>
            <a:off x="534924" y="672084"/>
            <a:ext cx="81609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AFC0"/>
              </a:buClr>
              <a:buSzPts val="1100"/>
              <a:buFont typeface="Calibri"/>
              <a:buNone/>
            </a:pPr>
            <a:r>
              <a:rPr b="0" i="1" lang="ko" sz="1100" u="none" cap="none" strike="noStrike">
                <a:solidFill>
                  <a:srgbClr val="A9AFC0"/>
                </a:solidFill>
                <a:latin typeface="Calibri"/>
                <a:ea typeface="Calibri"/>
                <a:cs typeface="Calibri"/>
                <a:sym typeface="Calibri"/>
              </a:rPr>
              <a:t>검증 신뢰성 저하 · 촬영환경 변화 · 지름길 학습, 3가지 리스크에 대응하는 가설 기반 전처리 전략을 순차 적용했습니다.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35"/>
          <p:cNvSpPr/>
          <p:nvPr/>
        </p:nvSpPr>
        <p:spPr>
          <a:xfrm>
            <a:off x="377190" y="1200150"/>
            <a:ext cx="2469000" cy="2846100"/>
          </a:xfrm>
          <a:prstGeom prst="roundRect">
            <a:avLst>
              <a:gd fmla="val 2500" name="adj"/>
            </a:avLst>
          </a:prstGeom>
          <a:solidFill>
            <a:srgbClr val="14182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35"/>
          <p:cNvSpPr/>
          <p:nvPr/>
        </p:nvSpPr>
        <p:spPr>
          <a:xfrm>
            <a:off x="569214" y="1405890"/>
            <a:ext cx="425100" cy="425100"/>
          </a:xfrm>
          <a:prstGeom prst="ellipse">
            <a:avLst/>
          </a:prstGeom>
          <a:solidFill>
            <a:srgbClr val="3E8ED0">
              <a:alpha val="16079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35"/>
          <p:cNvSpPr/>
          <p:nvPr/>
        </p:nvSpPr>
        <p:spPr>
          <a:xfrm>
            <a:off x="569214" y="1405890"/>
            <a:ext cx="4251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E8ED0"/>
              </a:buClr>
              <a:buSzPts val="1400"/>
              <a:buFont typeface="Calibri"/>
              <a:buNone/>
            </a:pPr>
            <a:r>
              <a:rPr b="1" i="0" lang="ko" sz="1400" u="none" cap="none" strike="noStrike">
                <a:solidFill>
                  <a:srgbClr val="3E8ED0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35"/>
          <p:cNvSpPr/>
          <p:nvPr/>
        </p:nvSpPr>
        <p:spPr>
          <a:xfrm>
            <a:off x="569214" y="1968246"/>
            <a:ext cx="2085000" cy="4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ko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검증 신뢰성 확보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35"/>
          <p:cNvSpPr/>
          <p:nvPr/>
        </p:nvSpPr>
        <p:spPr>
          <a:xfrm>
            <a:off x="569214" y="2468880"/>
            <a:ext cx="2085000" cy="8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A9AFC0"/>
              </a:buClr>
              <a:buSzPts val="900"/>
              <a:buFont typeface="Calibri"/>
              <a:buNone/>
            </a:pPr>
            <a:r>
              <a:rPr b="0" i="0" lang="ko" sz="900" u="none" cap="none" strike="noStrike">
                <a:solidFill>
                  <a:srgbClr val="A9AFC0"/>
                </a:solidFill>
                <a:latin typeface="Calibri"/>
                <a:ea typeface="Calibri"/>
                <a:cs typeface="Calibri"/>
                <a:sym typeface="Calibri"/>
              </a:rPr>
              <a:t>학습 / 검증 데이터의 레이블 분포를 일치시켜 평가 지표의 객관성 확보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8" name="Google Shape;388;p35"/>
          <p:cNvCxnSpPr/>
          <p:nvPr/>
        </p:nvCxnSpPr>
        <p:spPr>
          <a:xfrm>
            <a:off x="569214" y="3394710"/>
            <a:ext cx="2085000" cy="0"/>
          </a:xfrm>
          <a:prstGeom prst="straightConnector1">
            <a:avLst/>
          </a:prstGeom>
          <a:noFill/>
          <a:ln cap="flat" cmpd="sng" w="7150">
            <a:solidFill>
              <a:srgbClr val="262A3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9" name="Google Shape;389;p35"/>
          <p:cNvSpPr/>
          <p:nvPr/>
        </p:nvSpPr>
        <p:spPr>
          <a:xfrm>
            <a:off x="569214" y="3511296"/>
            <a:ext cx="20850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385"/>
              </a:buClr>
              <a:buSzPts val="800"/>
              <a:buFont typeface="Calibri"/>
              <a:buNone/>
            </a:pPr>
            <a:r>
              <a:rPr b="0" i="0" lang="ko" sz="800" u="none" cap="none" strike="noStrike">
                <a:solidFill>
                  <a:srgbClr val="6E7385"/>
                </a:solidFill>
                <a:latin typeface="Calibri"/>
                <a:ea typeface="Calibri"/>
                <a:cs typeface="Calibri"/>
                <a:sym typeface="Calibri"/>
              </a:rPr>
              <a:t>적용 기법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35"/>
          <p:cNvSpPr/>
          <p:nvPr/>
        </p:nvSpPr>
        <p:spPr>
          <a:xfrm>
            <a:off x="569214" y="3703320"/>
            <a:ext cx="2085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E8ED0"/>
              </a:buClr>
              <a:buSzPts val="900"/>
              <a:buFont typeface="Calibri"/>
              <a:buNone/>
            </a:pPr>
            <a:r>
              <a:rPr b="1" i="0" lang="ko" sz="900" u="none" cap="none" strike="noStrike">
                <a:solidFill>
                  <a:srgbClr val="3E8ED0"/>
                </a:solidFill>
                <a:latin typeface="Calibri"/>
                <a:ea typeface="Calibri"/>
                <a:cs typeface="Calibri"/>
                <a:sym typeface="Calibri"/>
              </a:rPr>
              <a:t>Stratified Sampling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35"/>
          <p:cNvSpPr/>
          <p:nvPr/>
        </p:nvSpPr>
        <p:spPr>
          <a:xfrm>
            <a:off x="3278124" y="1200150"/>
            <a:ext cx="2469000" cy="2846100"/>
          </a:xfrm>
          <a:prstGeom prst="roundRect">
            <a:avLst>
              <a:gd fmla="val 2500" name="adj"/>
            </a:avLst>
          </a:prstGeom>
          <a:solidFill>
            <a:srgbClr val="14182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35"/>
          <p:cNvSpPr/>
          <p:nvPr/>
        </p:nvSpPr>
        <p:spPr>
          <a:xfrm>
            <a:off x="3470148" y="1405890"/>
            <a:ext cx="425100" cy="425100"/>
          </a:xfrm>
          <a:prstGeom prst="ellipse">
            <a:avLst/>
          </a:prstGeom>
          <a:solidFill>
            <a:srgbClr val="1D9E75">
              <a:alpha val="16079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35"/>
          <p:cNvSpPr/>
          <p:nvPr/>
        </p:nvSpPr>
        <p:spPr>
          <a:xfrm>
            <a:off x="3470148" y="1405890"/>
            <a:ext cx="4251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9E75"/>
              </a:buClr>
              <a:buSzPts val="1400"/>
              <a:buFont typeface="Calibri"/>
              <a:buNone/>
            </a:pPr>
            <a:r>
              <a:rPr b="1" i="0" lang="ko" sz="1400" u="none" cap="none" strike="noStrike">
                <a:solidFill>
                  <a:srgbClr val="1D9E75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35"/>
          <p:cNvSpPr/>
          <p:nvPr/>
        </p:nvSpPr>
        <p:spPr>
          <a:xfrm>
            <a:off x="3470148" y="1968246"/>
            <a:ext cx="2085000" cy="4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ko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기하학적·광학적 강건성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35"/>
          <p:cNvSpPr/>
          <p:nvPr/>
        </p:nvSpPr>
        <p:spPr>
          <a:xfrm>
            <a:off x="3470148" y="2468880"/>
            <a:ext cx="2085000" cy="8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A9AFC0"/>
              </a:buClr>
              <a:buSzPts val="900"/>
              <a:buFont typeface="Calibri"/>
              <a:buNone/>
            </a:pPr>
            <a:r>
              <a:rPr b="0" i="0" lang="ko" sz="900" u="none" cap="none" strike="noStrike">
                <a:solidFill>
                  <a:srgbClr val="A9AFC0"/>
                </a:solidFill>
                <a:latin typeface="Calibri"/>
                <a:ea typeface="Calibri"/>
                <a:cs typeface="Calibri"/>
                <a:sym typeface="Calibri"/>
              </a:rPr>
              <a:t>촬영 각도와 조도 변화를 모사하여 다양한 환경에 강건한 모델 학습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6" name="Google Shape;396;p35"/>
          <p:cNvCxnSpPr/>
          <p:nvPr/>
        </p:nvCxnSpPr>
        <p:spPr>
          <a:xfrm>
            <a:off x="3470148" y="3394710"/>
            <a:ext cx="2085000" cy="0"/>
          </a:xfrm>
          <a:prstGeom prst="straightConnector1">
            <a:avLst/>
          </a:prstGeom>
          <a:noFill/>
          <a:ln cap="flat" cmpd="sng" w="7150">
            <a:solidFill>
              <a:srgbClr val="262A3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7" name="Google Shape;397;p35"/>
          <p:cNvSpPr/>
          <p:nvPr/>
        </p:nvSpPr>
        <p:spPr>
          <a:xfrm>
            <a:off x="3470148" y="3511296"/>
            <a:ext cx="20850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385"/>
              </a:buClr>
              <a:buSzPts val="800"/>
              <a:buFont typeface="Calibri"/>
              <a:buNone/>
            </a:pPr>
            <a:r>
              <a:rPr b="0" i="0" lang="ko" sz="800" u="none" cap="none" strike="noStrike">
                <a:solidFill>
                  <a:srgbClr val="6E7385"/>
                </a:solidFill>
                <a:latin typeface="Calibri"/>
                <a:ea typeface="Calibri"/>
                <a:cs typeface="Calibri"/>
                <a:sym typeface="Calibri"/>
              </a:rPr>
              <a:t>적용 기법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35"/>
          <p:cNvSpPr/>
          <p:nvPr/>
        </p:nvSpPr>
        <p:spPr>
          <a:xfrm>
            <a:off x="3470148" y="3703320"/>
            <a:ext cx="2085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9E75"/>
              </a:buClr>
              <a:buSzPts val="900"/>
              <a:buFont typeface="Calibri"/>
              <a:buNone/>
            </a:pPr>
            <a:r>
              <a:rPr b="1" i="0" lang="ko" sz="900" u="none" cap="none" strike="noStrike">
                <a:solidFill>
                  <a:srgbClr val="1D9E75"/>
                </a:solidFill>
                <a:latin typeface="Calibri"/>
                <a:ea typeface="Calibri"/>
                <a:cs typeface="Calibri"/>
                <a:sym typeface="Calibri"/>
              </a:rPr>
              <a:t>Crop · Flip · ColorJitter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35"/>
          <p:cNvSpPr/>
          <p:nvPr/>
        </p:nvSpPr>
        <p:spPr>
          <a:xfrm>
            <a:off x="6179058" y="1200150"/>
            <a:ext cx="2469000" cy="2846100"/>
          </a:xfrm>
          <a:prstGeom prst="roundRect">
            <a:avLst>
              <a:gd fmla="val 2500" name="adj"/>
            </a:avLst>
          </a:prstGeom>
          <a:solidFill>
            <a:srgbClr val="14182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35"/>
          <p:cNvSpPr/>
          <p:nvPr/>
        </p:nvSpPr>
        <p:spPr>
          <a:xfrm>
            <a:off x="6371082" y="1405890"/>
            <a:ext cx="425100" cy="425100"/>
          </a:xfrm>
          <a:prstGeom prst="ellipse">
            <a:avLst/>
          </a:prstGeom>
          <a:solidFill>
            <a:srgbClr val="D85A30">
              <a:alpha val="16079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35"/>
          <p:cNvSpPr/>
          <p:nvPr/>
        </p:nvSpPr>
        <p:spPr>
          <a:xfrm>
            <a:off x="6371082" y="1405890"/>
            <a:ext cx="4251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85A30"/>
              </a:buClr>
              <a:buSzPts val="1400"/>
              <a:buFont typeface="Calibri"/>
              <a:buNone/>
            </a:pPr>
            <a:r>
              <a:rPr b="1" i="0" lang="ko" sz="1400" u="none" cap="none" strike="noStrike">
                <a:solidFill>
                  <a:srgbClr val="D85A30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35"/>
          <p:cNvSpPr/>
          <p:nvPr/>
        </p:nvSpPr>
        <p:spPr>
          <a:xfrm>
            <a:off x="6371082" y="1968246"/>
            <a:ext cx="2085000" cy="4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ko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Shortcut Learning 방지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35"/>
          <p:cNvSpPr/>
          <p:nvPr/>
        </p:nvSpPr>
        <p:spPr>
          <a:xfrm>
            <a:off x="6371082" y="2468880"/>
            <a:ext cx="2085000" cy="8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A9AFC0"/>
              </a:buClr>
              <a:buSzPts val="900"/>
              <a:buFont typeface="Calibri"/>
              <a:buNone/>
            </a:pPr>
            <a:r>
              <a:rPr b="0" i="0" lang="ko" sz="900" u="none" cap="none" strike="noStrike">
                <a:solidFill>
                  <a:srgbClr val="A9AFC0"/>
                </a:solidFill>
                <a:latin typeface="Calibri"/>
                <a:ea typeface="Calibri"/>
                <a:cs typeface="Calibri"/>
                <a:sym typeface="Calibri"/>
              </a:rPr>
              <a:t>국소 패턴 의존을 차단하여 패널 전체의 미세 오염 판별력 강화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4" name="Google Shape;404;p35"/>
          <p:cNvCxnSpPr/>
          <p:nvPr/>
        </p:nvCxnSpPr>
        <p:spPr>
          <a:xfrm>
            <a:off x="6371082" y="3394710"/>
            <a:ext cx="2085000" cy="0"/>
          </a:xfrm>
          <a:prstGeom prst="straightConnector1">
            <a:avLst/>
          </a:prstGeom>
          <a:noFill/>
          <a:ln cap="flat" cmpd="sng" w="7150">
            <a:solidFill>
              <a:srgbClr val="262A3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5" name="Google Shape;405;p35"/>
          <p:cNvSpPr/>
          <p:nvPr/>
        </p:nvSpPr>
        <p:spPr>
          <a:xfrm>
            <a:off x="6371082" y="3511296"/>
            <a:ext cx="20850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385"/>
              </a:buClr>
              <a:buSzPts val="800"/>
              <a:buFont typeface="Calibri"/>
              <a:buNone/>
            </a:pPr>
            <a:r>
              <a:rPr b="0" i="0" lang="ko" sz="800" u="none" cap="none" strike="noStrike">
                <a:solidFill>
                  <a:srgbClr val="6E7385"/>
                </a:solidFill>
                <a:latin typeface="Calibri"/>
                <a:ea typeface="Calibri"/>
                <a:cs typeface="Calibri"/>
                <a:sym typeface="Calibri"/>
              </a:rPr>
              <a:t>적용 기법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35"/>
          <p:cNvSpPr/>
          <p:nvPr/>
        </p:nvSpPr>
        <p:spPr>
          <a:xfrm>
            <a:off x="6371082" y="3703320"/>
            <a:ext cx="2085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5A30"/>
              </a:buClr>
              <a:buSzPts val="900"/>
              <a:buFont typeface="Calibri"/>
              <a:buNone/>
            </a:pPr>
            <a:r>
              <a:rPr b="1" i="0" lang="ko" sz="900" u="none" cap="none" strike="noStrike">
                <a:solidFill>
                  <a:srgbClr val="D85A30"/>
                </a:solidFill>
                <a:latin typeface="Calibri"/>
                <a:ea typeface="Calibri"/>
                <a:cs typeface="Calibri"/>
                <a:sym typeface="Calibri"/>
              </a:rPr>
              <a:t>TrivialAugment · Cutout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07" name="Google Shape;407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22880" y="2520315"/>
            <a:ext cx="205740" cy="2057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08" name="Google Shape;408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23814" y="2520315"/>
            <a:ext cx="205740" cy="205740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p35"/>
          <p:cNvSpPr/>
          <p:nvPr/>
        </p:nvSpPr>
        <p:spPr>
          <a:xfrm>
            <a:off x="377190" y="4217670"/>
            <a:ext cx="8286600" cy="582900"/>
          </a:xfrm>
          <a:prstGeom prst="roundRect">
            <a:avLst>
              <a:gd fmla="val 9412" name="adj"/>
            </a:avLst>
          </a:prstGeom>
          <a:solidFill>
            <a:srgbClr val="C9CDD8">
              <a:alpha val="10199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0" name="Google Shape;410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9214" y="4399407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p35"/>
          <p:cNvSpPr/>
          <p:nvPr/>
        </p:nvSpPr>
        <p:spPr>
          <a:xfrm>
            <a:off x="891540" y="4217670"/>
            <a:ext cx="76008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ko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종합 효과: </a:t>
            </a:r>
            <a:r>
              <a:rPr b="0" i="0" lang="ko" sz="1000" u="none" cap="none" strike="noStrike">
                <a:solidFill>
                  <a:srgbClr val="A9AFC0"/>
                </a:solidFill>
                <a:latin typeface="Calibri"/>
                <a:ea typeface="Calibri"/>
                <a:cs typeface="Calibri"/>
                <a:sym typeface="Calibri"/>
              </a:rPr>
              <a:t>3단계 전략의 순차 적용으로 소규모 데이터셋의 한계를 보완하고, 실제 환경에서도 안정적인 오염 판별 성능을 확보했습니다.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35"/>
          <p:cNvSpPr/>
          <p:nvPr/>
        </p:nvSpPr>
        <p:spPr>
          <a:xfrm>
            <a:off x="7886700" y="4882896"/>
            <a:ext cx="10974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7385"/>
              </a:buClr>
              <a:buSzPts val="800"/>
              <a:buFont typeface="Calibri"/>
              <a:buNone/>
            </a:pPr>
            <a:r>
              <a:rPr b="0" i="0" lang="ko" sz="800" u="none" cap="none" strike="noStrike">
                <a:solidFill>
                  <a:srgbClr val="6E7385"/>
                </a:solidFill>
                <a:latin typeface="Calibri"/>
                <a:ea typeface="Calibri"/>
                <a:cs typeface="Calibri"/>
                <a:sym typeface="Calibri"/>
              </a:rPr>
              <a:t>전처리 · 요약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D12"/>
        </a:solidFill>
      </p:bgPr>
    </p:bg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36"/>
          <p:cNvSpPr/>
          <p:nvPr/>
        </p:nvSpPr>
        <p:spPr>
          <a:xfrm>
            <a:off x="377190" y="329184"/>
            <a:ext cx="41100" cy="411600"/>
          </a:xfrm>
          <a:prstGeom prst="rect">
            <a:avLst/>
          </a:prstGeom>
          <a:solidFill>
            <a:srgbClr val="3E8ED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36"/>
          <p:cNvSpPr/>
          <p:nvPr/>
        </p:nvSpPr>
        <p:spPr>
          <a:xfrm>
            <a:off x="534924" y="260604"/>
            <a:ext cx="81609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ko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전처리 전략 1: </a:t>
            </a:r>
            <a:r>
              <a:rPr b="1" i="0" lang="ko" sz="2000" u="none" cap="none" strike="noStrike">
                <a:solidFill>
                  <a:srgbClr val="3E8ED0"/>
                </a:solidFill>
                <a:latin typeface="Calibri"/>
                <a:ea typeface="Calibri"/>
                <a:cs typeface="Calibri"/>
                <a:sym typeface="Calibri"/>
              </a:rPr>
              <a:t>검증 신뢰성 확보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36"/>
          <p:cNvSpPr/>
          <p:nvPr/>
        </p:nvSpPr>
        <p:spPr>
          <a:xfrm>
            <a:off x="534924" y="651510"/>
            <a:ext cx="81609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385"/>
              </a:buClr>
              <a:buSzPts val="1000"/>
              <a:buFont typeface="Calibri"/>
              <a:buNone/>
            </a:pPr>
            <a:r>
              <a:rPr b="0" i="1" lang="ko" sz="1000" u="none" cap="none" strike="noStrike">
                <a:solidFill>
                  <a:srgbClr val="6E7385"/>
                </a:solidFill>
                <a:latin typeface="Calibri"/>
                <a:ea typeface="Calibri"/>
                <a:cs typeface="Calibri"/>
                <a:sym typeface="Calibri"/>
              </a:rPr>
              <a:t>Stratified Sampling 기반 Train / Validation Split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36"/>
          <p:cNvSpPr/>
          <p:nvPr/>
        </p:nvSpPr>
        <p:spPr>
          <a:xfrm>
            <a:off x="377190" y="1062990"/>
            <a:ext cx="2640300" cy="2674500"/>
          </a:xfrm>
          <a:prstGeom prst="roundRect">
            <a:avLst>
              <a:gd fmla="val 2338" name="adj"/>
            </a:avLst>
          </a:prstGeom>
          <a:solidFill>
            <a:srgbClr val="14182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36"/>
          <p:cNvSpPr/>
          <p:nvPr/>
        </p:nvSpPr>
        <p:spPr>
          <a:xfrm>
            <a:off x="582930" y="1268730"/>
            <a:ext cx="425100" cy="425100"/>
          </a:xfrm>
          <a:prstGeom prst="ellipse">
            <a:avLst/>
          </a:prstGeom>
          <a:solidFill>
            <a:srgbClr val="3E8ED0">
              <a:alpha val="16079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23" name="Google Shape;423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1371600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p36"/>
          <p:cNvSpPr/>
          <p:nvPr/>
        </p:nvSpPr>
        <p:spPr>
          <a:xfrm>
            <a:off x="582930" y="1817370"/>
            <a:ext cx="2229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ko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적용 기법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36"/>
          <p:cNvSpPr/>
          <p:nvPr/>
        </p:nvSpPr>
        <p:spPr>
          <a:xfrm>
            <a:off x="582930" y="2146554"/>
            <a:ext cx="22290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A9AFC0"/>
              </a:buClr>
              <a:buSzPts val="1000"/>
              <a:buFont typeface="Calibri"/>
              <a:buNone/>
            </a:pPr>
            <a:r>
              <a:rPr b="0" i="0" lang="ko" sz="1000" u="none" cap="none" strike="noStrike">
                <a:solidFill>
                  <a:srgbClr val="A9AFC0"/>
                </a:solidFill>
                <a:latin typeface="Calibri"/>
                <a:ea typeface="Calibri"/>
                <a:cs typeface="Calibri"/>
                <a:sym typeface="Calibri"/>
              </a:rPr>
              <a:t>Stratified Sampling 기반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A9AFC0"/>
              </a:buClr>
              <a:buSzPts val="1000"/>
              <a:buFont typeface="Calibri"/>
              <a:buNone/>
            </a:pPr>
            <a:r>
              <a:rPr b="0" i="0" lang="ko" sz="1000" u="none" cap="none" strike="noStrike">
                <a:solidFill>
                  <a:srgbClr val="A9AFC0"/>
                </a:solidFill>
                <a:latin typeface="Calibri"/>
                <a:ea typeface="Calibri"/>
                <a:cs typeface="Calibri"/>
                <a:sym typeface="Calibri"/>
              </a:rPr>
              <a:t>Train / Validation Split 적용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36"/>
          <p:cNvSpPr/>
          <p:nvPr/>
        </p:nvSpPr>
        <p:spPr>
          <a:xfrm>
            <a:off x="3188970" y="1062990"/>
            <a:ext cx="2640300" cy="2674500"/>
          </a:xfrm>
          <a:prstGeom prst="roundRect">
            <a:avLst>
              <a:gd fmla="val 2338" name="adj"/>
            </a:avLst>
          </a:prstGeom>
          <a:solidFill>
            <a:srgbClr val="14182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36"/>
          <p:cNvSpPr/>
          <p:nvPr/>
        </p:nvSpPr>
        <p:spPr>
          <a:xfrm>
            <a:off x="3394710" y="1268730"/>
            <a:ext cx="425100" cy="425100"/>
          </a:xfrm>
          <a:prstGeom prst="ellipse">
            <a:avLst/>
          </a:prstGeom>
          <a:solidFill>
            <a:srgbClr val="3E8ED0">
              <a:alpha val="16079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28" name="Google Shape;428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97580" y="1371600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429" name="Google Shape;429;p36"/>
          <p:cNvSpPr/>
          <p:nvPr/>
        </p:nvSpPr>
        <p:spPr>
          <a:xfrm>
            <a:off x="3394710" y="1817370"/>
            <a:ext cx="2229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ko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적용 사유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36"/>
          <p:cNvSpPr/>
          <p:nvPr/>
        </p:nvSpPr>
        <p:spPr>
          <a:xfrm>
            <a:off x="3394710" y="2146554"/>
            <a:ext cx="22290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ko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편향 방지: </a:t>
            </a:r>
            <a:r>
              <a:rPr b="0" i="0" lang="ko" sz="900" u="none" cap="none" strike="noStrike">
                <a:solidFill>
                  <a:srgbClr val="A9AFC0"/>
                </a:solidFill>
                <a:latin typeface="Calibri"/>
                <a:ea typeface="Calibri"/>
                <a:cs typeface="Calibri"/>
                <a:sym typeface="Calibri"/>
              </a:rPr>
              <a:t>클래스 불균형에 따른 데이터 편향 방지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ko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분포 일치: </a:t>
            </a:r>
            <a:r>
              <a:rPr b="0" i="0" lang="ko" sz="900" u="none" cap="none" strike="noStrike">
                <a:solidFill>
                  <a:srgbClr val="A9AFC0"/>
                </a:solidFill>
                <a:latin typeface="Calibri"/>
                <a:ea typeface="Calibri"/>
                <a:cs typeface="Calibri"/>
                <a:sym typeface="Calibri"/>
              </a:rPr>
              <a:t>학습셋과 검증셋의 레이블 분포를 동일하게 유지하여 평가 지표(ROC-AUC)의 객관성 확보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36"/>
          <p:cNvSpPr/>
          <p:nvPr/>
        </p:nvSpPr>
        <p:spPr>
          <a:xfrm>
            <a:off x="6000750" y="1062990"/>
            <a:ext cx="2640300" cy="2674500"/>
          </a:xfrm>
          <a:prstGeom prst="roundRect">
            <a:avLst>
              <a:gd fmla="val 2338" name="adj"/>
            </a:avLst>
          </a:prstGeom>
          <a:solidFill>
            <a:srgbClr val="14182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36"/>
          <p:cNvSpPr/>
          <p:nvPr/>
        </p:nvSpPr>
        <p:spPr>
          <a:xfrm>
            <a:off x="6206490" y="1268730"/>
            <a:ext cx="425100" cy="425100"/>
          </a:xfrm>
          <a:prstGeom prst="ellipse">
            <a:avLst/>
          </a:prstGeom>
          <a:solidFill>
            <a:srgbClr val="3E8ED0">
              <a:alpha val="16079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33" name="Google Shape;433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09360" y="1371600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36"/>
          <p:cNvSpPr/>
          <p:nvPr/>
        </p:nvSpPr>
        <p:spPr>
          <a:xfrm>
            <a:off x="6206490" y="1817370"/>
            <a:ext cx="2229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ko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기대 효과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36"/>
          <p:cNvSpPr/>
          <p:nvPr/>
        </p:nvSpPr>
        <p:spPr>
          <a:xfrm>
            <a:off x="6206490" y="2146554"/>
            <a:ext cx="22290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A9AFC0"/>
              </a:buClr>
              <a:buSzPts val="1000"/>
              <a:buFont typeface="Calibri"/>
              <a:buNone/>
            </a:pPr>
            <a:r>
              <a:rPr b="0" i="0" lang="ko" sz="1000" u="none" cap="none" strike="noStrike">
                <a:solidFill>
                  <a:srgbClr val="A9AFC0"/>
                </a:solidFill>
                <a:latin typeface="Calibri"/>
                <a:ea typeface="Calibri"/>
                <a:cs typeface="Calibri"/>
                <a:sym typeface="Calibri"/>
              </a:rPr>
              <a:t>모델 성능 평가의 변동성을 줄이고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A9AFC0"/>
              </a:buClr>
              <a:buSzPts val="1000"/>
              <a:buFont typeface="Calibri"/>
              <a:buNone/>
            </a:pPr>
            <a:r>
              <a:rPr b="0" i="0" lang="ko" sz="1000" u="none" cap="none" strike="noStrike">
                <a:solidFill>
                  <a:srgbClr val="A9AFC0"/>
                </a:solidFill>
                <a:latin typeface="Calibri"/>
                <a:ea typeface="Calibri"/>
                <a:cs typeface="Calibri"/>
                <a:sym typeface="Calibri"/>
              </a:rPr>
              <a:t>과적합 여부를 정확히 판단 가능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36"/>
          <p:cNvSpPr/>
          <p:nvPr/>
        </p:nvSpPr>
        <p:spPr>
          <a:xfrm>
            <a:off x="377190" y="3909060"/>
            <a:ext cx="8286600" cy="582900"/>
          </a:xfrm>
          <a:prstGeom prst="roundRect">
            <a:avLst>
              <a:gd fmla="val 9412" name="adj"/>
            </a:avLst>
          </a:prstGeom>
          <a:solidFill>
            <a:srgbClr val="3E8ED0">
              <a:alpha val="1216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37" name="Google Shape;437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9214" y="4090797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36"/>
          <p:cNvSpPr/>
          <p:nvPr/>
        </p:nvSpPr>
        <p:spPr>
          <a:xfrm>
            <a:off x="891540" y="3909060"/>
            <a:ext cx="76008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ko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핵심 포인트: </a:t>
            </a:r>
            <a:r>
              <a:rPr b="0" i="0" lang="ko" sz="1000" u="none" cap="none" strike="noStrike">
                <a:solidFill>
                  <a:srgbClr val="A9AFC0"/>
                </a:solidFill>
                <a:latin typeface="Calibri"/>
                <a:ea typeface="Calibri"/>
                <a:cs typeface="Calibri"/>
                <a:sym typeface="Calibri"/>
              </a:rPr>
              <a:t>학습·검증 데이터의 레이블 분포 일치는 신뢰할 수 있는 성능 평가의 전제조건입니다.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36"/>
          <p:cNvSpPr/>
          <p:nvPr/>
        </p:nvSpPr>
        <p:spPr>
          <a:xfrm>
            <a:off x="7886700" y="4882896"/>
            <a:ext cx="10974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7385"/>
              </a:buClr>
              <a:buSzPts val="800"/>
              <a:buFont typeface="Calibri"/>
              <a:buNone/>
            </a:pPr>
            <a:r>
              <a:rPr b="0" i="0" lang="ko" sz="800" u="none" cap="none" strike="noStrike">
                <a:solidFill>
                  <a:srgbClr val="6E7385"/>
                </a:solidFill>
                <a:latin typeface="Calibri"/>
                <a:ea typeface="Calibri"/>
                <a:cs typeface="Calibri"/>
                <a:sym typeface="Calibri"/>
              </a:rPr>
              <a:t>전처리 · 1 / 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D12"/>
        </a:solidFill>
      </p:bgPr>
    </p:bg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37"/>
          <p:cNvSpPr/>
          <p:nvPr/>
        </p:nvSpPr>
        <p:spPr>
          <a:xfrm>
            <a:off x="377190" y="329184"/>
            <a:ext cx="41100" cy="41160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37"/>
          <p:cNvSpPr/>
          <p:nvPr/>
        </p:nvSpPr>
        <p:spPr>
          <a:xfrm>
            <a:off x="534924" y="260604"/>
            <a:ext cx="81609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ko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전처리 전략 2: </a:t>
            </a:r>
            <a:r>
              <a:rPr b="1" i="0" lang="ko" sz="2000" u="none" cap="none" strike="noStrike">
                <a:solidFill>
                  <a:srgbClr val="1D9E75"/>
                </a:solidFill>
                <a:latin typeface="Calibri"/>
                <a:ea typeface="Calibri"/>
                <a:cs typeface="Calibri"/>
                <a:sym typeface="Calibri"/>
              </a:rPr>
              <a:t>기하학적·광학적 강건성 확보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37"/>
          <p:cNvSpPr/>
          <p:nvPr/>
        </p:nvSpPr>
        <p:spPr>
          <a:xfrm>
            <a:off x="534924" y="651510"/>
            <a:ext cx="81609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385"/>
              </a:buClr>
              <a:buSzPts val="1000"/>
              <a:buFont typeface="Calibri"/>
              <a:buNone/>
            </a:pPr>
            <a:r>
              <a:rPr b="0" i="1" lang="ko" sz="1000" u="none" cap="none" strike="noStrike">
                <a:solidFill>
                  <a:srgbClr val="6E7385"/>
                </a:solidFill>
                <a:latin typeface="Calibri"/>
                <a:ea typeface="Calibri"/>
                <a:cs typeface="Calibri"/>
                <a:sym typeface="Calibri"/>
              </a:rPr>
              <a:t>RandomResizedCrop · RandomHorizontalFlip · ColorJitter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37"/>
          <p:cNvSpPr/>
          <p:nvPr/>
        </p:nvSpPr>
        <p:spPr>
          <a:xfrm>
            <a:off x="377190" y="1062990"/>
            <a:ext cx="2640300" cy="2674500"/>
          </a:xfrm>
          <a:prstGeom prst="roundRect">
            <a:avLst>
              <a:gd fmla="val 2338" name="adj"/>
            </a:avLst>
          </a:prstGeom>
          <a:solidFill>
            <a:srgbClr val="14182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37"/>
          <p:cNvSpPr/>
          <p:nvPr/>
        </p:nvSpPr>
        <p:spPr>
          <a:xfrm>
            <a:off x="582930" y="1268730"/>
            <a:ext cx="425100" cy="425100"/>
          </a:xfrm>
          <a:prstGeom prst="ellipse">
            <a:avLst/>
          </a:prstGeom>
          <a:solidFill>
            <a:srgbClr val="1D9E75">
              <a:alpha val="16079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0" name="Google Shape;450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1371600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451" name="Google Shape;451;p37"/>
          <p:cNvSpPr/>
          <p:nvPr/>
        </p:nvSpPr>
        <p:spPr>
          <a:xfrm>
            <a:off x="582930" y="1817370"/>
            <a:ext cx="2229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ko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적용 기법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37"/>
          <p:cNvSpPr/>
          <p:nvPr/>
        </p:nvSpPr>
        <p:spPr>
          <a:xfrm>
            <a:off x="582930" y="2146554"/>
            <a:ext cx="22290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A9AFC0"/>
              </a:buClr>
              <a:buSzPts val="1000"/>
              <a:buFont typeface="Calibri"/>
              <a:buNone/>
            </a:pPr>
            <a:r>
              <a:rPr b="0" i="0" lang="ko" sz="1000" u="none" cap="none" strike="noStrike">
                <a:solidFill>
                  <a:srgbClr val="A9AFC0"/>
                </a:solidFill>
                <a:latin typeface="Calibri"/>
                <a:ea typeface="Calibri"/>
                <a:cs typeface="Calibri"/>
                <a:sym typeface="Calibri"/>
              </a:rPr>
              <a:t>RandomResizedCrop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A9AFC0"/>
              </a:buClr>
              <a:buSzPts val="1000"/>
              <a:buFont typeface="Calibri"/>
              <a:buNone/>
            </a:pPr>
            <a:r>
              <a:rPr b="0" i="0" lang="ko" sz="1000" u="none" cap="none" strike="noStrike">
                <a:solidFill>
                  <a:srgbClr val="A9AFC0"/>
                </a:solidFill>
                <a:latin typeface="Calibri"/>
                <a:ea typeface="Calibri"/>
                <a:cs typeface="Calibri"/>
                <a:sym typeface="Calibri"/>
              </a:rPr>
              <a:t>RandomHorizontalFlip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A9AFC0"/>
              </a:buClr>
              <a:buSzPts val="1000"/>
              <a:buFont typeface="Calibri"/>
              <a:buNone/>
            </a:pPr>
            <a:r>
              <a:rPr b="0" i="0" lang="ko" sz="1000" u="none" cap="none" strike="noStrike">
                <a:solidFill>
                  <a:srgbClr val="A9AFC0"/>
                </a:solidFill>
                <a:latin typeface="Calibri"/>
                <a:ea typeface="Calibri"/>
                <a:cs typeface="Calibri"/>
                <a:sym typeface="Calibri"/>
              </a:rPr>
              <a:t>ColorJitter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37"/>
          <p:cNvSpPr/>
          <p:nvPr/>
        </p:nvSpPr>
        <p:spPr>
          <a:xfrm>
            <a:off x="3188970" y="1062990"/>
            <a:ext cx="2640300" cy="2674500"/>
          </a:xfrm>
          <a:prstGeom prst="roundRect">
            <a:avLst>
              <a:gd fmla="val 2338" name="adj"/>
            </a:avLst>
          </a:prstGeom>
          <a:solidFill>
            <a:srgbClr val="14182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37"/>
          <p:cNvSpPr/>
          <p:nvPr/>
        </p:nvSpPr>
        <p:spPr>
          <a:xfrm>
            <a:off x="3394710" y="1268730"/>
            <a:ext cx="425100" cy="425100"/>
          </a:xfrm>
          <a:prstGeom prst="ellipse">
            <a:avLst/>
          </a:prstGeom>
          <a:solidFill>
            <a:srgbClr val="1D9E75">
              <a:alpha val="16079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5" name="Google Shape;455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97580" y="1371600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456" name="Google Shape;456;p37"/>
          <p:cNvSpPr/>
          <p:nvPr/>
        </p:nvSpPr>
        <p:spPr>
          <a:xfrm>
            <a:off x="3394710" y="1817370"/>
            <a:ext cx="2229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ko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적용 사유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37"/>
          <p:cNvSpPr/>
          <p:nvPr/>
        </p:nvSpPr>
        <p:spPr>
          <a:xfrm>
            <a:off x="3394710" y="2146554"/>
            <a:ext cx="22290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ko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각도 대응: </a:t>
            </a:r>
            <a:r>
              <a:rPr b="0" i="0" lang="ko" sz="900" u="none" cap="none" strike="noStrike">
                <a:solidFill>
                  <a:srgbClr val="A9AFC0"/>
                </a:solidFill>
                <a:latin typeface="Calibri"/>
                <a:ea typeface="Calibri"/>
                <a:cs typeface="Calibri"/>
                <a:sym typeface="Calibri"/>
              </a:rPr>
              <a:t>촬영 위치 변화를 모사하여 다양한 구도에서도 패널 영역을 인식하도록 유도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ko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조도 대응: </a:t>
            </a:r>
            <a:r>
              <a:rPr b="0" i="0" lang="ko" sz="900" u="none" cap="none" strike="noStrike">
                <a:solidFill>
                  <a:srgbClr val="A9AFC0"/>
                </a:solidFill>
                <a:latin typeface="Calibri"/>
                <a:ea typeface="Calibri"/>
                <a:cs typeface="Calibri"/>
                <a:sym typeface="Calibri"/>
              </a:rPr>
              <a:t>기후 변화에 따른 색상/밝기 변동성을 인위적으로 확장하여 광학적 노이즈에 강건한 모델 생성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37"/>
          <p:cNvSpPr/>
          <p:nvPr/>
        </p:nvSpPr>
        <p:spPr>
          <a:xfrm>
            <a:off x="6000750" y="1062990"/>
            <a:ext cx="2640300" cy="2674500"/>
          </a:xfrm>
          <a:prstGeom prst="roundRect">
            <a:avLst>
              <a:gd fmla="val 2338" name="adj"/>
            </a:avLst>
          </a:prstGeom>
          <a:solidFill>
            <a:srgbClr val="14182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37"/>
          <p:cNvSpPr/>
          <p:nvPr/>
        </p:nvSpPr>
        <p:spPr>
          <a:xfrm>
            <a:off x="6206490" y="1268730"/>
            <a:ext cx="425100" cy="425100"/>
          </a:xfrm>
          <a:prstGeom prst="ellipse">
            <a:avLst/>
          </a:prstGeom>
          <a:solidFill>
            <a:srgbClr val="1D9E75">
              <a:alpha val="16079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60" name="Google Shape;460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09360" y="1371600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37"/>
          <p:cNvSpPr/>
          <p:nvPr/>
        </p:nvSpPr>
        <p:spPr>
          <a:xfrm>
            <a:off x="6206490" y="1817370"/>
            <a:ext cx="2229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ko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기술적 근거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37"/>
          <p:cNvSpPr/>
          <p:nvPr/>
        </p:nvSpPr>
        <p:spPr>
          <a:xfrm>
            <a:off x="6206490" y="2146554"/>
            <a:ext cx="22290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A9AFC0"/>
              </a:buClr>
              <a:buSzPts val="1000"/>
              <a:buFont typeface="Calibri"/>
              <a:buNone/>
            </a:pPr>
            <a:r>
              <a:rPr b="0" i="0" lang="ko" sz="1000" u="none" cap="none" strike="noStrike">
                <a:solidFill>
                  <a:srgbClr val="A9AFC0"/>
                </a:solidFill>
                <a:latin typeface="Calibri"/>
                <a:ea typeface="Calibri"/>
                <a:cs typeface="Calibri"/>
                <a:sym typeface="Calibri"/>
              </a:rPr>
              <a:t>입력 데이터의 도메인을 확장하여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A9AFC0"/>
              </a:buClr>
              <a:buSzPts val="1000"/>
              <a:buFont typeface="Calibri"/>
              <a:buNone/>
            </a:pPr>
            <a:r>
              <a:rPr b="0" i="0" lang="ko" sz="1000" u="none" cap="none" strike="noStrike">
                <a:solidFill>
                  <a:srgbClr val="A9AFC0"/>
                </a:solidFill>
                <a:latin typeface="Calibri"/>
                <a:ea typeface="Calibri"/>
                <a:cs typeface="Calibri"/>
                <a:sym typeface="Calibri"/>
              </a:rPr>
              <a:t>데이터 부족 문제를 간접적으로 해결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37"/>
          <p:cNvSpPr/>
          <p:nvPr/>
        </p:nvSpPr>
        <p:spPr>
          <a:xfrm>
            <a:off x="377190" y="3909060"/>
            <a:ext cx="8286600" cy="582900"/>
          </a:xfrm>
          <a:prstGeom prst="roundRect">
            <a:avLst>
              <a:gd fmla="val 9412" name="adj"/>
            </a:avLst>
          </a:prstGeom>
          <a:solidFill>
            <a:srgbClr val="1D9E75">
              <a:alpha val="1216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64" name="Google Shape;464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9214" y="4090797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465;p37"/>
          <p:cNvSpPr/>
          <p:nvPr/>
        </p:nvSpPr>
        <p:spPr>
          <a:xfrm>
            <a:off x="891540" y="3909060"/>
            <a:ext cx="76008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ko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핵심 포인트: </a:t>
            </a:r>
            <a:r>
              <a:rPr b="0" i="0" lang="ko" sz="1000" u="none" cap="none" strike="noStrike">
                <a:solidFill>
                  <a:srgbClr val="A9AFC0"/>
                </a:solidFill>
                <a:latin typeface="Calibri"/>
                <a:ea typeface="Calibri"/>
                <a:cs typeface="Calibri"/>
                <a:sym typeface="Calibri"/>
              </a:rPr>
              <a:t>기하학적·광학적 증강은 실제 촬영 환경의 다양성을 모사해 모델의 일반화 성능을 높입니다.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37"/>
          <p:cNvSpPr/>
          <p:nvPr/>
        </p:nvSpPr>
        <p:spPr>
          <a:xfrm>
            <a:off x="7886700" y="4882896"/>
            <a:ext cx="10974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7385"/>
              </a:buClr>
              <a:buSzPts val="800"/>
              <a:buFont typeface="Calibri"/>
              <a:buNone/>
            </a:pPr>
            <a:r>
              <a:rPr b="0" i="0" lang="ko" sz="800" u="none" cap="none" strike="noStrike">
                <a:solidFill>
                  <a:srgbClr val="6E7385"/>
                </a:solidFill>
                <a:latin typeface="Calibri"/>
                <a:ea typeface="Calibri"/>
                <a:cs typeface="Calibri"/>
                <a:sym typeface="Calibri"/>
              </a:rPr>
              <a:t>전처리 · 2 / 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D12"/>
        </a:solidFill>
      </p:bgPr>
    </p:bg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38"/>
          <p:cNvSpPr/>
          <p:nvPr/>
        </p:nvSpPr>
        <p:spPr>
          <a:xfrm>
            <a:off x="377190" y="329184"/>
            <a:ext cx="41100" cy="411600"/>
          </a:xfrm>
          <a:prstGeom prst="rect">
            <a:avLst/>
          </a:prstGeom>
          <a:solidFill>
            <a:srgbClr val="D85A3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38"/>
          <p:cNvSpPr/>
          <p:nvPr/>
        </p:nvSpPr>
        <p:spPr>
          <a:xfrm>
            <a:off x="534924" y="260604"/>
            <a:ext cx="81609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ko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전처리 전략 3: </a:t>
            </a:r>
            <a:r>
              <a:rPr b="1" i="0" lang="ko" sz="2000" u="none" cap="none" strike="noStrike">
                <a:solidFill>
                  <a:srgbClr val="D85A30"/>
                </a:solidFill>
                <a:latin typeface="Calibri"/>
                <a:ea typeface="Calibri"/>
                <a:cs typeface="Calibri"/>
                <a:sym typeface="Calibri"/>
              </a:rPr>
              <a:t>미세 패턴 학습 및 Shortcut Learning 방지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38"/>
          <p:cNvSpPr/>
          <p:nvPr/>
        </p:nvSpPr>
        <p:spPr>
          <a:xfrm>
            <a:off x="534924" y="651510"/>
            <a:ext cx="81609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385"/>
              </a:buClr>
              <a:buSzPts val="1000"/>
              <a:buFont typeface="Calibri"/>
              <a:buNone/>
            </a:pPr>
            <a:r>
              <a:rPr b="0" i="1" lang="ko" sz="1000" u="none" cap="none" strike="noStrike">
                <a:solidFill>
                  <a:srgbClr val="6E7385"/>
                </a:solidFill>
                <a:latin typeface="Calibri"/>
                <a:ea typeface="Calibri"/>
                <a:cs typeface="Calibri"/>
                <a:sym typeface="Calibri"/>
              </a:rPr>
              <a:t>TrivialAugmentWide · RandomErasing (Cutout)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38"/>
          <p:cNvSpPr/>
          <p:nvPr/>
        </p:nvSpPr>
        <p:spPr>
          <a:xfrm>
            <a:off x="377190" y="1062990"/>
            <a:ext cx="2640300" cy="2674500"/>
          </a:xfrm>
          <a:prstGeom prst="roundRect">
            <a:avLst>
              <a:gd fmla="val 2338" name="adj"/>
            </a:avLst>
          </a:prstGeom>
          <a:solidFill>
            <a:srgbClr val="14182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38"/>
          <p:cNvSpPr/>
          <p:nvPr/>
        </p:nvSpPr>
        <p:spPr>
          <a:xfrm>
            <a:off x="582930" y="1268730"/>
            <a:ext cx="425100" cy="425100"/>
          </a:xfrm>
          <a:prstGeom prst="ellipse">
            <a:avLst/>
          </a:prstGeom>
          <a:solidFill>
            <a:srgbClr val="D85A30">
              <a:alpha val="16079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77" name="Google Shape;477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1371600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38"/>
          <p:cNvSpPr/>
          <p:nvPr/>
        </p:nvSpPr>
        <p:spPr>
          <a:xfrm>
            <a:off x="582930" y="1817370"/>
            <a:ext cx="2229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ko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적용 기법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38"/>
          <p:cNvSpPr/>
          <p:nvPr/>
        </p:nvSpPr>
        <p:spPr>
          <a:xfrm>
            <a:off x="582930" y="2146554"/>
            <a:ext cx="22290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A9AFC0"/>
              </a:buClr>
              <a:buSzPts val="1000"/>
              <a:buFont typeface="Calibri"/>
              <a:buNone/>
            </a:pPr>
            <a:r>
              <a:rPr b="0" i="0" lang="ko" sz="1000" u="none" cap="none" strike="noStrike">
                <a:solidFill>
                  <a:srgbClr val="A9AFC0"/>
                </a:solidFill>
                <a:latin typeface="Calibri"/>
                <a:ea typeface="Calibri"/>
                <a:cs typeface="Calibri"/>
                <a:sym typeface="Calibri"/>
              </a:rPr>
              <a:t>TrivialAugmentWide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A9AFC0"/>
              </a:buClr>
              <a:buSzPts val="1000"/>
              <a:buFont typeface="Calibri"/>
              <a:buNone/>
            </a:pPr>
            <a:r>
              <a:rPr b="0" i="0" lang="ko" sz="1000" u="none" cap="none" strike="noStrike">
                <a:solidFill>
                  <a:srgbClr val="A9AFC0"/>
                </a:solidFill>
                <a:latin typeface="Calibri"/>
                <a:ea typeface="Calibri"/>
                <a:cs typeface="Calibri"/>
                <a:sym typeface="Calibri"/>
              </a:rPr>
              <a:t>RandomErasing (Cutout)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38"/>
          <p:cNvSpPr/>
          <p:nvPr/>
        </p:nvSpPr>
        <p:spPr>
          <a:xfrm>
            <a:off x="3188970" y="1062990"/>
            <a:ext cx="2640300" cy="2674500"/>
          </a:xfrm>
          <a:prstGeom prst="roundRect">
            <a:avLst>
              <a:gd fmla="val 2338" name="adj"/>
            </a:avLst>
          </a:prstGeom>
          <a:solidFill>
            <a:srgbClr val="14182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38"/>
          <p:cNvSpPr/>
          <p:nvPr/>
        </p:nvSpPr>
        <p:spPr>
          <a:xfrm>
            <a:off x="3394710" y="1268730"/>
            <a:ext cx="425100" cy="425100"/>
          </a:xfrm>
          <a:prstGeom prst="ellipse">
            <a:avLst/>
          </a:prstGeom>
          <a:solidFill>
            <a:srgbClr val="D85A30">
              <a:alpha val="16079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82" name="Google Shape;482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97580" y="1371600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483" name="Google Shape;483;p38"/>
          <p:cNvSpPr/>
          <p:nvPr/>
        </p:nvSpPr>
        <p:spPr>
          <a:xfrm>
            <a:off x="3394710" y="1817370"/>
            <a:ext cx="2229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ko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적용 사유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38"/>
          <p:cNvSpPr/>
          <p:nvPr/>
        </p:nvSpPr>
        <p:spPr>
          <a:xfrm>
            <a:off x="3394710" y="2146554"/>
            <a:ext cx="22290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ko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패턴 다양화: </a:t>
            </a:r>
            <a:r>
              <a:rPr b="0" i="0" lang="ko" sz="900" u="none" cap="none" strike="noStrike">
                <a:solidFill>
                  <a:srgbClr val="A9AFC0"/>
                </a:solidFill>
                <a:latin typeface="Calibri"/>
                <a:ea typeface="Calibri"/>
                <a:cs typeface="Calibri"/>
                <a:sym typeface="Calibri"/>
              </a:rPr>
              <a:t>SOTA 증강 알고리즘을 통해 패널 프레임의 왜곡 및 복잡한 오염 형태를 무작위로 학습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ko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국소 편향 제거: </a:t>
            </a:r>
            <a:r>
              <a:rPr b="0" i="0" lang="ko" sz="900" u="none" cap="none" strike="noStrike">
                <a:solidFill>
                  <a:srgbClr val="A9AFC0"/>
                </a:solidFill>
                <a:latin typeface="Calibri"/>
                <a:ea typeface="Calibri"/>
                <a:cs typeface="Calibri"/>
                <a:sym typeface="Calibri"/>
              </a:rPr>
              <a:t>패널의 깨끗한 일부 영역(모서리 등)만 보고 판단하는 지름길 학습(Shortcut) 차단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38"/>
          <p:cNvSpPr/>
          <p:nvPr/>
        </p:nvSpPr>
        <p:spPr>
          <a:xfrm>
            <a:off x="6000750" y="1062990"/>
            <a:ext cx="2640300" cy="2674500"/>
          </a:xfrm>
          <a:prstGeom prst="roundRect">
            <a:avLst>
              <a:gd fmla="val 2338" name="adj"/>
            </a:avLst>
          </a:prstGeom>
          <a:solidFill>
            <a:srgbClr val="14182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38"/>
          <p:cNvSpPr/>
          <p:nvPr/>
        </p:nvSpPr>
        <p:spPr>
          <a:xfrm>
            <a:off x="6206490" y="1268730"/>
            <a:ext cx="425100" cy="425100"/>
          </a:xfrm>
          <a:prstGeom prst="ellipse">
            <a:avLst/>
          </a:prstGeom>
          <a:solidFill>
            <a:srgbClr val="D85A30">
              <a:alpha val="16079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87" name="Google Shape;487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09360" y="1371600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488" name="Google Shape;488;p38"/>
          <p:cNvSpPr/>
          <p:nvPr/>
        </p:nvSpPr>
        <p:spPr>
          <a:xfrm>
            <a:off x="6206490" y="1817370"/>
            <a:ext cx="2229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ko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기대 효과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38"/>
          <p:cNvSpPr/>
          <p:nvPr/>
        </p:nvSpPr>
        <p:spPr>
          <a:xfrm>
            <a:off x="6206490" y="2146554"/>
            <a:ext cx="22290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A9AFC0"/>
              </a:buClr>
              <a:buSzPts val="1000"/>
              <a:buFont typeface="Calibri"/>
              <a:buNone/>
            </a:pPr>
            <a:r>
              <a:rPr b="0" i="0" lang="ko" sz="1000" u="none" cap="none" strike="noStrike">
                <a:solidFill>
                  <a:srgbClr val="A9AFC0"/>
                </a:solidFill>
                <a:latin typeface="Calibri"/>
                <a:ea typeface="Calibri"/>
                <a:cs typeface="Calibri"/>
                <a:sym typeface="Calibri"/>
              </a:rPr>
              <a:t>모델이 패널 전체의 질감을 골고루 살피도록 강제하여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A9AFC0"/>
              </a:buClr>
              <a:buSzPts val="1000"/>
              <a:buFont typeface="Calibri"/>
              <a:buNone/>
            </a:pPr>
            <a:r>
              <a:rPr b="0" i="0" lang="ko" sz="1000" u="none" cap="none" strike="noStrike">
                <a:solidFill>
                  <a:srgbClr val="A9AFC0"/>
                </a:solidFill>
                <a:latin typeface="Calibri"/>
                <a:ea typeface="Calibri"/>
                <a:cs typeface="Calibri"/>
                <a:sym typeface="Calibri"/>
              </a:rPr>
              <a:t>실제 환경에서의 오염 판별력 상승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38"/>
          <p:cNvSpPr/>
          <p:nvPr/>
        </p:nvSpPr>
        <p:spPr>
          <a:xfrm>
            <a:off x="377190" y="3909060"/>
            <a:ext cx="8286600" cy="582900"/>
          </a:xfrm>
          <a:prstGeom prst="roundRect">
            <a:avLst>
              <a:gd fmla="val 9412" name="adj"/>
            </a:avLst>
          </a:prstGeom>
          <a:solidFill>
            <a:srgbClr val="D85A30">
              <a:alpha val="1216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91" name="Google Shape;491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9214" y="4090797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492" name="Google Shape;492;p38"/>
          <p:cNvSpPr/>
          <p:nvPr/>
        </p:nvSpPr>
        <p:spPr>
          <a:xfrm>
            <a:off x="891540" y="3909060"/>
            <a:ext cx="76008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ko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핵심 포인트: </a:t>
            </a:r>
            <a:r>
              <a:rPr b="0" i="0" lang="ko" sz="1000" u="none" cap="none" strike="noStrike">
                <a:solidFill>
                  <a:srgbClr val="A9AFC0"/>
                </a:solidFill>
                <a:latin typeface="Calibri"/>
                <a:ea typeface="Calibri"/>
                <a:cs typeface="Calibri"/>
                <a:sym typeface="Calibri"/>
              </a:rPr>
              <a:t>국소 특징에 의존하는 지름길 학습을 차단해야 실제 환경에서도 안정적인 판별력을 확보합니다.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38"/>
          <p:cNvSpPr/>
          <p:nvPr/>
        </p:nvSpPr>
        <p:spPr>
          <a:xfrm>
            <a:off x="7886700" y="4882896"/>
            <a:ext cx="10974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7385"/>
              </a:buClr>
              <a:buSzPts val="800"/>
              <a:buFont typeface="Calibri"/>
              <a:buNone/>
            </a:pPr>
            <a:r>
              <a:rPr b="0" i="0" lang="ko" sz="800" u="none" cap="none" strike="noStrike">
                <a:solidFill>
                  <a:srgbClr val="6E7385"/>
                </a:solidFill>
                <a:latin typeface="Calibri"/>
                <a:ea typeface="Calibri"/>
                <a:cs typeface="Calibri"/>
                <a:sym typeface="Calibri"/>
              </a:rPr>
              <a:t>전처리 · 3 / 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E7E0"/>
        </a:solidFill>
      </p:bgPr>
    </p:bg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39"/>
          <p:cNvSpPr/>
          <p:nvPr/>
        </p:nvSpPr>
        <p:spPr>
          <a:xfrm>
            <a:off x="480060" y="411480"/>
            <a:ext cx="1166100" cy="274200"/>
          </a:xfrm>
          <a:prstGeom prst="roundRect">
            <a:avLst>
              <a:gd fmla="val 20000" name="adj"/>
            </a:avLst>
          </a:prstGeom>
          <a:solidFill>
            <a:srgbClr val="1C2A4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39"/>
          <p:cNvSpPr/>
          <p:nvPr/>
        </p:nvSpPr>
        <p:spPr>
          <a:xfrm>
            <a:off x="480060" y="411480"/>
            <a:ext cx="1166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ko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SECTION 02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01" name="Google Shape;501;p39"/>
          <p:cNvPicPr preferRelativeResize="0"/>
          <p:nvPr/>
        </p:nvPicPr>
        <p:blipFill rotWithShape="1">
          <a:blip r:embed="rId3">
            <a:alphaModFix amt="10000"/>
          </a:blip>
          <a:srcRect b="0" l="0" r="0" t="0"/>
          <a:stretch/>
        </p:blipFill>
        <p:spPr>
          <a:xfrm>
            <a:off x="6858000" y="1783080"/>
            <a:ext cx="1783080" cy="1783080"/>
          </a:xfrm>
          <a:prstGeom prst="rect">
            <a:avLst/>
          </a:prstGeom>
          <a:noFill/>
          <a:ln>
            <a:noFill/>
          </a:ln>
        </p:spPr>
      </p:pic>
      <p:sp>
        <p:nvSpPr>
          <p:cNvPr id="502" name="Google Shape;502;p39"/>
          <p:cNvSpPr/>
          <p:nvPr/>
        </p:nvSpPr>
        <p:spPr>
          <a:xfrm>
            <a:off x="500634" y="2160270"/>
            <a:ext cx="7406400" cy="7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A44"/>
              </a:buClr>
              <a:buSzPts val="2700"/>
              <a:buFont typeface="Calibri"/>
              <a:buNone/>
            </a:pPr>
            <a:r>
              <a:rPr b="1" lang="ko" sz="2700">
                <a:solidFill>
                  <a:srgbClr val="1C2A44"/>
                </a:solidFill>
                <a:latin typeface="Calibri"/>
                <a:ea typeface="Calibri"/>
                <a:cs typeface="Calibri"/>
                <a:sym typeface="Calibri"/>
              </a:rPr>
              <a:t>모델 선정 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03" name="Google Shape;503;p39"/>
          <p:cNvCxnSpPr/>
          <p:nvPr/>
        </p:nvCxnSpPr>
        <p:spPr>
          <a:xfrm>
            <a:off x="514350" y="2846070"/>
            <a:ext cx="1783200" cy="0"/>
          </a:xfrm>
          <a:prstGeom prst="straightConnector1">
            <a:avLst/>
          </a:prstGeom>
          <a:noFill/>
          <a:ln cap="flat" cmpd="sng" w="19050">
            <a:solidFill>
              <a:srgbClr val="C9A24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4" name="Google Shape;504;p39"/>
          <p:cNvSpPr/>
          <p:nvPr/>
        </p:nvSpPr>
        <p:spPr>
          <a:xfrm>
            <a:off x="8298180" y="4766310"/>
            <a:ext cx="4803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8496"/>
              </a:buClr>
              <a:buSzPts val="900"/>
              <a:buFont typeface="Calibri"/>
              <a:buNone/>
            </a:pPr>
            <a:r>
              <a:rPr b="0" i="0" lang="ko" sz="900" u="none" cap="none" strike="noStrike">
                <a:solidFill>
                  <a:srgbClr val="8A8496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09" name="Google Shape;509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10" name="Google Shape;510;p40"/>
          <p:cNvGraphicFramePr/>
          <p:nvPr/>
        </p:nvGraphicFramePr>
        <p:xfrm>
          <a:off x="428625" y="10572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{EBB42007-BD4A-461F-8AA3-06A089F2EFE4}</a:tableStyleId>
              </a:tblPr>
              <a:tblGrid>
                <a:gridCol w="864950"/>
                <a:gridCol w="1464400"/>
                <a:gridCol w="2875450"/>
                <a:gridCol w="1639375"/>
                <a:gridCol w="1442575"/>
              </a:tblGrid>
              <a:tr h="355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ko" sz="900" u="none" cap="none" strike="noStrik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Model</a:t>
                      </a:r>
                      <a:endParaRPr sz="1100"/>
                    </a:p>
                  </a:txBody>
                  <a:tcPr marT="19050" marB="19050" marR="47625" marL="47625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232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ko" sz="900" u="none" cap="none" strike="noStrik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Paradigm</a:t>
                      </a:r>
                      <a:endParaRPr sz="1100"/>
                    </a:p>
                  </a:txBody>
                  <a:tcPr marT="19050" marB="19050" marR="47625" marL="47625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232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ko" sz="900" u="none" cap="none" strike="noStrik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Key Achievement</a:t>
                      </a:r>
                      <a:endParaRPr sz="1100"/>
                    </a:p>
                  </a:txBody>
                  <a:tcPr marT="19050" marB="19050" marR="47625" marL="47625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232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ko" sz="900" u="none" cap="none" strike="noStrik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IN-1K Accuracy</a:t>
                      </a:r>
                      <a:endParaRPr sz="1100"/>
                    </a:p>
                  </a:txBody>
                  <a:tcPr marT="19050" marB="19050" marR="47625" marL="47625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232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Model Size (Params) </a:t>
                      </a:r>
                      <a:endParaRPr b="1" i="0" sz="900" u="none" cap="none" strike="noStrike">
                        <a:solidFill>
                          <a:srgbClr val="DEFF9A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19050" marB="19050" marR="47625" marL="47625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23232"/>
                    </a:solidFill>
                  </a:tcPr>
                </a:tc>
              </a:tr>
              <a:tr h="355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ResNet-18</a:t>
                      </a:r>
                      <a:endParaRPr sz="1100"/>
                    </a:p>
                  </a:txBody>
                  <a:tcPr marT="19050" marB="19050" marR="47625" marL="47625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" sz="900" u="none" cap="none" strike="noStrike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Pure ConvNet</a:t>
                      </a:r>
                      <a:endParaRPr sz="1100"/>
                    </a:p>
                  </a:txBody>
                  <a:tcPr marT="19050" marB="19050" marR="47625" marL="47625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Residual Connection 도입; 가장 대중적인 경량 Baseline. </a:t>
                      </a:r>
                      <a:endParaRPr sz="1100"/>
                    </a:p>
                  </a:txBody>
                  <a:tcPr marT="19050" marB="19050" marR="47625" marL="47625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69.8% </a:t>
                      </a:r>
                      <a:endParaRPr sz="1100"/>
                    </a:p>
                  </a:txBody>
                  <a:tcPr marT="19050" marB="19050" marR="47625" marL="47625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11.7 M </a:t>
                      </a:r>
                      <a:endParaRPr sz="900">
                        <a:solidFill>
                          <a:srgbClr val="000000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19050" marB="19050" marR="47625" marL="47625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5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EfficientNet (B0)</a:t>
                      </a:r>
                      <a:endParaRPr sz="1100"/>
                    </a:p>
                  </a:txBody>
                  <a:tcPr marT="19050" marB="19050" marR="47625" marL="47625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Pure ConvNet</a:t>
                      </a:r>
                      <a:endParaRPr sz="1100"/>
                    </a:p>
                  </a:txBody>
                  <a:tcPr marT="19050" marB="19050" marR="47625" marL="47625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Mobile급 크기에서 Compound Scaling Baseline 구축. </a:t>
                      </a:r>
                      <a:endParaRPr sz="1100"/>
                    </a:p>
                  </a:txBody>
                  <a:tcPr marT="19050" marB="19050" marR="47625" marL="47625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76.5% </a:t>
                      </a:r>
                      <a:endParaRPr sz="1100"/>
                    </a:p>
                  </a:txBody>
                  <a:tcPr marT="19050" marB="19050" marR="47625" marL="47625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5.3 M </a:t>
                      </a:r>
                      <a:endParaRPr sz="900">
                        <a:solidFill>
                          <a:srgbClr val="000000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19050" marB="19050" marR="47625" marL="47625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5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" sz="900" u="none" cap="none" strike="noStrike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ConvNeXt</a:t>
                      </a:r>
                      <a:endParaRPr sz="1100"/>
                    </a:p>
                  </a:txBody>
                  <a:tcPr marT="19050" marB="19050" marR="47625" marL="47625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" sz="900" u="none" cap="none" strike="noStrike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Pure ConvNet</a:t>
                      </a:r>
                      <a:endParaRPr sz="1100"/>
                    </a:p>
                  </a:txBody>
                  <a:tcPr marT="19050" marB="19050" marR="47625" marL="47625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" sz="900" u="none" cap="none" strike="noStrike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Modernized CNN baseline; high throughput.</a:t>
                      </a:r>
                      <a:endParaRPr sz="1100"/>
                    </a:p>
                  </a:txBody>
                  <a:tcPr marT="19050" marB="19050" marR="47625" marL="47625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78.9% </a:t>
                      </a:r>
                      <a:endParaRPr sz="1100"/>
                    </a:p>
                  </a:txBody>
                  <a:tcPr marT="19050" marB="19050" marR="47625" marL="47625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15.6 M </a:t>
                      </a:r>
                      <a:endParaRPr sz="900">
                        <a:solidFill>
                          <a:srgbClr val="000000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19050" marB="19050" marR="47625" marL="47625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5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" sz="900" u="none" cap="none" strike="noStrike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CoAtNet</a:t>
                      </a:r>
                      <a:endParaRPr sz="1100"/>
                    </a:p>
                  </a:txBody>
                  <a:tcPr marT="19050" marB="19050" marR="47625" marL="47625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" sz="900" u="none" cap="none" strike="noStrike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Hybrid (Conv+Attn)</a:t>
                      </a:r>
                      <a:endParaRPr sz="1100"/>
                    </a:p>
                  </a:txBody>
                  <a:tcPr marT="19050" marB="19050" marR="47625" marL="47625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" sz="900" u="none" cap="none" strike="noStrike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SOTA for large-scale supervised learning.</a:t>
                      </a:r>
                      <a:endParaRPr sz="1100"/>
                    </a:p>
                  </a:txBody>
                  <a:tcPr marT="19050" marB="19050" marR="47625" marL="47625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81.6% </a:t>
                      </a:r>
                      <a:endParaRPr sz="1100"/>
                    </a:p>
                  </a:txBody>
                  <a:tcPr marT="19050" marB="19050" marR="47625" marL="47625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25.0 M </a:t>
                      </a:r>
                      <a:endParaRPr sz="900">
                        <a:solidFill>
                          <a:srgbClr val="000000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19050" marB="19050" marR="47625" marL="47625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5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" sz="900" u="none" cap="none" strike="noStrike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MaxViT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19050" marB="19050" marR="47625" marL="47625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" sz="900" u="none" cap="none" strike="noStrike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Hybrid Attention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19050" marB="19050" marR="47625" marL="47625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" sz="900" u="none" cap="none" strike="noStrike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Efficient global-local attention; linear cost.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19050" marB="19050" marR="47625" marL="47625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80.8% 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19050" marB="19050" marR="47625" marL="47625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900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25.0 M </a:t>
                      </a:r>
                      <a:endParaRPr sz="900">
                        <a:solidFill>
                          <a:srgbClr val="000000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19050" marB="19050" marR="47625" marL="47625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5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" sz="900" u="none" cap="none" strike="noStrike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EVA-02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19050" marB="19050" marR="47625" marL="47625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" sz="900" u="none" cap="none" strike="noStrike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Transformer (MIM)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19050" marB="19050" marR="47625" marL="47625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" sz="900" u="none" cap="none" strike="noStrike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Phenomenal param-efficiency via distillation.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19050" marB="19050" marR="47625" marL="47625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80.7% 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19050" marB="19050" marR="47625" marL="47625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900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25.0 M </a:t>
                      </a:r>
                      <a:endParaRPr sz="900">
                        <a:solidFill>
                          <a:srgbClr val="000000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19050" marB="19050" marR="47625" marL="47625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11" name="Google Shape;511;p40"/>
          <p:cNvSpPr/>
          <p:nvPr/>
        </p:nvSpPr>
        <p:spPr>
          <a:xfrm>
            <a:off x="428625" y="1753790"/>
            <a:ext cx="1125600" cy="72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40"/>
          <p:cNvSpPr/>
          <p:nvPr/>
        </p:nvSpPr>
        <p:spPr>
          <a:xfrm>
            <a:off x="1554100" y="1753790"/>
            <a:ext cx="1842900" cy="72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40"/>
          <p:cNvSpPr/>
          <p:nvPr/>
        </p:nvSpPr>
        <p:spPr>
          <a:xfrm>
            <a:off x="3396741" y="1753790"/>
            <a:ext cx="3806700" cy="72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40"/>
          <p:cNvSpPr/>
          <p:nvPr/>
        </p:nvSpPr>
        <p:spPr>
          <a:xfrm>
            <a:off x="7203467" y="1753790"/>
            <a:ext cx="1512000" cy="72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40"/>
          <p:cNvSpPr/>
          <p:nvPr/>
        </p:nvSpPr>
        <p:spPr>
          <a:xfrm>
            <a:off x="428625" y="2110978"/>
            <a:ext cx="1125600" cy="72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40"/>
          <p:cNvSpPr/>
          <p:nvPr/>
        </p:nvSpPr>
        <p:spPr>
          <a:xfrm>
            <a:off x="1554100" y="2110978"/>
            <a:ext cx="1842900" cy="72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40"/>
          <p:cNvSpPr/>
          <p:nvPr/>
        </p:nvSpPr>
        <p:spPr>
          <a:xfrm>
            <a:off x="3396741" y="2110978"/>
            <a:ext cx="3806700" cy="72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40"/>
          <p:cNvSpPr/>
          <p:nvPr/>
        </p:nvSpPr>
        <p:spPr>
          <a:xfrm>
            <a:off x="7203467" y="2110978"/>
            <a:ext cx="1512000" cy="72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40"/>
          <p:cNvSpPr/>
          <p:nvPr/>
        </p:nvSpPr>
        <p:spPr>
          <a:xfrm>
            <a:off x="428625" y="2468165"/>
            <a:ext cx="1125600" cy="72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40"/>
          <p:cNvSpPr/>
          <p:nvPr/>
        </p:nvSpPr>
        <p:spPr>
          <a:xfrm>
            <a:off x="1554100" y="2468165"/>
            <a:ext cx="1842900" cy="72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40"/>
          <p:cNvSpPr/>
          <p:nvPr/>
        </p:nvSpPr>
        <p:spPr>
          <a:xfrm>
            <a:off x="3396741" y="2468165"/>
            <a:ext cx="3806700" cy="72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40"/>
          <p:cNvSpPr/>
          <p:nvPr/>
        </p:nvSpPr>
        <p:spPr>
          <a:xfrm>
            <a:off x="7203467" y="2468165"/>
            <a:ext cx="1512000" cy="72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40"/>
          <p:cNvSpPr/>
          <p:nvPr/>
        </p:nvSpPr>
        <p:spPr>
          <a:xfrm>
            <a:off x="428625" y="2825353"/>
            <a:ext cx="1125600" cy="72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40"/>
          <p:cNvSpPr/>
          <p:nvPr/>
        </p:nvSpPr>
        <p:spPr>
          <a:xfrm>
            <a:off x="1554100" y="2825353"/>
            <a:ext cx="1842900" cy="72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40"/>
          <p:cNvSpPr/>
          <p:nvPr/>
        </p:nvSpPr>
        <p:spPr>
          <a:xfrm>
            <a:off x="3396741" y="2825353"/>
            <a:ext cx="3806700" cy="72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40"/>
          <p:cNvSpPr/>
          <p:nvPr/>
        </p:nvSpPr>
        <p:spPr>
          <a:xfrm>
            <a:off x="7203467" y="2825353"/>
            <a:ext cx="1512000" cy="72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40"/>
          <p:cNvSpPr txBox="1"/>
          <p:nvPr/>
        </p:nvSpPr>
        <p:spPr>
          <a:xfrm>
            <a:off x="428625" y="428625"/>
            <a:ext cx="8701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27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Performance </a:t>
            </a:r>
            <a:r>
              <a:rPr b="1" i="0" lang="ko" sz="27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Benchmark Summary</a:t>
            </a:r>
            <a:endParaRPr sz="1100"/>
          </a:p>
        </p:txBody>
      </p:sp>
      <p:pic>
        <p:nvPicPr>
          <p:cNvPr descr="image.png" id="528" name="Google Shape;528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625" y="3642225"/>
            <a:ext cx="3721025" cy="1450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29" name="Google Shape;529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29600" y="3642225"/>
            <a:ext cx="3806700" cy="1450175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40"/>
          <p:cNvSpPr txBox="1"/>
          <p:nvPr/>
        </p:nvSpPr>
        <p:spPr>
          <a:xfrm>
            <a:off x="642938" y="3806238"/>
            <a:ext cx="23253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600">
                <a:solidFill>
                  <a:srgbClr val="FACC15"/>
                </a:solidFill>
                <a:latin typeface="Noto Sans KR"/>
                <a:ea typeface="Noto Sans KR"/>
                <a:cs typeface="Noto Sans KR"/>
                <a:sym typeface="Noto Sans KR"/>
              </a:rPr>
              <a:t>Performance</a:t>
            </a:r>
            <a:endParaRPr sz="1100"/>
          </a:p>
        </p:txBody>
      </p:sp>
      <p:sp>
        <p:nvSpPr>
          <p:cNvPr id="531" name="Google Shape;531;p40"/>
          <p:cNvSpPr txBox="1"/>
          <p:nvPr/>
        </p:nvSpPr>
        <p:spPr>
          <a:xfrm>
            <a:off x="642950" y="4220575"/>
            <a:ext cx="3189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어느정도 검증이 된 모델을 기반 학습 진행</a:t>
            </a:r>
            <a:endParaRPr sz="1100"/>
          </a:p>
        </p:txBody>
      </p:sp>
      <p:sp>
        <p:nvSpPr>
          <p:cNvPr id="532" name="Google Shape;532;p40"/>
          <p:cNvSpPr txBox="1"/>
          <p:nvPr/>
        </p:nvSpPr>
        <p:spPr>
          <a:xfrm>
            <a:off x="4938259" y="4163169"/>
            <a:ext cx="31893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Single GPU 환경에서 Best Accuracy &amp; Efficiency Trade Off Model 선정</a:t>
            </a:r>
            <a:endParaRPr sz="1100"/>
          </a:p>
        </p:txBody>
      </p:sp>
      <p:sp>
        <p:nvSpPr>
          <p:cNvPr id="533" name="Google Shape;533;p40"/>
          <p:cNvSpPr txBox="1"/>
          <p:nvPr/>
        </p:nvSpPr>
        <p:spPr>
          <a:xfrm>
            <a:off x="4938250" y="3786406"/>
            <a:ext cx="33489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600">
                <a:solidFill>
                  <a:srgbClr val="FACC15"/>
                </a:solidFill>
                <a:latin typeface="Noto Sans KR"/>
                <a:ea typeface="Noto Sans KR"/>
                <a:cs typeface="Noto Sans KR"/>
                <a:sym typeface="Noto Sans KR"/>
              </a:rPr>
              <a:t>Efficiency</a:t>
            </a:r>
            <a:endParaRPr sz="11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38" name="Google Shape;538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39" name="Google Shape;539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625" y="1917538"/>
            <a:ext cx="2643188" cy="21859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40" name="Google Shape;540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50406" y="1917538"/>
            <a:ext cx="2643188" cy="21859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41" name="Google Shape;541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72188" y="1917538"/>
            <a:ext cx="2643188" cy="2185988"/>
          </a:xfrm>
          <a:prstGeom prst="rect">
            <a:avLst/>
          </a:prstGeom>
          <a:noFill/>
          <a:ln>
            <a:noFill/>
          </a:ln>
        </p:spPr>
      </p:pic>
      <p:sp>
        <p:nvSpPr>
          <p:cNvPr id="542" name="Google Shape;542;p41"/>
          <p:cNvSpPr txBox="1"/>
          <p:nvPr/>
        </p:nvSpPr>
        <p:spPr>
          <a:xfrm>
            <a:off x="642938" y="2653345"/>
            <a:ext cx="23253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600" u="none" cap="none" strike="noStrike">
                <a:solidFill>
                  <a:srgbClr val="FACC15"/>
                </a:solidFill>
                <a:latin typeface="Noto Sans KR"/>
                <a:ea typeface="Noto Sans KR"/>
                <a:cs typeface="Noto Sans KR"/>
                <a:sym typeface="Noto Sans KR"/>
              </a:rPr>
              <a:t>주요 특징</a:t>
            </a:r>
            <a:endParaRPr sz="1100"/>
          </a:p>
        </p:txBody>
      </p:sp>
      <p:sp>
        <p:nvSpPr>
          <p:cNvPr id="543" name="Google Shape;543;p41"/>
          <p:cNvSpPr txBox="1"/>
          <p:nvPr/>
        </p:nvSpPr>
        <p:spPr>
          <a:xfrm>
            <a:off x="642938" y="3067682"/>
            <a:ext cx="2214600" cy="7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100" u="none" cap="none" strike="noStrike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현대 CNN의 표준인 Skip Connection을 도입하여 깊은 층에서도 안정적인 학습을 가능케 함.</a:t>
            </a:r>
            <a:endParaRPr sz="1100"/>
          </a:p>
        </p:txBody>
      </p:sp>
      <p:sp>
        <p:nvSpPr>
          <p:cNvPr id="544" name="Google Shape;544;p41"/>
          <p:cNvSpPr txBox="1"/>
          <p:nvPr/>
        </p:nvSpPr>
        <p:spPr>
          <a:xfrm>
            <a:off x="3464719" y="2653345"/>
            <a:ext cx="23253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600" u="none" cap="none" strike="noStrike">
                <a:solidFill>
                  <a:srgbClr val="FACC15"/>
                </a:solidFill>
                <a:latin typeface="Noto Sans KR"/>
                <a:ea typeface="Noto Sans KR"/>
                <a:cs typeface="Noto Sans KR"/>
                <a:sym typeface="Noto Sans KR"/>
              </a:rPr>
              <a:t>발전 근거</a:t>
            </a:r>
            <a:endParaRPr sz="1100"/>
          </a:p>
        </p:txBody>
      </p:sp>
      <p:sp>
        <p:nvSpPr>
          <p:cNvPr id="545" name="Google Shape;545;p41"/>
          <p:cNvSpPr txBox="1"/>
          <p:nvPr/>
        </p:nvSpPr>
        <p:spPr>
          <a:xfrm>
            <a:off x="3464719" y="3067682"/>
            <a:ext cx="2214600" cy="7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100" u="none" cap="none" strike="noStrike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VGG 이후 등장하여 기울기 소실 문제를 해결하며 이미지 인식 모델의 기본 틀을 제시.</a:t>
            </a:r>
            <a:endParaRPr sz="1100"/>
          </a:p>
        </p:txBody>
      </p:sp>
      <p:sp>
        <p:nvSpPr>
          <p:cNvPr id="546" name="Google Shape;546;p41"/>
          <p:cNvSpPr txBox="1"/>
          <p:nvPr/>
        </p:nvSpPr>
        <p:spPr>
          <a:xfrm>
            <a:off x="6286500" y="2653345"/>
            <a:ext cx="23253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600" u="none" cap="none" strike="noStrike">
                <a:solidFill>
                  <a:srgbClr val="FACC15"/>
                </a:solidFill>
                <a:latin typeface="Noto Sans KR"/>
                <a:ea typeface="Noto Sans KR"/>
                <a:cs typeface="Noto Sans KR"/>
                <a:sym typeface="Noto Sans KR"/>
              </a:rPr>
              <a:t>성능 근거 (0.81)</a:t>
            </a:r>
            <a:endParaRPr sz="1100"/>
          </a:p>
        </p:txBody>
      </p:sp>
      <p:sp>
        <p:nvSpPr>
          <p:cNvPr id="547" name="Google Shape;547;p41"/>
          <p:cNvSpPr txBox="1"/>
          <p:nvPr/>
        </p:nvSpPr>
        <p:spPr>
          <a:xfrm>
            <a:off x="6286500" y="3067682"/>
            <a:ext cx="2214600" cy="7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100" u="none" cap="none" strike="noStrike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단순한 구조로 인해 먼지의 미세 질감을 포착하는 해상력이 타 모델 대비 낮음.</a:t>
            </a:r>
            <a:endParaRPr sz="1100"/>
          </a:p>
        </p:txBody>
      </p:sp>
      <p:pic>
        <p:nvPicPr>
          <p:cNvPr descr="image.png" id="548" name="Google Shape;548;p4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2938" y="2153282"/>
            <a:ext cx="222349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49" name="Google Shape;549;p4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464719" y="2153282"/>
            <a:ext cx="222349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50" name="Google Shape;550;p4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86500" y="2153282"/>
            <a:ext cx="222349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551" name="Google Shape;551;p41"/>
          <p:cNvSpPr txBox="1"/>
          <p:nvPr/>
        </p:nvSpPr>
        <p:spPr>
          <a:xfrm>
            <a:off x="571500" y="677651"/>
            <a:ext cx="8551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24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RESNET18: THE FOUNDATION</a:t>
            </a:r>
            <a:endParaRPr sz="1100"/>
          </a:p>
        </p:txBody>
      </p:sp>
      <p:sp>
        <p:nvSpPr>
          <p:cNvPr id="552" name="Google Shape;552;p41"/>
          <p:cNvSpPr/>
          <p:nvPr/>
        </p:nvSpPr>
        <p:spPr>
          <a:xfrm>
            <a:off x="428625" y="677651"/>
            <a:ext cx="42900" cy="3429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41"/>
          <p:cNvSpPr txBox="1"/>
          <p:nvPr/>
        </p:nvSpPr>
        <p:spPr>
          <a:xfrm>
            <a:off x="-2232875" y="1539200"/>
            <a:ext cx="18324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기본 전처리 끝낸 동일한 데이터에 대해 모델별 제출한 성능을 기준으로 선정하였음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58" name="Google Shape;558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59" name="Google Shape;559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625" y="1917538"/>
            <a:ext cx="2643188" cy="21859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60" name="Google Shape;560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50406" y="1917538"/>
            <a:ext cx="2643188" cy="21859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61" name="Google Shape;561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72188" y="1917538"/>
            <a:ext cx="2643188" cy="2185988"/>
          </a:xfrm>
          <a:prstGeom prst="rect">
            <a:avLst/>
          </a:prstGeom>
          <a:noFill/>
          <a:ln>
            <a:noFill/>
          </a:ln>
        </p:spPr>
      </p:pic>
      <p:sp>
        <p:nvSpPr>
          <p:cNvPr id="562" name="Google Shape;562;p42"/>
          <p:cNvSpPr txBox="1"/>
          <p:nvPr/>
        </p:nvSpPr>
        <p:spPr>
          <a:xfrm>
            <a:off x="642938" y="2653345"/>
            <a:ext cx="23253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600" u="none" cap="none" strike="noStrike">
                <a:solidFill>
                  <a:srgbClr val="FACC15"/>
                </a:solidFill>
                <a:latin typeface="Noto Sans KR"/>
                <a:ea typeface="Noto Sans KR"/>
                <a:cs typeface="Noto Sans KR"/>
                <a:sym typeface="Noto Sans KR"/>
              </a:rPr>
              <a:t>주요 특징</a:t>
            </a:r>
            <a:endParaRPr sz="1100"/>
          </a:p>
        </p:txBody>
      </p:sp>
      <p:sp>
        <p:nvSpPr>
          <p:cNvPr id="563" name="Google Shape;563;p42"/>
          <p:cNvSpPr txBox="1"/>
          <p:nvPr/>
        </p:nvSpPr>
        <p:spPr>
          <a:xfrm>
            <a:off x="642938" y="3067682"/>
            <a:ext cx="2214600" cy="7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100" u="none" cap="none" strike="noStrike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깊이, 너비, 해상도를 균형 있게 확장하는 Compound Scaling 기법 적용.</a:t>
            </a:r>
            <a:endParaRPr sz="1100"/>
          </a:p>
        </p:txBody>
      </p:sp>
      <p:sp>
        <p:nvSpPr>
          <p:cNvPr id="564" name="Google Shape;564;p42"/>
          <p:cNvSpPr txBox="1"/>
          <p:nvPr/>
        </p:nvSpPr>
        <p:spPr>
          <a:xfrm>
            <a:off x="3464719" y="2653345"/>
            <a:ext cx="23253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600" u="none" cap="none" strike="noStrike">
                <a:solidFill>
                  <a:srgbClr val="FACC15"/>
                </a:solidFill>
                <a:latin typeface="Noto Sans KR"/>
                <a:ea typeface="Noto Sans KR"/>
                <a:cs typeface="Noto Sans KR"/>
                <a:sym typeface="Noto Sans KR"/>
              </a:rPr>
              <a:t>발전 근거</a:t>
            </a:r>
            <a:endParaRPr sz="1100"/>
          </a:p>
        </p:txBody>
      </p:sp>
      <p:sp>
        <p:nvSpPr>
          <p:cNvPr id="565" name="Google Shape;565;p42"/>
          <p:cNvSpPr txBox="1"/>
          <p:nvPr/>
        </p:nvSpPr>
        <p:spPr>
          <a:xfrm>
            <a:off x="3464719" y="3067682"/>
            <a:ext cx="2214600" cy="7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100" u="none" cap="none" strike="noStrike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모델 파라미터 대비 극강의 효율성을 추구하며 모바일 최적화 및 고성능 달성.</a:t>
            </a:r>
            <a:endParaRPr sz="1100"/>
          </a:p>
        </p:txBody>
      </p:sp>
      <p:sp>
        <p:nvSpPr>
          <p:cNvPr id="566" name="Google Shape;566;p42"/>
          <p:cNvSpPr txBox="1"/>
          <p:nvPr/>
        </p:nvSpPr>
        <p:spPr>
          <a:xfrm>
            <a:off x="6286500" y="2653345"/>
            <a:ext cx="23253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600" u="none" cap="none" strike="noStrike">
                <a:solidFill>
                  <a:srgbClr val="FACC15"/>
                </a:solidFill>
                <a:latin typeface="Noto Sans KR"/>
                <a:ea typeface="Noto Sans KR"/>
                <a:cs typeface="Noto Sans KR"/>
                <a:sym typeface="Noto Sans KR"/>
              </a:rPr>
              <a:t>성능 근거 (0.918)</a:t>
            </a:r>
            <a:endParaRPr sz="1100"/>
          </a:p>
        </p:txBody>
      </p:sp>
      <p:sp>
        <p:nvSpPr>
          <p:cNvPr id="567" name="Google Shape;567;p42"/>
          <p:cNvSpPr txBox="1"/>
          <p:nvPr/>
        </p:nvSpPr>
        <p:spPr>
          <a:xfrm>
            <a:off x="6286500" y="3067682"/>
            <a:ext cx="22146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100" u="none" cap="none" strike="noStrike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SE 블록을 통한 채널 집중 학습으로 오염의 색상 변화를 민감하게 감지.</a:t>
            </a:r>
            <a:endParaRPr sz="1100"/>
          </a:p>
        </p:txBody>
      </p:sp>
      <p:pic>
        <p:nvPicPr>
          <p:cNvPr descr="image.png" id="568" name="Google Shape;568;p4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2938" y="2153282"/>
            <a:ext cx="222349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69" name="Google Shape;569;p4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464719" y="2153282"/>
            <a:ext cx="222349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70" name="Google Shape;570;p4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86500" y="2153282"/>
            <a:ext cx="222349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571" name="Google Shape;571;p42"/>
          <p:cNvSpPr txBox="1"/>
          <p:nvPr/>
        </p:nvSpPr>
        <p:spPr>
          <a:xfrm>
            <a:off x="571500" y="677651"/>
            <a:ext cx="8551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24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EFFICIENTNET-B0: SCALING</a:t>
            </a:r>
            <a:endParaRPr sz="1100"/>
          </a:p>
        </p:txBody>
      </p:sp>
      <p:sp>
        <p:nvSpPr>
          <p:cNvPr id="572" name="Google Shape;572;p42"/>
          <p:cNvSpPr/>
          <p:nvPr/>
        </p:nvSpPr>
        <p:spPr>
          <a:xfrm>
            <a:off x="428625" y="677651"/>
            <a:ext cx="42900" cy="3429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77" name="Google Shape;577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78" name="Google Shape;578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625" y="1917538"/>
            <a:ext cx="2643188" cy="21859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79" name="Google Shape;579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50406" y="1917538"/>
            <a:ext cx="2643188" cy="21859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80" name="Google Shape;580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72188" y="1917538"/>
            <a:ext cx="2643188" cy="2185988"/>
          </a:xfrm>
          <a:prstGeom prst="rect">
            <a:avLst/>
          </a:prstGeom>
          <a:noFill/>
          <a:ln>
            <a:noFill/>
          </a:ln>
        </p:spPr>
      </p:pic>
      <p:sp>
        <p:nvSpPr>
          <p:cNvPr id="581" name="Google Shape;581;p43"/>
          <p:cNvSpPr txBox="1"/>
          <p:nvPr/>
        </p:nvSpPr>
        <p:spPr>
          <a:xfrm>
            <a:off x="642938" y="2653345"/>
            <a:ext cx="23253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600" u="none" cap="none" strike="noStrike">
                <a:solidFill>
                  <a:srgbClr val="FACC15"/>
                </a:solidFill>
                <a:latin typeface="Noto Sans KR"/>
                <a:ea typeface="Noto Sans KR"/>
                <a:cs typeface="Noto Sans KR"/>
                <a:sym typeface="Noto Sans KR"/>
              </a:rPr>
              <a:t>주요 특징</a:t>
            </a:r>
            <a:endParaRPr sz="1100"/>
          </a:p>
        </p:txBody>
      </p:sp>
      <p:sp>
        <p:nvSpPr>
          <p:cNvPr id="582" name="Google Shape;582;p43"/>
          <p:cNvSpPr txBox="1"/>
          <p:nvPr/>
        </p:nvSpPr>
        <p:spPr>
          <a:xfrm>
            <a:off x="642938" y="3067682"/>
            <a:ext cx="2214600" cy="7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100" u="none" cap="none" strike="noStrike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Transformer의 장점을 CNN에 이식(7x7 Kernel, Layer Norm 등 적용).</a:t>
            </a:r>
            <a:endParaRPr sz="1100"/>
          </a:p>
        </p:txBody>
      </p:sp>
      <p:sp>
        <p:nvSpPr>
          <p:cNvPr id="583" name="Google Shape;583;p43"/>
          <p:cNvSpPr txBox="1"/>
          <p:nvPr/>
        </p:nvSpPr>
        <p:spPr>
          <a:xfrm>
            <a:off x="3464719" y="2653345"/>
            <a:ext cx="23253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600" u="none" cap="none" strike="noStrike">
                <a:solidFill>
                  <a:srgbClr val="FACC15"/>
                </a:solidFill>
                <a:latin typeface="Noto Sans KR"/>
                <a:ea typeface="Noto Sans KR"/>
                <a:cs typeface="Noto Sans KR"/>
                <a:sym typeface="Noto Sans KR"/>
              </a:rPr>
              <a:t>발전 근거</a:t>
            </a:r>
            <a:endParaRPr sz="1100"/>
          </a:p>
        </p:txBody>
      </p:sp>
      <p:sp>
        <p:nvSpPr>
          <p:cNvPr id="584" name="Google Shape;584;p43"/>
          <p:cNvSpPr txBox="1"/>
          <p:nvPr/>
        </p:nvSpPr>
        <p:spPr>
          <a:xfrm>
            <a:off x="3464719" y="3067682"/>
            <a:ext cx="2214600" cy="7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100" u="none" cap="none" strike="noStrike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ViT의 유행 속에서 CNN의 잠재력을 재발굴하여 순수 CNN으로 Transformer급 성능 구현.</a:t>
            </a:r>
            <a:endParaRPr sz="1100"/>
          </a:p>
        </p:txBody>
      </p:sp>
      <p:sp>
        <p:nvSpPr>
          <p:cNvPr id="585" name="Google Shape;585;p43"/>
          <p:cNvSpPr txBox="1"/>
          <p:nvPr/>
        </p:nvSpPr>
        <p:spPr>
          <a:xfrm>
            <a:off x="6286500" y="2653345"/>
            <a:ext cx="23253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600" u="none" cap="none" strike="noStrike">
                <a:solidFill>
                  <a:srgbClr val="FACC15"/>
                </a:solidFill>
                <a:latin typeface="Noto Sans KR"/>
                <a:ea typeface="Noto Sans KR"/>
                <a:cs typeface="Noto Sans KR"/>
                <a:sym typeface="Noto Sans KR"/>
              </a:rPr>
              <a:t>성능 근거 (0.939)</a:t>
            </a:r>
            <a:endParaRPr sz="1100"/>
          </a:p>
        </p:txBody>
      </p:sp>
      <p:sp>
        <p:nvSpPr>
          <p:cNvPr id="586" name="Google Shape;586;p43"/>
          <p:cNvSpPr txBox="1"/>
          <p:nvPr/>
        </p:nvSpPr>
        <p:spPr>
          <a:xfrm>
            <a:off x="6286500" y="3067682"/>
            <a:ext cx="2214600" cy="7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100" u="none" cap="none" strike="noStrike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적은 데이터셋(1,100장)에서도 CNN 특유의 공간적 편향을 통해 강력한 학습력 유지.</a:t>
            </a:r>
            <a:endParaRPr sz="1100"/>
          </a:p>
        </p:txBody>
      </p:sp>
      <p:pic>
        <p:nvPicPr>
          <p:cNvPr descr="image.png" id="587" name="Google Shape;587;p4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2938" y="2153282"/>
            <a:ext cx="222349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88" name="Google Shape;588;p4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464719" y="2153282"/>
            <a:ext cx="222349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89" name="Google Shape;589;p4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86500" y="2153282"/>
            <a:ext cx="222349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590" name="Google Shape;590;p43"/>
          <p:cNvSpPr txBox="1"/>
          <p:nvPr/>
        </p:nvSpPr>
        <p:spPr>
          <a:xfrm>
            <a:off x="571500" y="677651"/>
            <a:ext cx="8551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24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CONVNEXT-NANO: MODERN CNN</a:t>
            </a:r>
            <a:endParaRPr sz="1100"/>
          </a:p>
        </p:txBody>
      </p:sp>
      <p:sp>
        <p:nvSpPr>
          <p:cNvPr id="591" name="Google Shape;591;p43"/>
          <p:cNvSpPr/>
          <p:nvPr/>
        </p:nvSpPr>
        <p:spPr>
          <a:xfrm>
            <a:off x="428625" y="677651"/>
            <a:ext cx="42900" cy="3429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96" name="Google Shape;596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97" name="Google Shape;597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625" y="1917538"/>
            <a:ext cx="2643188" cy="21859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98" name="Google Shape;598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50406" y="1917538"/>
            <a:ext cx="2643188" cy="21859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99" name="Google Shape;599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72188" y="1917538"/>
            <a:ext cx="2643188" cy="2185988"/>
          </a:xfrm>
          <a:prstGeom prst="rect">
            <a:avLst/>
          </a:prstGeom>
          <a:noFill/>
          <a:ln>
            <a:noFill/>
          </a:ln>
        </p:spPr>
      </p:pic>
      <p:sp>
        <p:nvSpPr>
          <p:cNvPr id="600" name="Google Shape;600;p44"/>
          <p:cNvSpPr txBox="1"/>
          <p:nvPr/>
        </p:nvSpPr>
        <p:spPr>
          <a:xfrm>
            <a:off x="642938" y="2653345"/>
            <a:ext cx="23253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600" u="none" cap="none" strike="noStrike">
                <a:solidFill>
                  <a:srgbClr val="FACC15"/>
                </a:solidFill>
                <a:latin typeface="Noto Sans KR"/>
                <a:ea typeface="Noto Sans KR"/>
                <a:cs typeface="Noto Sans KR"/>
                <a:sym typeface="Noto Sans KR"/>
              </a:rPr>
              <a:t>주요 특징</a:t>
            </a:r>
            <a:endParaRPr sz="1100"/>
          </a:p>
        </p:txBody>
      </p:sp>
      <p:sp>
        <p:nvSpPr>
          <p:cNvPr id="601" name="Google Shape;601;p44"/>
          <p:cNvSpPr txBox="1"/>
          <p:nvPr/>
        </p:nvSpPr>
        <p:spPr>
          <a:xfrm>
            <a:off x="642938" y="3067682"/>
            <a:ext cx="2214600" cy="7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100" u="none" cap="none" strike="noStrike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Convolution(로컬 특징)과 Attention(글로벌 맥락)을 수학적으로 통합 설계.</a:t>
            </a:r>
            <a:endParaRPr sz="1100"/>
          </a:p>
        </p:txBody>
      </p:sp>
      <p:sp>
        <p:nvSpPr>
          <p:cNvPr id="602" name="Google Shape;602;p44"/>
          <p:cNvSpPr txBox="1"/>
          <p:nvPr/>
        </p:nvSpPr>
        <p:spPr>
          <a:xfrm>
            <a:off x="3464719" y="2653345"/>
            <a:ext cx="23253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600" u="none" cap="none" strike="noStrike">
                <a:solidFill>
                  <a:srgbClr val="FACC15"/>
                </a:solidFill>
                <a:latin typeface="Noto Sans KR"/>
                <a:ea typeface="Noto Sans KR"/>
                <a:cs typeface="Noto Sans KR"/>
                <a:sym typeface="Noto Sans KR"/>
              </a:rPr>
              <a:t>발전 근거</a:t>
            </a:r>
            <a:endParaRPr sz="1100"/>
          </a:p>
        </p:txBody>
      </p:sp>
      <p:sp>
        <p:nvSpPr>
          <p:cNvPr id="603" name="Google Shape;603;p44"/>
          <p:cNvSpPr txBox="1"/>
          <p:nvPr/>
        </p:nvSpPr>
        <p:spPr>
          <a:xfrm>
            <a:off x="3464719" y="3067682"/>
            <a:ext cx="2214600" cy="7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100" u="none" cap="none" strike="noStrike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단순 결합이 아닌 레이어 단계별 최적화를 통해 연산 효율과 성능을 동시에 추구.</a:t>
            </a:r>
            <a:endParaRPr sz="1100"/>
          </a:p>
        </p:txBody>
      </p:sp>
      <p:sp>
        <p:nvSpPr>
          <p:cNvPr id="604" name="Google Shape;604;p44"/>
          <p:cNvSpPr txBox="1"/>
          <p:nvPr/>
        </p:nvSpPr>
        <p:spPr>
          <a:xfrm>
            <a:off x="6286500" y="2653345"/>
            <a:ext cx="23253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600" u="none" cap="none" strike="noStrike">
                <a:solidFill>
                  <a:srgbClr val="FACC15"/>
                </a:solidFill>
                <a:latin typeface="Noto Sans KR"/>
                <a:ea typeface="Noto Sans KR"/>
                <a:cs typeface="Noto Sans KR"/>
                <a:sym typeface="Noto Sans KR"/>
              </a:rPr>
              <a:t>성능 근거 (0.927)</a:t>
            </a:r>
            <a:endParaRPr sz="1100"/>
          </a:p>
        </p:txBody>
      </p:sp>
      <p:sp>
        <p:nvSpPr>
          <p:cNvPr id="605" name="Google Shape;605;p44"/>
          <p:cNvSpPr txBox="1"/>
          <p:nvPr/>
        </p:nvSpPr>
        <p:spPr>
          <a:xfrm>
            <a:off x="6286500" y="3067682"/>
            <a:ext cx="2214600" cy="7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100" u="none" cap="none" strike="noStrike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모델 수용력은 크나 1,100장의 소규모 데이터에서는 약간의 오버피팅 발생 가능성.</a:t>
            </a:r>
            <a:endParaRPr sz="1100"/>
          </a:p>
        </p:txBody>
      </p:sp>
      <p:pic>
        <p:nvPicPr>
          <p:cNvPr descr="image.png" id="606" name="Google Shape;606;p4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2938" y="2153282"/>
            <a:ext cx="222349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07" name="Google Shape;607;p4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464719" y="2153282"/>
            <a:ext cx="222349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08" name="Google Shape;608;p4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86500" y="2153282"/>
            <a:ext cx="222349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609" name="Google Shape;609;p44"/>
          <p:cNvSpPr txBox="1"/>
          <p:nvPr/>
        </p:nvSpPr>
        <p:spPr>
          <a:xfrm>
            <a:off x="571500" y="677651"/>
            <a:ext cx="8551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24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COATNET: HYBRID DESIGN</a:t>
            </a:r>
            <a:endParaRPr sz="1100"/>
          </a:p>
        </p:txBody>
      </p:sp>
      <p:sp>
        <p:nvSpPr>
          <p:cNvPr id="610" name="Google Shape;610;p44"/>
          <p:cNvSpPr/>
          <p:nvPr/>
        </p:nvSpPr>
        <p:spPr>
          <a:xfrm>
            <a:off x="428625" y="677651"/>
            <a:ext cx="42900" cy="3429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615" name="Google Shape;615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16" name="Google Shape;616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625" y="1917538"/>
            <a:ext cx="2643188" cy="21859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17" name="Google Shape;617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50406" y="1917538"/>
            <a:ext cx="2643188" cy="21859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18" name="Google Shape;618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72188" y="1917538"/>
            <a:ext cx="2643188" cy="2185988"/>
          </a:xfrm>
          <a:prstGeom prst="rect">
            <a:avLst/>
          </a:prstGeom>
          <a:noFill/>
          <a:ln>
            <a:noFill/>
          </a:ln>
        </p:spPr>
      </p:pic>
      <p:sp>
        <p:nvSpPr>
          <p:cNvPr id="619" name="Google Shape;619;p45"/>
          <p:cNvSpPr txBox="1"/>
          <p:nvPr/>
        </p:nvSpPr>
        <p:spPr>
          <a:xfrm>
            <a:off x="642938" y="2653345"/>
            <a:ext cx="23253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600" u="none" cap="none" strike="noStrike">
                <a:solidFill>
                  <a:srgbClr val="FACC15"/>
                </a:solidFill>
                <a:latin typeface="Noto Sans KR"/>
                <a:ea typeface="Noto Sans KR"/>
                <a:cs typeface="Noto Sans KR"/>
                <a:sym typeface="Noto Sans KR"/>
              </a:rPr>
              <a:t>주요 특징</a:t>
            </a:r>
            <a:endParaRPr sz="1100"/>
          </a:p>
        </p:txBody>
      </p:sp>
      <p:sp>
        <p:nvSpPr>
          <p:cNvPr id="620" name="Google Shape;620;p45"/>
          <p:cNvSpPr txBox="1"/>
          <p:nvPr/>
        </p:nvSpPr>
        <p:spPr>
          <a:xfrm>
            <a:off x="642938" y="3067682"/>
            <a:ext cx="2214600" cy="7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100" u="none" cap="none" strike="noStrike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초거대 마스크 이미지 모델링(MIM) 기법으로 사전 학습된 최첨단 ViT 모델.</a:t>
            </a:r>
            <a:endParaRPr sz="1100"/>
          </a:p>
        </p:txBody>
      </p:sp>
      <p:sp>
        <p:nvSpPr>
          <p:cNvPr id="621" name="Google Shape;621;p45"/>
          <p:cNvSpPr txBox="1"/>
          <p:nvPr/>
        </p:nvSpPr>
        <p:spPr>
          <a:xfrm>
            <a:off x="3464719" y="2653345"/>
            <a:ext cx="23253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600" u="none" cap="none" strike="noStrike">
                <a:solidFill>
                  <a:srgbClr val="FACC15"/>
                </a:solidFill>
                <a:latin typeface="Noto Sans KR"/>
                <a:ea typeface="Noto Sans KR"/>
                <a:cs typeface="Noto Sans KR"/>
                <a:sym typeface="Noto Sans KR"/>
              </a:rPr>
              <a:t>발전 근거</a:t>
            </a:r>
            <a:endParaRPr sz="1100"/>
          </a:p>
        </p:txBody>
      </p:sp>
      <p:sp>
        <p:nvSpPr>
          <p:cNvPr id="622" name="Google Shape;622;p45"/>
          <p:cNvSpPr txBox="1"/>
          <p:nvPr/>
        </p:nvSpPr>
        <p:spPr>
          <a:xfrm>
            <a:off x="3464719" y="3067682"/>
            <a:ext cx="22146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100" u="none" cap="none" strike="noStrike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인간의 시각 체계와 유사한 고도의 표현력을 사전 학습을 통해 미리 확보.</a:t>
            </a:r>
            <a:endParaRPr sz="1100"/>
          </a:p>
        </p:txBody>
      </p:sp>
      <p:sp>
        <p:nvSpPr>
          <p:cNvPr id="623" name="Google Shape;623;p45"/>
          <p:cNvSpPr txBox="1"/>
          <p:nvPr/>
        </p:nvSpPr>
        <p:spPr>
          <a:xfrm>
            <a:off x="6286500" y="2653345"/>
            <a:ext cx="23253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600" u="none" cap="none" strike="noStrike">
                <a:solidFill>
                  <a:srgbClr val="FACC15"/>
                </a:solidFill>
                <a:latin typeface="Noto Sans KR"/>
                <a:ea typeface="Noto Sans KR"/>
                <a:cs typeface="Noto Sans KR"/>
                <a:sym typeface="Noto Sans KR"/>
              </a:rPr>
              <a:t>성능 근거 (0.935)</a:t>
            </a:r>
            <a:endParaRPr sz="1100"/>
          </a:p>
        </p:txBody>
      </p:sp>
      <p:sp>
        <p:nvSpPr>
          <p:cNvPr id="624" name="Google Shape;624;p45"/>
          <p:cNvSpPr txBox="1"/>
          <p:nvPr/>
        </p:nvSpPr>
        <p:spPr>
          <a:xfrm>
            <a:off x="6286500" y="3067682"/>
            <a:ext cx="2214600" cy="7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100" u="none" cap="none" strike="noStrike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순수 ViT임에도 불구하고 압도적인 사전 학습 가중치 덕분에 소규모 데이터 극복.</a:t>
            </a:r>
            <a:endParaRPr sz="1100"/>
          </a:p>
        </p:txBody>
      </p:sp>
      <p:pic>
        <p:nvPicPr>
          <p:cNvPr descr="image.png" id="625" name="Google Shape;625;p4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2938" y="2153282"/>
            <a:ext cx="222349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26" name="Google Shape;626;p4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464719" y="2153282"/>
            <a:ext cx="222349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27" name="Google Shape;627;p4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86500" y="2153282"/>
            <a:ext cx="222349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628" name="Google Shape;628;p45"/>
          <p:cNvSpPr txBox="1"/>
          <p:nvPr/>
        </p:nvSpPr>
        <p:spPr>
          <a:xfrm>
            <a:off x="571500" y="677651"/>
            <a:ext cx="8551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24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EVA-02: PRE-TRAINED GIANT</a:t>
            </a:r>
            <a:endParaRPr sz="1100"/>
          </a:p>
        </p:txBody>
      </p:sp>
      <p:sp>
        <p:nvSpPr>
          <p:cNvPr id="629" name="Google Shape;629;p45"/>
          <p:cNvSpPr/>
          <p:nvPr/>
        </p:nvSpPr>
        <p:spPr>
          <a:xfrm>
            <a:off x="428625" y="677651"/>
            <a:ext cx="42900" cy="3429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634" name="Google Shape;634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35" name="Google Shape;635;p46"/>
          <p:cNvSpPr txBox="1"/>
          <p:nvPr/>
        </p:nvSpPr>
        <p:spPr>
          <a:xfrm>
            <a:off x="571500" y="853120"/>
            <a:ext cx="3750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24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CHAMPION: MAXVIT</a:t>
            </a:r>
            <a:endParaRPr sz="1100"/>
          </a:p>
        </p:txBody>
      </p:sp>
      <p:sp>
        <p:nvSpPr>
          <p:cNvPr id="636" name="Google Shape;636;p46"/>
          <p:cNvSpPr/>
          <p:nvPr/>
        </p:nvSpPr>
        <p:spPr>
          <a:xfrm>
            <a:off x="428625" y="853120"/>
            <a:ext cx="42900" cy="34290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46"/>
          <p:cNvSpPr txBox="1"/>
          <p:nvPr/>
        </p:nvSpPr>
        <p:spPr>
          <a:xfrm>
            <a:off x="428625" y="1681795"/>
            <a:ext cx="3900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600" u="none" cap="none" strike="noStrike">
                <a:solidFill>
                  <a:srgbClr val="FACC15"/>
                </a:solidFill>
                <a:latin typeface="Noto Sans KR"/>
                <a:ea typeface="Noto Sans KR"/>
                <a:cs typeface="Noto Sans KR"/>
                <a:sym typeface="Noto Sans KR"/>
              </a:rPr>
              <a:t>Score: 0.94734</a:t>
            </a:r>
            <a:endParaRPr sz="1100"/>
          </a:p>
        </p:txBody>
      </p:sp>
      <p:sp>
        <p:nvSpPr>
          <p:cNvPr id="638" name="Google Shape;638;p46"/>
          <p:cNvSpPr txBox="1"/>
          <p:nvPr/>
        </p:nvSpPr>
        <p:spPr>
          <a:xfrm>
            <a:off x="428625" y="2160426"/>
            <a:ext cx="37149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100" u="none" cap="none" strike="noStrike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Multi-Axis Vision Transformer</a:t>
            </a:r>
            <a:endParaRPr sz="1100"/>
          </a:p>
        </p:txBody>
      </p:sp>
      <p:sp>
        <p:nvSpPr>
          <p:cNvPr id="639" name="Google Shape;639;p46"/>
          <p:cNvSpPr txBox="1"/>
          <p:nvPr/>
        </p:nvSpPr>
        <p:spPr>
          <a:xfrm>
            <a:off x="428625" y="2639057"/>
            <a:ext cx="3714900" cy="7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100" u="none" cap="none" strike="noStrike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이번 프로젝트에서 가장 높은 성능을 기록한 모델입니다. CNN과 Transformer의 장점을 극대화한 하이브리드 설계가 핵심입니다.</a:t>
            </a:r>
            <a:endParaRPr sz="1100"/>
          </a:p>
        </p:txBody>
      </p:sp>
      <p:sp>
        <p:nvSpPr>
          <p:cNvPr id="640" name="Google Shape;640;p46"/>
          <p:cNvSpPr txBox="1"/>
          <p:nvPr/>
        </p:nvSpPr>
        <p:spPr>
          <a:xfrm>
            <a:off x="642938" y="3546314"/>
            <a:ext cx="3500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100" u="none" cap="none" strike="noStrike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Window Attention:</a:t>
            </a:r>
            <a:r>
              <a:rPr b="0" i="0" lang="ko" sz="1100" u="none" cap="none" strike="noStrike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 국소 부위의 미세 먼지 포착</a:t>
            </a:r>
            <a:endParaRPr sz="1100"/>
          </a:p>
        </p:txBody>
      </p:sp>
      <p:sp>
        <p:nvSpPr>
          <p:cNvPr id="641" name="Google Shape;641;p46"/>
          <p:cNvSpPr txBox="1"/>
          <p:nvPr/>
        </p:nvSpPr>
        <p:spPr>
          <a:xfrm>
            <a:off x="642938" y="3839207"/>
            <a:ext cx="3500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100" u="none" cap="none" strike="noStrike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Grid Attention:</a:t>
            </a:r>
            <a:r>
              <a:rPr b="0" i="0" lang="ko" sz="1100" u="none" cap="none" strike="noStrike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 패널 전체의 흐릿한 맥락 파악</a:t>
            </a:r>
            <a:endParaRPr sz="1100"/>
          </a:p>
        </p:txBody>
      </p:sp>
      <p:sp>
        <p:nvSpPr>
          <p:cNvPr id="642" name="Google Shape;642;p46"/>
          <p:cNvSpPr txBox="1"/>
          <p:nvPr/>
        </p:nvSpPr>
        <p:spPr>
          <a:xfrm>
            <a:off x="642938" y="4132101"/>
            <a:ext cx="3500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100" u="none" cap="none" strike="noStrike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Synergy:</a:t>
            </a:r>
            <a:r>
              <a:rPr b="0" i="0" lang="ko" sz="1100" u="none" cap="none" strike="noStrike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 로컬과 글로벌 정보의 완벽한 융합</a:t>
            </a:r>
            <a:endParaRPr sz="1100"/>
          </a:p>
        </p:txBody>
      </p:sp>
      <p:pic>
        <p:nvPicPr>
          <p:cNvPr descr="image.png" id="643" name="Google Shape;643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0" y="0"/>
            <a:ext cx="4572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44" name="Google Shape;644;p4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8625" y="3546314"/>
            <a:ext cx="105593" cy="1571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45" name="Google Shape;645;p4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8625" y="3839207"/>
            <a:ext cx="105593" cy="1571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46" name="Google Shape;646;p4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8625" y="4132101"/>
            <a:ext cx="105593" cy="1571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651" name="Google Shape;651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52" name="Google Shape;652;p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625" y="1306301"/>
            <a:ext cx="8286750" cy="3408574"/>
          </a:xfrm>
          <a:prstGeom prst="rect">
            <a:avLst/>
          </a:prstGeom>
          <a:noFill/>
          <a:ln>
            <a:noFill/>
          </a:ln>
        </p:spPr>
      </p:pic>
      <p:sp>
        <p:nvSpPr>
          <p:cNvPr id="653" name="Google Shape;653;p47"/>
          <p:cNvSpPr txBox="1"/>
          <p:nvPr/>
        </p:nvSpPr>
        <p:spPr>
          <a:xfrm>
            <a:off x="428625" y="3967795"/>
            <a:ext cx="82869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100" u="none" cap="none" strike="noStrike">
                <a:solidFill>
                  <a:srgbClr val="FACC15"/>
                </a:solidFill>
                <a:latin typeface="Noto Sans KR"/>
                <a:ea typeface="Noto Sans KR"/>
                <a:cs typeface="Noto Sans KR"/>
                <a:sym typeface="Noto Sans KR"/>
              </a:rPr>
              <a:t>* MaxVIT 모델이 94.7%로 가장 높은 성능을 기록했습니다.</a:t>
            </a:r>
            <a:endParaRPr sz="1100"/>
          </a:p>
        </p:txBody>
      </p:sp>
      <p:sp>
        <p:nvSpPr>
          <p:cNvPr id="654" name="Google Shape;654;p47"/>
          <p:cNvSpPr txBox="1"/>
          <p:nvPr/>
        </p:nvSpPr>
        <p:spPr>
          <a:xfrm>
            <a:off x="571500" y="677651"/>
            <a:ext cx="8551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24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PERFORMANCE LEADERBOARD</a:t>
            </a:r>
            <a:endParaRPr sz="1100"/>
          </a:p>
        </p:txBody>
      </p:sp>
      <p:sp>
        <p:nvSpPr>
          <p:cNvPr id="655" name="Google Shape;655;p47"/>
          <p:cNvSpPr/>
          <p:nvPr/>
        </p:nvSpPr>
        <p:spPr>
          <a:xfrm>
            <a:off x="428625" y="677651"/>
            <a:ext cx="42900" cy="3429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E7E0"/>
        </a:solidFill>
      </p:bgPr>
    </p:bg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48"/>
          <p:cNvSpPr/>
          <p:nvPr/>
        </p:nvSpPr>
        <p:spPr>
          <a:xfrm>
            <a:off x="480060" y="411480"/>
            <a:ext cx="1166100" cy="274200"/>
          </a:xfrm>
          <a:prstGeom prst="roundRect">
            <a:avLst>
              <a:gd fmla="val 20000" name="adj"/>
            </a:avLst>
          </a:prstGeom>
          <a:solidFill>
            <a:srgbClr val="1C2A4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2" name="Google Shape;662;p48"/>
          <p:cNvSpPr/>
          <p:nvPr/>
        </p:nvSpPr>
        <p:spPr>
          <a:xfrm>
            <a:off x="480060" y="411480"/>
            <a:ext cx="1166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ko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SECTION 02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63" name="Google Shape;663;p48"/>
          <p:cNvPicPr preferRelativeResize="0"/>
          <p:nvPr/>
        </p:nvPicPr>
        <p:blipFill rotWithShape="1">
          <a:blip r:embed="rId3">
            <a:alphaModFix amt="10000"/>
          </a:blip>
          <a:srcRect b="0" l="0" r="0" t="0"/>
          <a:stretch/>
        </p:blipFill>
        <p:spPr>
          <a:xfrm>
            <a:off x="6858000" y="1783080"/>
            <a:ext cx="1783080" cy="1783080"/>
          </a:xfrm>
          <a:prstGeom prst="rect">
            <a:avLst/>
          </a:prstGeom>
          <a:noFill/>
          <a:ln>
            <a:noFill/>
          </a:ln>
        </p:spPr>
      </p:pic>
      <p:sp>
        <p:nvSpPr>
          <p:cNvPr id="664" name="Google Shape;664;p48"/>
          <p:cNvSpPr/>
          <p:nvPr/>
        </p:nvSpPr>
        <p:spPr>
          <a:xfrm>
            <a:off x="500634" y="2160270"/>
            <a:ext cx="7406400" cy="7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A44"/>
              </a:buClr>
              <a:buSzPts val="2700"/>
              <a:buFont typeface="Calibri"/>
              <a:buNone/>
            </a:pPr>
            <a:r>
              <a:rPr b="1" lang="ko" sz="2700">
                <a:solidFill>
                  <a:srgbClr val="1C2A44"/>
                </a:solidFill>
                <a:latin typeface="Calibri"/>
                <a:ea typeface="Calibri"/>
                <a:cs typeface="Calibri"/>
                <a:sym typeface="Calibri"/>
              </a:rPr>
              <a:t>학습 전략 선정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65" name="Google Shape;665;p48"/>
          <p:cNvCxnSpPr/>
          <p:nvPr/>
        </p:nvCxnSpPr>
        <p:spPr>
          <a:xfrm>
            <a:off x="514350" y="2846070"/>
            <a:ext cx="1783200" cy="0"/>
          </a:xfrm>
          <a:prstGeom prst="straightConnector1">
            <a:avLst/>
          </a:prstGeom>
          <a:noFill/>
          <a:ln cap="flat" cmpd="sng" w="19050">
            <a:solidFill>
              <a:srgbClr val="C9A24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66" name="Google Shape;666;p48"/>
          <p:cNvSpPr/>
          <p:nvPr/>
        </p:nvSpPr>
        <p:spPr>
          <a:xfrm>
            <a:off x="8298180" y="4766310"/>
            <a:ext cx="4803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8496"/>
              </a:buClr>
              <a:buSzPts val="900"/>
              <a:buFont typeface="Calibri"/>
              <a:buNone/>
            </a:pPr>
            <a:r>
              <a:rPr b="0" i="0" lang="ko" sz="900" u="none" cap="none" strike="noStrike">
                <a:solidFill>
                  <a:srgbClr val="8A8496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671" name="Google Shape;671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72" name="Google Shape;672;p4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86313" y="1898563"/>
            <a:ext cx="3929063" cy="2043447"/>
          </a:xfrm>
          <a:prstGeom prst="rect">
            <a:avLst/>
          </a:prstGeom>
          <a:noFill/>
          <a:ln>
            <a:noFill/>
          </a:ln>
        </p:spPr>
      </p:pic>
      <p:sp>
        <p:nvSpPr>
          <p:cNvPr id="673" name="Google Shape;673;p49"/>
          <p:cNvSpPr txBox="1"/>
          <p:nvPr/>
        </p:nvSpPr>
        <p:spPr>
          <a:xfrm>
            <a:off x="428625" y="1898563"/>
            <a:ext cx="41256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1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전략적 인사이트 요약</a:t>
            </a:r>
            <a:endParaRPr sz="1100"/>
          </a:p>
        </p:txBody>
      </p:sp>
      <p:sp>
        <p:nvSpPr>
          <p:cNvPr id="674" name="Google Shape;674;p49"/>
          <p:cNvSpPr txBox="1"/>
          <p:nvPr/>
        </p:nvSpPr>
        <p:spPr>
          <a:xfrm>
            <a:off x="428625" y="2058962"/>
            <a:ext cx="3929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00" u="none" cap="none" strike="noStrik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소규모 데이터셋에서의 '검증 데이터 불일치' 및 '과적합' 문제를 해결하기 위해 4가지 가설 기반 전략을 수행하였습니다.</a:t>
            </a:r>
            <a:endParaRPr sz="1100"/>
          </a:p>
        </p:txBody>
      </p:sp>
      <p:sp>
        <p:nvSpPr>
          <p:cNvPr id="675" name="Google Shape;675;p49"/>
          <p:cNvSpPr txBox="1"/>
          <p:nvPr/>
        </p:nvSpPr>
        <p:spPr>
          <a:xfrm>
            <a:off x="5086350" y="2198600"/>
            <a:ext cx="33291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5100" u="none" cap="none" strike="noStrike">
                <a:solidFill>
                  <a:srgbClr val="FFCC00"/>
                </a:solidFill>
                <a:latin typeface="Urbanist"/>
                <a:ea typeface="Urbanist"/>
                <a:cs typeface="Urbanist"/>
                <a:sym typeface="Urbanist"/>
              </a:rPr>
              <a:t>0.918</a:t>
            </a:r>
            <a:endParaRPr sz="1100"/>
          </a:p>
        </p:txBody>
      </p:sp>
      <p:sp>
        <p:nvSpPr>
          <p:cNvPr id="676" name="Google Shape;676;p49"/>
          <p:cNvSpPr txBox="1"/>
          <p:nvPr/>
        </p:nvSpPr>
        <p:spPr>
          <a:xfrm>
            <a:off x="5086350" y="2912975"/>
            <a:ext cx="3329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2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Best Score (Strategy B)</a:t>
            </a:r>
            <a:endParaRPr sz="1100"/>
          </a:p>
        </p:txBody>
      </p:sp>
      <p:sp>
        <p:nvSpPr>
          <p:cNvPr id="677" name="Google Shape;677;p49"/>
          <p:cNvSpPr txBox="1"/>
          <p:nvPr/>
        </p:nvSpPr>
        <p:spPr>
          <a:xfrm>
            <a:off x="5086350" y="3205869"/>
            <a:ext cx="33291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00" u="none" cap="none" strike="noStrik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전략 A 대비 +13.1% 성능 향상 달성</a:t>
            </a:r>
            <a:endParaRPr sz="1100"/>
          </a:p>
        </p:txBody>
      </p:sp>
      <p:sp>
        <p:nvSpPr>
          <p:cNvPr id="678" name="Google Shape;678;p49"/>
          <p:cNvSpPr txBox="1"/>
          <p:nvPr/>
        </p:nvSpPr>
        <p:spPr>
          <a:xfrm>
            <a:off x="678656" y="2684711"/>
            <a:ext cx="36789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1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최고 성능:</a:t>
            </a:r>
            <a:r>
              <a:rPr b="0" i="0" lang="ko" sz="11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전략 B (5-Fold CV 앙상블) 가 0.918로 압도적 우위</a:t>
            </a:r>
            <a:endParaRPr sz="1100"/>
          </a:p>
        </p:txBody>
      </p:sp>
      <p:sp>
        <p:nvSpPr>
          <p:cNvPr id="679" name="Google Shape;679;p49"/>
          <p:cNvSpPr txBox="1"/>
          <p:nvPr/>
        </p:nvSpPr>
        <p:spPr>
          <a:xfrm>
            <a:off x="678656" y="3163342"/>
            <a:ext cx="36789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1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주요 발견:</a:t>
            </a:r>
            <a:r>
              <a:rPr b="0" i="0" lang="ko" sz="11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전체 데이터 학습(전략 A)은 검증 부재로 성능 급락</a:t>
            </a:r>
            <a:endParaRPr sz="1100"/>
          </a:p>
        </p:txBody>
      </p:sp>
      <p:sp>
        <p:nvSpPr>
          <p:cNvPr id="680" name="Google Shape;680;p49"/>
          <p:cNvSpPr txBox="1"/>
          <p:nvPr/>
        </p:nvSpPr>
        <p:spPr>
          <a:xfrm>
            <a:off x="678656" y="3641973"/>
            <a:ext cx="36789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1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변수 영향:</a:t>
            </a:r>
            <a:r>
              <a:rPr b="0" i="0" lang="ko" sz="11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Mixup 증강은 앙상블과 결합 시 시너지 발생</a:t>
            </a:r>
            <a:endParaRPr sz="1100"/>
          </a:p>
        </p:txBody>
      </p:sp>
      <p:pic>
        <p:nvPicPr>
          <p:cNvPr descr="image.png" id="681" name="Google Shape;681;p4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8625" y="2709713"/>
            <a:ext cx="105593" cy="1571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82" name="Google Shape;682;p4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8625" y="3188345"/>
            <a:ext cx="105593" cy="1571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83" name="Google Shape;683;p4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8625" y="3666976"/>
            <a:ext cx="105593" cy="157163"/>
          </a:xfrm>
          <a:prstGeom prst="rect">
            <a:avLst/>
          </a:prstGeom>
          <a:noFill/>
          <a:ln>
            <a:noFill/>
          </a:ln>
        </p:spPr>
      </p:pic>
      <p:sp>
        <p:nvSpPr>
          <p:cNvPr id="684" name="Google Shape;684;p49"/>
          <p:cNvSpPr txBox="1"/>
          <p:nvPr/>
        </p:nvSpPr>
        <p:spPr>
          <a:xfrm>
            <a:off x="600075" y="428625"/>
            <a:ext cx="8520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27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EXECUTIVE </a:t>
            </a:r>
            <a:r>
              <a:rPr b="1" i="0" lang="ko" sz="2700" u="none" cap="none" strike="noStrike">
                <a:solidFill>
                  <a:srgbClr val="FFCC00"/>
                </a:solidFill>
                <a:latin typeface="Urbanist"/>
                <a:ea typeface="Urbanist"/>
                <a:cs typeface="Urbanist"/>
                <a:sym typeface="Urbanist"/>
              </a:rPr>
              <a:t>SUMMARY</a:t>
            </a:r>
            <a:endParaRPr sz="1100"/>
          </a:p>
        </p:txBody>
      </p:sp>
      <p:sp>
        <p:nvSpPr>
          <p:cNvPr id="685" name="Google Shape;685;p49"/>
          <p:cNvSpPr/>
          <p:nvPr/>
        </p:nvSpPr>
        <p:spPr>
          <a:xfrm>
            <a:off x="428625" y="428625"/>
            <a:ext cx="57000" cy="4116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690" name="Google Shape;690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91" name="Google Shape;691;p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625" y="3682491"/>
            <a:ext cx="8286750" cy="49146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92" name="Google Shape;692;p5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8625" y="1666614"/>
            <a:ext cx="2647875" cy="18015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93" name="Google Shape;693;p5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247950" y="1666614"/>
            <a:ext cx="2647987" cy="18015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94" name="Google Shape;694;p5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67388" y="1666614"/>
            <a:ext cx="2647875" cy="1801564"/>
          </a:xfrm>
          <a:prstGeom prst="rect">
            <a:avLst/>
          </a:prstGeom>
          <a:noFill/>
          <a:ln>
            <a:noFill/>
          </a:ln>
        </p:spPr>
      </p:pic>
      <p:sp>
        <p:nvSpPr>
          <p:cNvPr id="695" name="Google Shape;695;p50"/>
          <p:cNvSpPr txBox="1"/>
          <p:nvPr/>
        </p:nvSpPr>
        <p:spPr>
          <a:xfrm>
            <a:off x="571500" y="3825366"/>
            <a:ext cx="80010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00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000" u="none" cap="none" strike="noStrike">
                <a:solidFill>
                  <a:srgbClr val="FFCC00"/>
                </a:solidFill>
                <a:latin typeface="Urbanist"/>
                <a:ea typeface="Urbanist"/>
                <a:cs typeface="Urbanist"/>
                <a:sym typeface="Urbanist"/>
              </a:rPr>
              <a:t>Lesson Learned:</a:t>
            </a:r>
            <a:r>
              <a:rPr b="0" i="0" lang="ko" sz="1000" u="none" cap="none" strike="noStrike">
                <a:solidFill>
                  <a:srgbClr val="FFCC00"/>
                </a:solidFill>
                <a:latin typeface="Urbanist"/>
                <a:ea typeface="Urbanist"/>
                <a:cs typeface="Urbanist"/>
                <a:sym typeface="Urbanist"/>
              </a:rPr>
              <a:t> 소규모 데이터일수록 검증 데이터의 존재가 성능 모니터링에 절대적임.</a:t>
            </a:r>
            <a:endParaRPr sz="1100"/>
          </a:p>
        </p:txBody>
      </p:sp>
      <p:sp>
        <p:nvSpPr>
          <p:cNvPr id="696" name="Google Shape;696;p50"/>
          <p:cNvSpPr txBox="1"/>
          <p:nvPr/>
        </p:nvSpPr>
        <p:spPr>
          <a:xfrm>
            <a:off x="650081" y="2338127"/>
            <a:ext cx="2315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4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전략 개요</a:t>
            </a:r>
            <a:endParaRPr sz="1100"/>
          </a:p>
        </p:txBody>
      </p:sp>
      <p:sp>
        <p:nvSpPr>
          <p:cNvPr id="697" name="Google Shape;697;p50"/>
          <p:cNvSpPr txBox="1"/>
          <p:nvPr/>
        </p:nvSpPr>
        <p:spPr>
          <a:xfrm>
            <a:off x="650081" y="2629569"/>
            <a:ext cx="2205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00" u="none" cap="none" strike="noStrik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검증용 20%를 포기하지 않고 100% 학습에 투입. 이전 실험의 최적 Epoch(12)을 고정 적용.</a:t>
            </a:r>
            <a:endParaRPr sz="1100"/>
          </a:p>
        </p:txBody>
      </p:sp>
      <p:sp>
        <p:nvSpPr>
          <p:cNvPr id="698" name="Google Shape;698;p50"/>
          <p:cNvSpPr txBox="1"/>
          <p:nvPr/>
        </p:nvSpPr>
        <p:spPr>
          <a:xfrm>
            <a:off x="3469406" y="2338127"/>
            <a:ext cx="2315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4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스코어: 0.812</a:t>
            </a:r>
            <a:endParaRPr sz="1100"/>
          </a:p>
        </p:txBody>
      </p:sp>
      <p:sp>
        <p:nvSpPr>
          <p:cNvPr id="699" name="Google Shape;699;p50"/>
          <p:cNvSpPr txBox="1"/>
          <p:nvPr/>
        </p:nvSpPr>
        <p:spPr>
          <a:xfrm>
            <a:off x="3469406" y="2629569"/>
            <a:ext cx="2205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00" u="none" cap="none" strike="noStrik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실험군 중 가장 낮은 성능 기록. 데이터 양은 늘었으나 '나침반'을 잃은 격.</a:t>
            </a:r>
            <a:endParaRPr sz="1100"/>
          </a:p>
        </p:txBody>
      </p:sp>
      <p:sp>
        <p:nvSpPr>
          <p:cNvPr id="700" name="Google Shape;700;p50"/>
          <p:cNvSpPr txBox="1"/>
          <p:nvPr/>
        </p:nvSpPr>
        <p:spPr>
          <a:xfrm>
            <a:off x="6288844" y="2338127"/>
            <a:ext cx="2315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4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원인 분석</a:t>
            </a:r>
            <a:endParaRPr sz="1100"/>
          </a:p>
        </p:txBody>
      </p:sp>
      <p:sp>
        <p:nvSpPr>
          <p:cNvPr id="701" name="Google Shape;701;p50"/>
          <p:cNvSpPr txBox="1"/>
          <p:nvPr/>
        </p:nvSpPr>
        <p:spPr>
          <a:xfrm>
            <a:off x="6288844" y="2629569"/>
            <a:ext cx="2205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00" u="none" cap="none" strike="noStrik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Early Stopping 부재로 인한 과적합 발생. 검증 데이터가 없어 모델의 학습 정지 시점 파악 불가.</a:t>
            </a:r>
            <a:endParaRPr sz="1100"/>
          </a:p>
        </p:txBody>
      </p:sp>
      <p:pic>
        <p:nvPicPr>
          <p:cNvPr descr="image.png" id="702" name="Google Shape;702;p5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3861085"/>
            <a:ext cx="100013" cy="1285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03" name="Google Shape;703;p5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0081" y="1909502"/>
            <a:ext cx="22860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04" name="Google Shape;704;p5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469406" y="1909502"/>
            <a:ext cx="257175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05" name="Google Shape;705;p5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288844" y="1909502"/>
            <a:ext cx="257175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706" name="Google Shape;706;p50"/>
          <p:cNvSpPr txBox="1"/>
          <p:nvPr/>
        </p:nvSpPr>
        <p:spPr>
          <a:xfrm>
            <a:off x="600075" y="428625"/>
            <a:ext cx="8520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27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STRATEGY A: </a:t>
            </a:r>
            <a:r>
              <a:rPr b="1" i="0" lang="ko" sz="2700" u="none" cap="none" strike="noStrike">
                <a:solidFill>
                  <a:srgbClr val="FFCC00"/>
                </a:solidFill>
                <a:latin typeface="Urbanist"/>
                <a:ea typeface="Urbanist"/>
                <a:cs typeface="Urbanist"/>
                <a:sym typeface="Urbanist"/>
              </a:rPr>
              <a:t>FULL DATA</a:t>
            </a:r>
            <a:endParaRPr sz="1100"/>
          </a:p>
        </p:txBody>
      </p:sp>
      <p:sp>
        <p:nvSpPr>
          <p:cNvPr id="707" name="Google Shape;707;p50"/>
          <p:cNvSpPr/>
          <p:nvPr/>
        </p:nvSpPr>
        <p:spPr>
          <a:xfrm>
            <a:off x="428625" y="428625"/>
            <a:ext cx="57000" cy="4116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712" name="Google Shape;712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13" name="Google Shape;713;p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86313" y="1491592"/>
            <a:ext cx="3929063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14" name="Google Shape;714;p5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8625" y="1491593"/>
            <a:ext cx="1133624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715" name="Google Shape;715;p51"/>
          <p:cNvSpPr txBox="1"/>
          <p:nvPr/>
        </p:nvSpPr>
        <p:spPr>
          <a:xfrm>
            <a:off x="428625" y="1798774"/>
            <a:ext cx="41256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1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정교한 일반화의 승리</a:t>
            </a:r>
            <a:endParaRPr sz="1100"/>
          </a:p>
        </p:txBody>
      </p:sp>
      <p:sp>
        <p:nvSpPr>
          <p:cNvPr id="716" name="Google Shape;716;p51"/>
          <p:cNvSpPr txBox="1"/>
          <p:nvPr/>
        </p:nvSpPr>
        <p:spPr>
          <a:xfrm>
            <a:off x="428625" y="1959173"/>
            <a:ext cx="3929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00" u="none" cap="none" strike="noStrik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데이터를 5개로 쪼개어 모든 데이터를 학습과 검증에 번갈아 사용한 후, 5개 모델의 예측치를 평균 내는 방식입니다.</a:t>
            </a:r>
            <a:endParaRPr sz="1100"/>
          </a:p>
        </p:txBody>
      </p:sp>
      <p:pic>
        <p:nvPicPr>
          <p:cNvPr descr="image.png" id="717" name="Google Shape;717;p5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93456" y="1498736"/>
            <a:ext cx="3914775" cy="2843212"/>
          </a:xfrm>
          <a:prstGeom prst="rect">
            <a:avLst/>
          </a:prstGeom>
          <a:noFill/>
          <a:ln>
            <a:noFill/>
          </a:ln>
        </p:spPr>
      </p:pic>
      <p:sp>
        <p:nvSpPr>
          <p:cNvPr id="718" name="Google Shape;718;p51"/>
          <p:cNvSpPr txBox="1"/>
          <p:nvPr/>
        </p:nvSpPr>
        <p:spPr>
          <a:xfrm>
            <a:off x="678656" y="2513483"/>
            <a:ext cx="36789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1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Score:</a:t>
            </a:r>
            <a:r>
              <a:rPr b="0" i="0" lang="ko" sz="11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0.91817 (최고점)</a:t>
            </a:r>
            <a:endParaRPr sz="1100"/>
          </a:p>
        </p:txBody>
      </p:sp>
      <p:sp>
        <p:nvSpPr>
          <p:cNvPr id="719" name="Google Shape;719;p51"/>
          <p:cNvSpPr txBox="1"/>
          <p:nvPr/>
        </p:nvSpPr>
        <p:spPr>
          <a:xfrm>
            <a:off x="678656" y="2806377"/>
            <a:ext cx="36789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1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장점:</a:t>
            </a:r>
            <a:r>
              <a:rPr b="0" i="0" lang="ko" sz="11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검증 데이터 불일치 문제 완벽 해결</a:t>
            </a:r>
            <a:endParaRPr sz="1100"/>
          </a:p>
        </p:txBody>
      </p:sp>
      <p:sp>
        <p:nvSpPr>
          <p:cNvPr id="720" name="Google Shape;720;p51"/>
          <p:cNvSpPr txBox="1"/>
          <p:nvPr/>
        </p:nvSpPr>
        <p:spPr>
          <a:xfrm>
            <a:off x="678656" y="3099271"/>
            <a:ext cx="36789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1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장점:</a:t>
            </a:r>
            <a:r>
              <a:rPr b="0" i="0" lang="ko" sz="11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단일 모델보다 훨씬 견고한 예측력 확보</a:t>
            </a:r>
            <a:endParaRPr sz="1100"/>
          </a:p>
        </p:txBody>
      </p:sp>
      <p:sp>
        <p:nvSpPr>
          <p:cNvPr id="721" name="Google Shape;721;p51"/>
          <p:cNvSpPr txBox="1"/>
          <p:nvPr/>
        </p:nvSpPr>
        <p:spPr>
          <a:xfrm>
            <a:off x="678656" y="3392164"/>
            <a:ext cx="36789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1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단점:</a:t>
            </a:r>
            <a:r>
              <a:rPr b="0" i="0" lang="ko" sz="11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학습 시간이 단일 모델 대비 5배 소요</a:t>
            </a:r>
            <a:endParaRPr sz="1100"/>
          </a:p>
        </p:txBody>
      </p:sp>
      <p:sp>
        <p:nvSpPr>
          <p:cNvPr id="722" name="Google Shape;722;p51"/>
          <p:cNvSpPr txBox="1"/>
          <p:nvPr/>
        </p:nvSpPr>
        <p:spPr>
          <a:xfrm>
            <a:off x="600075" y="428625"/>
            <a:ext cx="8520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27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STRATEGY B: </a:t>
            </a:r>
            <a:r>
              <a:rPr b="1" i="0" lang="ko" sz="2700" u="none" cap="none" strike="noStrike">
                <a:solidFill>
                  <a:srgbClr val="FFCC00"/>
                </a:solidFill>
                <a:latin typeface="Urbanist"/>
                <a:ea typeface="Urbanist"/>
                <a:cs typeface="Urbanist"/>
                <a:sym typeface="Urbanist"/>
              </a:rPr>
              <a:t>5-FOLD ENSEMBLE</a:t>
            </a:r>
            <a:endParaRPr sz="1100"/>
          </a:p>
        </p:txBody>
      </p:sp>
      <p:sp>
        <p:nvSpPr>
          <p:cNvPr id="723" name="Google Shape;723;p51"/>
          <p:cNvSpPr/>
          <p:nvPr/>
        </p:nvSpPr>
        <p:spPr>
          <a:xfrm>
            <a:off x="428625" y="428625"/>
            <a:ext cx="57000" cy="4116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728" name="Google Shape;728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29" name="Google Shape;729;p5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625" y="1870769"/>
            <a:ext cx="3929063" cy="2099146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52"/>
          <p:cNvSpPr txBox="1"/>
          <p:nvPr/>
        </p:nvSpPr>
        <p:spPr>
          <a:xfrm>
            <a:off x="714375" y="2156519"/>
            <a:ext cx="35256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100" u="none" cap="none" strike="noStrike">
                <a:solidFill>
                  <a:srgbClr val="00D2FF"/>
                </a:solidFill>
                <a:latin typeface="Urbanist"/>
                <a:ea typeface="Urbanist"/>
                <a:cs typeface="Urbanist"/>
                <a:sym typeface="Urbanist"/>
              </a:rPr>
              <a:t>Mixup 제거 후 원복</a:t>
            </a:r>
            <a:endParaRPr sz="1100"/>
          </a:p>
        </p:txBody>
      </p:sp>
      <p:sp>
        <p:nvSpPr>
          <p:cNvPr id="731" name="Google Shape;731;p52"/>
          <p:cNvSpPr txBox="1"/>
          <p:nvPr/>
        </p:nvSpPr>
        <p:spPr>
          <a:xfrm>
            <a:off x="714375" y="2424075"/>
            <a:ext cx="335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00" u="none" cap="none" strike="noStrik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이미지 합성 증강 기법인 Mixup을 제거하고 정통 방식으로 학습한 결과입니다.</a:t>
            </a:r>
            <a:endParaRPr sz="1100"/>
          </a:p>
        </p:txBody>
      </p:sp>
      <p:sp>
        <p:nvSpPr>
          <p:cNvPr id="732" name="Google Shape;732;p52"/>
          <p:cNvSpPr txBox="1"/>
          <p:nvPr/>
        </p:nvSpPr>
        <p:spPr>
          <a:xfrm>
            <a:off x="714375" y="2978385"/>
            <a:ext cx="3357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3400" u="none" cap="none" strike="noStrike">
                <a:solidFill>
                  <a:srgbClr val="FFCC00"/>
                </a:solidFill>
                <a:latin typeface="Urbanist"/>
                <a:ea typeface="Urbanist"/>
                <a:cs typeface="Urbanist"/>
                <a:sym typeface="Urbanist"/>
              </a:rPr>
              <a:t>0.90640</a:t>
            </a:r>
            <a:endParaRPr sz="1100"/>
          </a:p>
        </p:txBody>
      </p:sp>
      <p:sp>
        <p:nvSpPr>
          <p:cNvPr id="733" name="Google Shape;733;p52"/>
          <p:cNvSpPr txBox="1"/>
          <p:nvPr/>
        </p:nvSpPr>
        <p:spPr>
          <a:xfrm>
            <a:off x="714375" y="3478448"/>
            <a:ext cx="3357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00" u="none" cap="none" strike="noStrik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기본기가 탄탄한 모델 성능 확인</a:t>
            </a:r>
            <a:endParaRPr sz="1100"/>
          </a:p>
        </p:txBody>
      </p:sp>
      <p:sp>
        <p:nvSpPr>
          <p:cNvPr id="734" name="Google Shape;734;p52"/>
          <p:cNvSpPr txBox="1"/>
          <p:nvPr/>
        </p:nvSpPr>
        <p:spPr>
          <a:xfrm>
            <a:off x="4786313" y="1870769"/>
            <a:ext cx="41256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1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장단점 분석</a:t>
            </a:r>
            <a:endParaRPr sz="1100"/>
          </a:p>
        </p:txBody>
      </p:sp>
      <p:sp>
        <p:nvSpPr>
          <p:cNvPr id="735" name="Google Shape;735;p52"/>
          <p:cNvSpPr txBox="1"/>
          <p:nvPr/>
        </p:nvSpPr>
        <p:spPr>
          <a:xfrm>
            <a:off x="4786313" y="2031169"/>
            <a:ext cx="39291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00" u="none" cap="none" strike="noStrik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복잡한 기법 없이 순수 데이터 특성만으로 승부하는 방식입니다.</a:t>
            </a:r>
            <a:endParaRPr sz="1100"/>
          </a:p>
        </p:txBody>
      </p:sp>
      <p:sp>
        <p:nvSpPr>
          <p:cNvPr id="736" name="Google Shape;736;p52"/>
          <p:cNvSpPr txBox="1"/>
          <p:nvPr/>
        </p:nvSpPr>
        <p:spPr>
          <a:xfrm>
            <a:off x="5036344" y="2379761"/>
            <a:ext cx="36789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1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Pros:</a:t>
            </a:r>
            <a:r>
              <a:rPr b="0" i="0" lang="ko" sz="11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클래스 간 경계가 명확한 데이터에서 효과적</a:t>
            </a:r>
            <a:endParaRPr sz="1100"/>
          </a:p>
        </p:txBody>
      </p:sp>
      <p:sp>
        <p:nvSpPr>
          <p:cNvPr id="737" name="Google Shape;737;p52"/>
          <p:cNvSpPr txBox="1"/>
          <p:nvPr/>
        </p:nvSpPr>
        <p:spPr>
          <a:xfrm>
            <a:off x="5036344" y="2672655"/>
            <a:ext cx="36789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1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Pros:</a:t>
            </a:r>
            <a:r>
              <a:rPr b="0" i="0" lang="ko" sz="11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학습 노이즈가 적어 빠른 수렴 가능</a:t>
            </a:r>
            <a:endParaRPr sz="1100"/>
          </a:p>
        </p:txBody>
      </p:sp>
      <p:sp>
        <p:nvSpPr>
          <p:cNvPr id="738" name="Google Shape;738;p52"/>
          <p:cNvSpPr txBox="1"/>
          <p:nvPr/>
        </p:nvSpPr>
        <p:spPr>
          <a:xfrm>
            <a:off x="5036344" y="2965549"/>
            <a:ext cx="36789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1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Cons:</a:t>
            </a:r>
            <a:r>
              <a:rPr b="0" i="0" lang="ko" sz="11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데이터 다양성 확보에 한계</a:t>
            </a:r>
            <a:endParaRPr sz="1100"/>
          </a:p>
        </p:txBody>
      </p:sp>
      <p:sp>
        <p:nvSpPr>
          <p:cNvPr id="739" name="Google Shape;739;p52"/>
          <p:cNvSpPr txBox="1"/>
          <p:nvPr/>
        </p:nvSpPr>
        <p:spPr>
          <a:xfrm>
            <a:off x="5036344" y="3258443"/>
            <a:ext cx="36789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1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Cons:</a:t>
            </a:r>
            <a:r>
              <a:rPr b="0" i="0" lang="ko" sz="11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앙상블 대비 낮은 일반화 스코어</a:t>
            </a:r>
            <a:endParaRPr sz="1100"/>
          </a:p>
        </p:txBody>
      </p:sp>
      <p:pic>
        <p:nvPicPr>
          <p:cNvPr descr="image.png" id="740" name="Google Shape;740;p5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86313" y="2404765"/>
            <a:ext cx="77353" cy="1571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41" name="Google Shape;741;p5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86313" y="2697659"/>
            <a:ext cx="77353" cy="1571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42" name="Google Shape;742;p5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86313" y="2990552"/>
            <a:ext cx="105593" cy="1571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43" name="Google Shape;743;p5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86313" y="3283446"/>
            <a:ext cx="105593" cy="157163"/>
          </a:xfrm>
          <a:prstGeom prst="rect">
            <a:avLst/>
          </a:prstGeom>
          <a:noFill/>
          <a:ln>
            <a:noFill/>
          </a:ln>
        </p:spPr>
      </p:pic>
      <p:sp>
        <p:nvSpPr>
          <p:cNvPr id="744" name="Google Shape;744;p52"/>
          <p:cNvSpPr txBox="1"/>
          <p:nvPr/>
        </p:nvSpPr>
        <p:spPr>
          <a:xfrm>
            <a:off x="600075" y="428625"/>
            <a:ext cx="8520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27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STRATEGY C: </a:t>
            </a:r>
            <a:r>
              <a:rPr b="1" i="0" lang="ko" sz="2700" u="none" cap="none" strike="noStrike">
                <a:solidFill>
                  <a:srgbClr val="FFCC00"/>
                </a:solidFill>
                <a:latin typeface="Urbanist"/>
                <a:ea typeface="Urbanist"/>
                <a:cs typeface="Urbanist"/>
                <a:sym typeface="Urbanist"/>
              </a:rPr>
              <a:t>NO MIXUP</a:t>
            </a:r>
            <a:endParaRPr sz="1100"/>
          </a:p>
        </p:txBody>
      </p:sp>
      <p:sp>
        <p:nvSpPr>
          <p:cNvPr id="745" name="Google Shape;745;p52"/>
          <p:cNvSpPr/>
          <p:nvPr/>
        </p:nvSpPr>
        <p:spPr>
          <a:xfrm>
            <a:off x="428625" y="428625"/>
            <a:ext cx="57000" cy="4116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750" name="Google Shape;750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51" name="Google Shape;751;p5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625" y="1729346"/>
            <a:ext cx="5467314" cy="15958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52" name="Google Shape;752;p5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67388" y="1729346"/>
            <a:ext cx="2647875" cy="1595846"/>
          </a:xfrm>
          <a:prstGeom prst="rect">
            <a:avLst/>
          </a:prstGeom>
          <a:noFill/>
          <a:ln>
            <a:noFill/>
          </a:ln>
        </p:spPr>
      </p:pic>
      <p:sp>
        <p:nvSpPr>
          <p:cNvPr id="753" name="Google Shape;753;p53"/>
          <p:cNvSpPr txBox="1"/>
          <p:nvPr/>
        </p:nvSpPr>
        <p:spPr>
          <a:xfrm>
            <a:off x="650081" y="2400858"/>
            <a:ext cx="5275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4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전략: Mixup 적용 + AUROC 기반 Early Stopping</a:t>
            </a:r>
            <a:endParaRPr sz="1100"/>
          </a:p>
        </p:txBody>
      </p:sp>
      <p:sp>
        <p:nvSpPr>
          <p:cNvPr id="754" name="Google Shape;754;p53"/>
          <p:cNvSpPr txBox="1"/>
          <p:nvPr/>
        </p:nvSpPr>
        <p:spPr>
          <a:xfrm>
            <a:off x="650081" y="2692301"/>
            <a:ext cx="5024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00" u="none" cap="none" strike="noStrik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단순 Accuracy가 아닌 AUROC를 기준으로 가장 성능이 좋은 시점의 가중치를 저장하고, 5-Fold 앙상블을 수행했습니다.</a:t>
            </a:r>
            <a:endParaRPr sz="1100"/>
          </a:p>
        </p:txBody>
      </p:sp>
      <p:sp>
        <p:nvSpPr>
          <p:cNvPr id="755" name="Google Shape;755;p53"/>
          <p:cNvSpPr txBox="1"/>
          <p:nvPr/>
        </p:nvSpPr>
        <p:spPr>
          <a:xfrm>
            <a:off x="6288844" y="1950802"/>
            <a:ext cx="2205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2800" u="none" cap="none" strike="noStrike">
                <a:solidFill>
                  <a:srgbClr val="FFCC00"/>
                </a:solidFill>
                <a:latin typeface="Urbanist"/>
                <a:ea typeface="Urbanist"/>
                <a:cs typeface="Urbanist"/>
                <a:sym typeface="Urbanist"/>
              </a:rPr>
              <a:t>0.91205</a:t>
            </a:r>
            <a:endParaRPr sz="1100"/>
          </a:p>
        </p:txBody>
      </p:sp>
      <p:sp>
        <p:nvSpPr>
          <p:cNvPr id="756" name="Google Shape;756;p53"/>
          <p:cNvSpPr txBox="1"/>
          <p:nvPr/>
        </p:nvSpPr>
        <p:spPr>
          <a:xfrm>
            <a:off x="6288844" y="2307989"/>
            <a:ext cx="22050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00" u="none" cap="none" strike="noStrik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준수한 성능 기록</a:t>
            </a:r>
            <a:endParaRPr sz="1100"/>
          </a:p>
        </p:txBody>
      </p:sp>
      <p:sp>
        <p:nvSpPr>
          <p:cNvPr id="757" name="Google Shape;757;p53"/>
          <p:cNvSpPr txBox="1"/>
          <p:nvPr/>
        </p:nvSpPr>
        <p:spPr>
          <a:xfrm>
            <a:off x="428625" y="3539504"/>
            <a:ext cx="41256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1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왜 전략 B보다 낮은가?</a:t>
            </a:r>
            <a:endParaRPr sz="1100"/>
          </a:p>
        </p:txBody>
      </p:sp>
      <p:sp>
        <p:nvSpPr>
          <p:cNvPr id="758" name="Google Shape;758;p53"/>
          <p:cNvSpPr txBox="1"/>
          <p:nvPr/>
        </p:nvSpPr>
        <p:spPr>
          <a:xfrm>
            <a:off x="428625" y="3699904"/>
            <a:ext cx="3929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00" u="none" cap="none" strike="noStrik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Mixup은 가상의 데이터를 생성하여 정규화 효과를 주지만, 태양광 패널의 미세한 '먼지 질감' 정보를 희석시켰을 가능성이 존재합니다.</a:t>
            </a:r>
            <a:endParaRPr sz="1100"/>
          </a:p>
        </p:txBody>
      </p:sp>
      <p:sp>
        <p:nvSpPr>
          <p:cNvPr id="759" name="Google Shape;759;p53"/>
          <p:cNvSpPr txBox="1"/>
          <p:nvPr/>
        </p:nvSpPr>
        <p:spPr>
          <a:xfrm>
            <a:off x="4786313" y="3539504"/>
            <a:ext cx="41256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1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AUROC 모니터링의 의의</a:t>
            </a:r>
            <a:endParaRPr sz="1100"/>
          </a:p>
        </p:txBody>
      </p:sp>
      <p:sp>
        <p:nvSpPr>
          <p:cNvPr id="760" name="Google Shape;760;p53"/>
          <p:cNvSpPr txBox="1"/>
          <p:nvPr/>
        </p:nvSpPr>
        <p:spPr>
          <a:xfrm>
            <a:off x="4786313" y="3699904"/>
            <a:ext cx="3929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00" u="none" cap="none" strike="noStrik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불균형 데이터가 아님에도 AUROC를 사용함으로써 모델의 '판별력' 자체를 극대화하려는 시도는 매우 유의미한 접근이었습니다.</a:t>
            </a:r>
            <a:endParaRPr sz="1100"/>
          </a:p>
        </p:txBody>
      </p:sp>
      <p:pic>
        <p:nvPicPr>
          <p:cNvPr descr="image.png" id="761" name="Google Shape;761;p5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0081" y="1972233"/>
            <a:ext cx="321469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762" name="Google Shape;762;p53"/>
          <p:cNvSpPr txBox="1"/>
          <p:nvPr/>
        </p:nvSpPr>
        <p:spPr>
          <a:xfrm>
            <a:off x="600075" y="428625"/>
            <a:ext cx="8520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27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STRATEGY D: </a:t>
            </a:r>
            <a:r>
              <a:rPr b="1" i="0" lang="ko" sz="2700" u="none" cap="none" strike="noStrike">
                <a:solidFill>
                  <a:srgbClr val="FFCC00"/>
                </a:solidFill>
                <a:latin typeface="Urbanist"/>
                <a:ea typeface="Urbanist"/>
                <a:cs typeface="Urbanist"/>
                <a:sym typeface="Urbanist"/>
              </a:rPr>
              <a:t>MIXUP + AUROC</a:t>
            </a:r>
            <a:endParaRPr sz="1100"/>
          </a:p>
        </p:txBody>
      </p:sp>
      <p:sp>
        <p:nvSpPr>
          <p:cNvPr id="763" name="Google Shape;763;p53"/>
          <p:cNvSpPr/>
          <p:nvPr/>
        </p:nvSpPr>
        <p:spPr>
          <a:xfrm>
            <a:off x="428625" y="428625"/>
            <a:ext cx="57000" cy="4116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768" name="Google Shape;768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69" name="Google Shape;769;p5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625" y="3134655"/>
            <a:ext cx="8286750" cy="1285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70" name="Google Shape;770;p5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8625" y="1125810"/>
            <a:ext cx="8286750" cy="35890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71" name="Google Shape;771;p5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5769" y="3141799"/>
            <a:ext cx="8272462" cy="1271587"/>
          </a:xfrm>
          <a:prstGeom prst="rect">
            <a:avLst/>
          </a:prstGeom>
          <a:noFill/>
          <a:ln>
            <a:noFill/>
          </a:ln>
        </p:spPr>
      </p:pic>
      <p:sp>
        <p:nvSpPr>
          <p:cNvPr id="772" name="Google Shape;772;p54"/>
          <p:cNvSpPr txBox="1"/>
          <p:nvPr/>
        </p:nvSpPr>
        <p:spPr>
          <a:xfrm>
            <a:off x="600075" y="428625"/>
            <a:ext cx="8520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27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PERFORMANCE </a:t>
            </a:r>
            <a:r>
              <a:rPr b="1" i="0" lang="ko" sz="2700" u="none" cap="none" strike="noStrike">
                <a:solidFill>
                  <a:srgbClr val="FFCC00"/>
                </a:solidFill>
                <a:latin typeface="Urbanist"/>
                <a:ea typeface="Urbanist"/>
                <a:cs typeface="Urbanist"/>
                <a:sym typeface="Urbanist"/>
              </a:rPr>
              <a:t>LEADERBOARD</a:t>
            </a:r>
            <a:endParaRPr sz="1100"/>
          </a:p>
        </p:txBody>
      </p:sp>
      <p:sp>
        <p:nvSpPr>
          <p:cNvPr id="773" name="Google Shape;773;p54"/>
          <p:cNvSpPr/>
          <p:nvPr/>
        </p:nvSpPr>
        <p:spPr>
          <a:xfrm>
            <a:off x="428625" y="428625"/>
            <a:ext cx="57000" cy="4116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" name="Google Shape;774;p54"/>
          <p:cNvSpPr txBox="1"/>
          <p:nvPr/>
        </p:nvSpPr>
        <p:spPr>
          <a:xfrm>
            <a:off x="-2336400" y="966325"/>
            <a:ext cx="19776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efficientnet-b0 pre-trained모델 그대로 사용.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전략별 제출한 성능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779" name="Google Shape;77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80" name="Google Shape;780;p5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14975" y="1071563"/>
            <a:ext cx="3200400" cy="107870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81" name="Google Shape;781;p5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514975" y="2293144"/>
            <a:ext cx="3200400" cy="15533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82" name="Google Shape;782;p5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514975" y="3989338"/>
            <a:ext cx="3200400" cy="107870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83" name="Google Shape;783;p5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686425" y="3336131"/>
            <a:ext cx="2886075" cy="3674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784" name="Google Shape;784;p5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28625" y="1071563"/>
            <a:ext cx="8286750" cy="3996482"/>
          </a:xfrm>
          <a:prstGeom prst="rect">
            <a:avLst/>
          </a:prstGeom>
          <a:noFill/>
          <a:ln>
            <a:noFill/>
          </a:ln>
        </p:spPr>
      </p:pic>
      <p:sp>
        <p:nvSpPr>
          <p:cNvPr id="785" name="Google Shape;785;p55"/>
          <p:cNvSpPr txBox="1"/>
          <p:nvPr/>
        </p:nvSpPr>
        <p:spPr>
          <a:xfrm>
            <a:off x="5686425" y="1214438"/>
            <a:ext cx="3030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100" u="none" cap="none" strike="noStrike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1. 수렴 속도 (Convergence Rate)</a:t>
            </a:r>
            <a:endParaRPr sz="1100"/>
          </a:p>
        </p:txBody>
      </p:sp>
      <p:sp>
        <p:nvSpPr>
          <p:cNvPr id="786" name="Google Shape;786;p55"/>
          <p:cNvSpPr txBox="1"/>
          <p:nvPr/>
        </p:nvSpPr>
        <p:spPr>
          <a:xfrm>
            <a:off x="5686425" y="1493044"/>
            <a:ext cx="2886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900" u="none" cap="none" strike="noStrik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EfficientNet 대비 MaxViT와 ConvNeXt 계열은 초기 5 Epoch 이내에 손실값이 50% 이상 급감하며 매우 효율적인 특징 추출 능력을 보여줌.</a:t>
            </a:r>
            <a:endParaRPr sz="1100"/>
          </a:p>
        </p:txBody>
      </p:sp>
      <p:sp>
        <p:nvSpPr>
          <p:cNvPr id="787" name="Google Shape;787;p55"/>
          <p:cNvSpPr txBox="1"/>
          <p:nvPr/>
        </p:nvSpPr>
        <p:spPr>
          <a:xfrm>
            <a:off x="5686425" y="2436019"/>
            <a:ext cx="3030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100" u="none" cap="none" strike="noStrike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2. 일반화 간극 (Generalization Gap)</a:t>
            </a:r>
            <a:endParaRPr sz="1100"/>
          </a:p>
        </p:txBody>
      </p:sp>
      <p:sp>
        <p:nvSpPr>
          <p:cNvPr id="788" name="Google Shape;788;p55"/>
          <p:cNvSpPr txBox="1"/>
          <p:nvPr/>
        </p:nvSpPr>
        <p:spPr>
          <a:xfrm>
            <a:off x="5686425" y="2714625"/>
            <a:ext cx="2886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900" u="none" cap="none" strike="noStrik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1,100장의 소규모 데이터셋임에도 불구하고, 하이브리드 모델들은 Train/Val Loss 간격이 0.02 이하로 유지되며 과적합(Overfitting)을 효과적으로 억제함.</a:t>
            </a:r>
            <a:endParaRPr sz="1100"/>
          </a:p>
        </p:txBody>
      </p:sp>
      <p:sp>
        <p:nvSpPr>
          <p:cNvPr id="789" name="Google Shape;789;p55"/>
          <p:cNvSpPr txBox="1"/>
          <p:nvPr/>
        </p:nvSpPr>
        <p:spPr>
          <a:xfrm>
            <a:off x="5686425" y="4132213"/>
            <a:ext cx="3030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100" u="none" cap="none" strike="noStrike">
                <a:solidFill>
                  <a:srgbClr val="FBBF24"/>
                </a:solidFill>
                <a:latin typeface="Noto Sans KR"/>
                <a:ea typeface="Noto Sans KR"/>
                <a:cs typeface="Noto Sans KR"/>
                <a:sym typeface="Noto Sans KR"/>
              </a:rPr>
              <a:t>3. 최적 모델 학습 동향</a:t>
            </a:r>
            <a:endParaRPr sz="1100"/>
          </a:p>
        </p:txBody>
      </p:sp>
      <p:sp>
        <p:nvSpPr>
          <p:cNvPr id="790" name="Google Shape;790;p55"/>
          <p:cNvSpPr txBox="1"/>
          <p:nvPr/>
        </p:nvSpPr>
        <p:spPr>
          <a:xfrm>
            <a:off x="5686425" y="4410819"/>
            <a:ext cx="2886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900" u="none" cap="none" strike="noStrik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MaxViT (Best):</a:t>
            </a:r>
            <a:r>
              <a:rPr b="0" i="0" lang="ko" sz="900" u="none" cap="none" strike="noStrik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Grid/Window Attention의 결합으로 패널의 미세 오염과 전역적 색상 왜곡을 동시에 학습하여 가장 낮은 최종 검증 손실 도달.</a:t>
            </a:r>
            <a:endParaRPr sz="1100"/>
          </a:p>
        </p:txBody>
      </p:sp>
      <p:pic>
        <p:nvPicPr>
          <p:cNvPr descr="image.png" id="791" name="Google Shape;791;p5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57863" y="3407569"/>
            <a:ext cx="1174031" cy="224582"/>
          </a:xfrm>
          <a:prstGeom prst="rect">
            <a:avLst/>
          </a:prstGeom>
          <a:noFill/>
          <a:ln>
            <a:noFill/>
          </a:ln>
        </p:spPr>
      </p:pic>
      <p:sp>
        <p:nvSpPr>
          <p:cNvPr id="792" name="Google Shape;792;p55"/>
          <p:cNvSpPr txBox="1"/>
          <p:nvPr/>
        </p:nvSpPr>
        <p:spPr>
          <a:xfrm>
            <a:off x="428625" y="428625"/>
            <a:ext cx="8286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30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모델별 B 전략 </a:t>
            </a:r>
            <a:r>
              <a:rPr b="1" i="0" lang="ko" sz="23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학습 수렴도 및 </a:t>
            </a:r>
            <a:r>
              <a:rPr b="1" i="0" lang="ko" sz="2300" u="none" cap="none" strike="noStrike">
                <a:solidFill>
                  <a:srgbClr val="FBBF24"/>
                </a:solidFill>
                <a:latin typeface="Poppins"/>
                <a:ea typeface="Poppins"/>
                <a:cs typeface="Poppins"/>
                <a:sym typeface="Poppins"/>
              </a:rPr>
              <a:t>일반화 성능</a:t>
            </a:r>
            <a:r>
              <a:rPr b="1" i="0" lang="ko" sz="23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 통합 분석</a:t>
            </a:r>
            <a:endParaRPr sz="1100"/>
          </a:p>
        </p:txBody>
      </p:sp>
      <p:sp>
        <p:nvSpPr>
          <p:cNvPr id="793" name="Google Shape;793;p55"/>
          <p:cNvSpPr txBox="1"/>
          <p:nvPr/>
        </p:nvSpPr>
        <p:spPr>
          <a:xfrm>
            <a:off x="6015038" y="4807744"/>
            <a:ext cx="2700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700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Solar Panel Cleanliness Classification | Performance Metrics Report</a:t>
            </a:r>
            <a:endParaRPr sz="1100"/>
          </a:p>
        </p:txBody>
      </p:sp>
      <p:sp>
        <p:nvSpPr>
          <p:cNvPr id="794" name="Google Shape;794;p55"/>
          <p:cNvSpPr/>
          <p:nvPr/>
        </p:nvSpPr>
        <p:spPr>
          <a:xfrm>
            <a:off x="428625" y="857250"/>
            <a:ext cx="3307500" cy="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799" name="Google Shape;799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00" name="Google Shape;800;p5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625" y="1642132"/>
            <a:ext cx="3929063" cy="17944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01" name="Google Shape;801;p5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86313" y="1642132"/>
            <a:ext cx="3929063" cy="1794420"/>
          </a:xfrm>
          <a:prstGeom prst="rect">
            <a:avLst/>
          </a:prstGeom>
          <a:noFill/>
          <a:ln>
            <a:noFill/>
          </a:ln>
        </p:spPr>
      </p:pic>
      <p:sp>
        <p:nvSpPr>
          <p:cNvPr id="802" name="Google Shape;802;p56"/>
          <p:cNvSpPr txBox="1"/>
          <p:nvPr/>
        </p:nvSpPr>
        <p:spPr>
          <a:xfrm>
            <a:off x="650081" y="2306501"/>
            <a:ext cx="3660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4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왜 K-Fold인가?</a:t>
            </a:r>
            <a:endParaRPr sz="1100"/>
          </a:p>
        </p:txBody>
      </p:sp>
      <p:sp>
        <p:nvSpPr>
          <p:cNvPr id="803" name="Google Shape;803;p56"/>
          <p:cNvSpPr txBox="1"/>
          <p:nvPr/>
        </p:nvSpPr>
        <p:spPr>
          <a:xfrm>
            <a:off x="650081" y="2597944"/>
            <a:ext cx="3486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00" u="none" cap="none" strike="noStrik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데이터가 적을 때 단일 Validation Set은 '운'에 의존하게 됩니다. K-Fold는 전체 데이터의 통계적 특성을 골고루 학습에 반영하여 평가의 신뢰도를 높입니다.</a:t>
            </a:r>
            <a:endParaRPr sz="1100"/>
          </a:p>
        </p:txBody>
      </p:sp>
      <p:sp>
        <p:nvSpPr>
          <p:cNvPr id="804" name="Google Shape;804;p56"/>
          <p:cNvSpPr txBox="1"/>
          <p:nvPr/>
        </p:nvSpPr>
        <p:spPr>
          <a:xfrm>
            <a:off x="5007769" y="2306501"/>
            <a:ext cx="3660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4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앙상블의 효과</a:t>
            </a:r>
            <a:endParaRPr sz="1100"/>
          </a:p>
        </p:txBody>
      </p:sp>
      <p:sp>
        <p:nvSpPr>
          <p:cNvPr id="805" name="Google Shape;805;p56"/>
          <p:cNvSpPr txBox="1"/>
          <p:nvPr/>
        </p:nvSpPr>
        <p:spPr>
          <a:xfrm>
            <a:off x="5007769" y="2597944"/>
            <a:ext cx="3486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00" u="none" cap="none" strike="noStrik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각 Fold에서 학습된 5개의 모델은 서로 다른 실수를 범합니다. 이들의 확률값을 평균 내면 개별 모델의 편향(Bias)이 상쇄되어 더 매끄러운 결정 경계를 갖게 됩니다.</a:t>
            </a:r>
            <a:endParaRPr sz="1100"/>
          </a:p>
        </p:txBody>
      </p:sp>
      <p:pic>
        <p:nvPicPr>
          <p:cNvPr descr="image.png" id="806" name="Google Shape;806;p5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0081" y="1885019"/>
            <a:ext cx="200136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07" name="Google Shape;807;p5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07769" y="1885019"/>
            <a:ext cx="200136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808" name="Google Shape;808;p56"/>
          <p:cNvSpPr txBox="1"/>
          <p:nvPr/>
        </p:nvSpPr>
        <p:spPr>
          <a:xfrm>
            <a:off x="600075" y="428625"/>
            <a:ext cx="8520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27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TECHNICAL </a:t>
            </a:r>
            <a:r>
              <a:rPr b="1" i="0" lang="ko" sz="2700" u="none" cap="none" strike="noStrike">
                <a:solidFill>
                  <a:srgbClr val="FFCC00"/>
                </a:solidFill>
                <a:latin typeface="Urbanist"/>
                <a:ea typeface="Urbanist"/>
                <a:cs typeface="Urbanist"/>
                <a:sym typeface="Urbanist"/>
              </a:rPr>
              <a:t>DEEP DIVE</a:t>
            </a:r>
            <a:endParaRPr sz="1100"/>
          </a:p>
        </p:txBody>
      </p:sp>
      <p:sp>
        <p:nvSpPr>
          <p:cNvPr id="809" name="Google Shape;809;p56"/>
          <p:cNvSpPr/>
          <p:nvPr/>
        </p:nvSpPr>
        <p:spPr>
          <a:xfrm>
            <a:off x="428625" y="428625"/>
            <a:ext cx="57000" cy="4116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0" name="Google Shape;810;p56"/>
          <p:cNvSpPr txBox="1"/>
          <p:nvPr/>
        </p:nvSpPr>
        <p:spPr>
          <a:xfrm>
            <a:off x="417575" y="1151375"/>
            <a:ext cx="41256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1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전략</a:t>
            </a:r>
            <a:r>
              <a:rPr b="1" lang="ko" sz="110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B의 결과가 좋은 이유 ?</a:t>
            </a:r>
            <a:endParaRPr sz="110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E7E0"/>
        </a:solidFill>
      </p:bgPr>
    </p:bg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p57"/>
          <p:cNvSpPr/>
          <p:nvPr/>
        </p:nvSpPr>
        <p:spPr>
          <a:xfrm>
            <a:off x="480060" y="411480"/>
            <a:ext cx="1166100" cy="274200"/>
          </a:xfrm>
          <a:prstGeom prst="roundRect">
            <a:avLst>
              <a:gd fmla="val 20000" name="adj"/>
            </a:avLst>
          </a:prstGeom>
          <a:solidFill>
            <a:srgbClr val="1C2A4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7" name="Google Shape;817;p57"/>
          <p:cNvSpPr/>
          <p:nvPr/>
        </p:nvSpPr>
        <p:spPr>
          <a:xfrm>
            <a:off x="480060" y="411480"/>
            <a:ext cx="1166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ko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SECTION 05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18" name="Google Shape;818;p57"/>
          <p:cNvPicPr preferRelativeResize="0"/>
          <p:nvPr/>
        </p:nvPicPr>
        <p:blipFill rotWithShape="1">
          <a:blip r:embed="rId3">
            <a:alphaModFix amt="10000"/>
          </a:blip>
          <a:srcRect b="0" l="0" r="0" t="0"/>
          <a:stretch/>
        </p:blipFill>
        <p:spPr>
          <a:xfrm>
            <a:off x="6858000" y="1783080"/>
            <a:ext cx="1783080" cy="1783080"/>
          </a:xfrm>
          <a:prstGeom prst="rect">
            <a:avLst/>
          </a:prstGeom>
          <a:noFill/>
          <a:ln>
            <a:noFill/>
          </a:ln>
        </p:spPr>
      </p:pic>
      <p:sp>
        <p:nvSpPr>
          <p:cNvPr id="819" name="Google Shape;819;p57"/>
          <p:cNvSpPr/>
          <p:nvPr/>
        </p:nvSpPr>
        <p:spPr>
          <a:xfrm>
            <a:off x="500634" y="2160270"/>
            <a:ext cx="7406400" cy="7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2A44"/>
              </a:buClr>
              <a:buSzPts val="2700"/>
              <a:buFont typeface="Calibri"/>
              <a:buNone/>
            </a:pPr>
            <a:r>
              <a:rPr b="1" i="0" lang="ko" sz="2700" u="none" cap="none" strike="noStrike">
                <a:solidFill>
                  <a:srgbClr val="1C2A44"/>
                </a:solidFill>
                <a:latin typeface="Calibri"/>
                <a:ea typeface="Calibri"/>
                <a:cs typeface="Calibri"/>
                <a:sym typeface="Calibri"/>
              </a:rPr>
              <a:t>최종 결론 및 한계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20" name="Google Shape;820;p57"/>
          <p:cNvCxnSpPr/>
          <p:nvPr/>
        </p:nvCxnSpPr>
        <p:spPr>
          <a:xfrm>
            <a:off x="514350" y="2846070"/>
            <a:ext cx="1783200" cy="0"/>
          </a:xfrm>
          <a:prstGeom prst="straightConnector1">
            <a:avLst/>
          </a:prstGeom>
          <a:noFill/>
          <a:ln cap="flat" cmpd="sng" w="19050">
            <a:solidFill>
              <a:srgbClr val="C9A24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21" name="Google Shape;821;p57"/>
          <p:cNvSpPr/>
          <p:nvPr/>
        </p:nvSpPr>
        <p:spPr>
          <a:xfrm>
            <a:off x="8298180" y="4766310"/>
            <a:ext cx="4803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8496"/>
              </a:buClr>
              <a:buSzPts val="900"/>
              <a:buFont typeface="Calibri"/>
              <a:buNone/>
            </a:pPr>
            <a:r>
              <a:rPr b="0" i="0" lang="ko" sz="900" u="none" cap="none" strike="noStrike">
                <a:solidFill>
                  <a:srgbClr val="8A8496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최종 결과에 대한 결론 및 한계 " id="826" name="Google Shape;826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27" name="Google Shape;827;p5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E7E0"/>
        </a:solidFill>
      </p:bgPr>
    </p:bg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59"/>
          <p:cNvSpPr/>
          <p:nvPr/>
        </p:nvSpPr>
        <p:spPr>
          <a:xfrm>
            <a:off x="480060" y="411480"/>
            <a:ext cx="1166100" cy="274200"/>
          </a:xfrm>
          <a:prstGeom prst="roundRect">
            <a:avLst>
              <a:gd fmla="val 20000" name="adj"/>
            </a:avLst>
          </a:prstGeom>
          <a:solidFill>
            <a:srgbClr val="1C2A4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4" name="Google Shape;834;p59"/>
          <p:cNvSpPr/>
          <p:nvPr/>
        </p:nvSpPr>
        <p:spPr>
          <a:xfrm>
            <a:off x="480060" y="411480"/>
            <a:ext cx="1166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ko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SECTION 06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35" name="Google Shape;835;p59"/>
          <p:cNvPicPr preferRelativeResize="0"/>
          <p:nvPr/>
        </p:nvPicPr>
        <p:blipFill rotWithShape="1">
          <a:blip r:embed="rId3">
            <a:alphaModFix amt="10000"/>
          </a:blip>
          <a:srcRect b="0" l="0" r="0" t="0"/>
          <a:stretch/>
        </p:blipFill>
        <p:spPr>
          <a:xfrm>
            <a:off x="6858000" y="1783080"/>
            <a:ext cx="1783080" cy="1783080"/>
          </a:xfrm>
          <a:prstGeom prst="rect">
            <a:avLst/>
          </a:prstGeom>
          <a:noFill/>
          <a:ln>
            <a:noFill/>
          </a:ln>
        </p:spPr>
      </p:pic>
      <p:sp>
        <p:nvSpPr>
          <p:cNvPr id="836" name="Google Shape;836;p59"/>
          <p:cNvSpPr/>
          <p:nvPr/>
        </p:nvSpPr>
        <p:spPr>
          <a:xfrm>
            <a:off x="-75" y="2160275"/>
            <a:ext cx="9144000" cy="7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2A44"/>
              </a:buClr>
              <a:buSzPts val="2700"/>
              <a:buFont typeface="Calibri"/>
              <a:buNone/>
            </a:pPr>
            <a:r>
              <a:rPr b="1" lang="ko" sz="2700">
                <a:solidFill>
                  <a:srgbClr val="1C2A44"/>
                </a:solidFill>
                <a:latin typeface="Calibri"/>
                <a:ea typeface="Calibri"/>
                <a:cs typeface="Calibri"/>
                <a:sym typeface="Calibri"/>
              </a:rPr>
              <a:t>Q&amp;A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7" name="Google Shape;837;p59"/>
          <p:cNvSpPr/>
          <p:nvPr/>
        </p:nvSpPr>
        <p:spPr>
          <a:xfrm>
            <a:off x="8298180" y="4766310"/>
            <a:ext cx="4803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8496"/>
              </a:buClr>
              <a:buSzPts val="900"/>
              <a:buFont typeface="Calibri"/>
              <a:buNone/>
            </a:pPr>
            <a:r>
              <a:rPr b="0" i="0" lang="ko" sz="900" u="none" cap="none" strike="noStrike">
                <a:solidFill>
                  <a:srgbClr val="8A8496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E7E0"/>
        </a:solidFill>
      </p:bgPr>
    </p:bg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p60"/>
          <p:cNvSpPr/>
          <p:nvPr/>
        </p:nvSpPr>
        <p:spPr>
          <a:xfrm>
            <a:off x="480060" y="411480"/>
            <a:ext cx="1166100" cy="274200"/>
          </a:xfrm>
          <a:prstGeom prst="roundRect">
            <a:avLst>
              <a:gd fmla="val 20000" name="adj"/>
            </a:avLst>
          </a:prstGeom>
          <a:solidFill>
            <a:srgbClr val="1C2A4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4" name="Google Shape;844;p60"/>
          <p:cNvSpPr/>
          <p:nvPr/>
        </p:nvSpPr>
        <p:spPr>
          <a:xfrm>
            <a:off x="480060" y="411480"/>
            <a:ext cx="1166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ko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SECTION 06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45" name="Google Shape;845;p60"/>
          <p:cNvPicPr preferRelativeResize="0"/>
          <p:nvPr/>
        </p:nvPicPr>
        <p:blipFill rotWithShape="1">
          <a:blip r:embed="rId3">
            <a:alphaModFix amt="10000"/>
          </a:blip>
          <a:srcRect b="0" l="0" r="0" t="0"/>
          <a:stretch/>
        </p:blipFill>
        <p:spPr>
          <a:xfrm>
            <a:off x="6858000" y="1783080"/>
            <a:ext cx="1783080" cy="1783080"/>
          </a:xfrm>
          <a:prstGeom prst="rect">
            <a:avLst/>
          </a:prstGeom>
          <a:noFill/>
          <a:ln>
            <a:noFill/>
          </a:ln>
        </p:spPr>
      </p:pic>
      <p:sp>
        <p:nvSpPr>
          <p:cNvPr id="846" name="Google Shape;846;p60"/>
          <p:cNvSpPr/>
          <p:nvPr/>
        </p:nvSpPr>
        <p:spPr>
          <a:xfrm>
            <a:off x="-75" y="2160275"/>
            <a:ext cx="9144000" cy="7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2A44"/>
              </a:buClr>
              <a:buSzPts val="2700"/>
              <a:buFont typeface="Calibri"/>
              <a:buNone/>
            </a:pPr>
            <a:r>
              <a:rPr b="1" lang="ko" sz="2700">
                <a:solidFill>
                  <a:srgbClr val="1C2A44"/>
                </a:solidFill>
                <a:latin typeface="Calibri"/>
                <a:ea typeface="Calibri"/>
                <a:cs typeface="Calibri"/>
                <a:sym typeface="Calibri"/>
              </a:rPr>
              <a:t>감사합니다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7" name="Google Shape;847;p60"/>
          <p:cNvSpPr/>
          <p:nvPr/>
        </p:nvSpPr>
        <p:spPr>
          <a:xfrm>
            <a:off x="8298180" y="4766310"/>
            <a:ext cx="4803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8496"/>
              </a:buClr>
              <a:buSzPts val="900"/>
              <a:buFont typeface="Calibri"/>
              <a:buNone/>
            </a:pPr>
            <a:r>
              <a:rPr b="0" i="0" lang="ko" sz="900" u="none" cap="none" strike="noStrike">
                <a:solidFill>
                  <a:srgbClr val="8A8496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4CCCC"/>
        </a:solidFill>
      </p:bgPr>
    </p:bg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p6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아래는 가이드 폼</a:t>
            </a:r>
            <a:endParaRPr/>
          </a:p>
        </p:txBody>
      </p:sp>
      <p:sp>
        <p:nvSpPr>
          <p:cNvPr id="853" name="Google Shape;853;p6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4" name="Google Shape;854;p6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캐글 컴패티션 결과 발표 슬라이드 포맷 생성. 아래 흐름으로 발표 예정.&#10;- 컴패티션 작업 수행 과정 흐름도 및 최종 결과&#10;- 데이터 EDA와 전처리 결과&#10;- 모델 선정 근거가 타당성 &#10;- 모델의 성능/학습 방향 판단 및 개선 과정&#10;- 결과 성능 평가 과정&#10;&#10;" id="859" name="Google Shape;859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60" name="Google Shape;860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864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표지 슬라이드 디자인" id="865" name="Google Shape;865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10900" y="0"/>
            <a:ext cx="921067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66" name="Google Shape;866;p6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p6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캐글 챌린지 내용 간단 소개</a:t>
            </a:r>
            <a:endParaRPr/>
          </a:p>
        </p:txBody>
      </p:sp>
      <p:sp>
        <p:nvSpPr>
          <p:cNvPr id="872" name="Google Shape;872;p6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3" name="Google Shape;873;p6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FFFFF"/>
        </a:solidFill>
      </p:bgPr>
    </p:bg>
    <p:spTree>
      <p:nvGrpSpPr>
        <p:cNvPr id="877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78" name="Google Shape;878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137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79" name="Google Shape;879;p6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86313" y="1590377"/>
            <a:ext cx="3929063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880" name="Google Shape;880;p65"/>
          <p:cNvSpPr txBox="1"/>
          <p:nvPr/>
        </p:nvSpPr>
        <p:spPr>
          <a:xfrm>
            <a:off x="428625" y="1590367"/>
            <a:ext cx="4125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과제목표</a:t>
            </a:r>
            <a:endParaRPr sz="1100"/>
          </a:p>
        </p:txBody>
      </p:sp>
      <p:sp>
        <p:nvSpPr>
          <p:cNvPr id="881" name="Google Shape;881;p65"/>
          <p:cNvSpPr txBox="1"/>
          <p:nvPr/>
        </p:nvSpPr>
        <p:spPr>
          <a:xfrm>
            <a:off x="634331" y="2173060"/>
            <a:ext cx="36402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10B981"/>
                </a:solidFill>
                <a:latin typeface="Lato"/>
                <a:ea typeface="Lato"/>
                <a:cs typeface="Lato"/>
                <a:sym typeface="Lato"/>
              </a:rPr>
              <a:t>dusty_prob</a:t>
            </a:r>
            <a:r>
              <a:rPr b="1" lang="ko" sz="1100">
                <a:solidFill>
                  <a:srgbClr val="10B981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r>
              <a:rPr lang="ko" sz="1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ko" sz="1050">
                <a:solidFill>
                  <a:srgbClr val="3C4043"/>
                </a:solidFill>
                <a:highlight>
                  <a:srgbClr val="FFFFFF"/>
                </a:highlight>
              </a:rPr>
              <a:t>이미지가 패널일 때 Dusty일 확률 (0~1)</a:t>
            </a:r>
            <a:r>
              <a:rPr lang="ko" sz="1100">
                <a:solidFill>
                  <a:schemeClr val="dk1"/>
                </a:solidFill>
              </a:rPr>
              <a:t> </a:t>
            </a:r>
            <a:endParaRPr sz="110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882" name="Google Shape;882;p65"/>
          <p:cNvGrpSpPr/>
          <p:nvPr/>
        </p:nvGrpSpPr>
        <p:grpSpPr>
          <a:xfrm>
            <a:off x="428625" y="677651"/>
            <a:ext cx="8694075" cy="369300"/>
            <a:chOff x="428625" y="677651"/>
            <a:chExt cx="8694075" cy="369300"/>
          </a:xfrm>
        </p:grpSpPr>
        <p:sp>
          <p:nvSpPr>
            <p:cNvPr id="883" name="Google Shape;883;p65"/>
            <p:cNvSpPr txBox="1"/>
            <p:nvPr/>
          </p:nvSpPr>
          <p:spPr>
            <a:xfrm>
              <a:off x="571500" y="677651"/>
              <a:ext cx="85512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996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2400">
                  <a:solidFill>
                    <a:srgbClr val="1E293B"/>
                  </a:solidFill>
                  <a:latin typeface="Poppins"/>
                  <a:ea typeface="Poppins"/>
                  <a:cs typeface="Poppins"/>
                  <a:sym typeface="Poppins"/>
                </a:rPr>
                <a:t>Track-A: </a:t>
              </a:r>
              <a:r>
                <a:rPr b="1" i="0" lang="ko" sz="2400" u="none" cap="none" strike="noStrike">
                  <a:solidFill>
                    <a:srgbClr val="1E293B"/>
                  </a:solidFill>
                  <a:latin typeface="Poppins"/>
                  <a:ea typeface="Poppins"/>
                  <a:cs typeface="Poppins"/>
                  <a:sym typeface="Poppins"/>
                </a:rPr>
                <a:t>태양광 패널 </a:t>
              </a:r>
              <a:r>
                <a:rPr b="1" lang="ko" sz="2400">
                  <a:solidFill>
                    <a:srgbClr val="1E293B"/>
                  </a:solidFill>
                  <a:latin typeface="Poppins"/>
                  <a:ea typeface="Poppins"/>
                  <a:cs typeface="Poppins"/>
                  <a:sym typeface="Poppins"/>
                </a:rPr>
                <a:t>오염 분류</a:t>
              </a:r>
              <a:r>
                <a:rPr b="1" i="0" lang="ko" sz="2400" u="none" cap="none" strike="noStrike">
                  <a:solidFill>
                    <a:srgbClr val="1E293B"/>
                  </a:solidFill>
                  <a:latin typeface="Poppins"/>
                  <a:ea typeface="Poppins"/>
                  <a:cs typeface="Poppins"/>
                  <a:sym typeface="Poppins"/>
                </a:rPr>
                <a:t> 과제</a:t>
              </a:r>
              <a:endParaRPr sz="1100"/>
            </a:p>
          </p:txBody>
        </p:sp>
        <p:sp>
          <p:nvSpPr>
            <p:cNvPr id="884" name="Google Shape;884;p65"/>
            <p:cNvSpPr/>
            <p:nvPr/>
          </p:nvSpPr>
          <p:spPr>
            <a:xfrm>
              <a:off x="428625" y="677651"/>
              <a:ext cx="57000" cy="360000"/>
            </a:xfrm>
            <a:prstGeom prst="rect">
              <a:avLst/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85" name="Google Shape;885;p65"/>
          <p:cNvSpPr txBox="1"/>
          <p:nvPr/>
        </p:nvSpPr>
        <p:spPr>
          <a:xfrm>
            <a:off x="485775" y="1897313"/>
            <a:ext cx="3977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1155CC"/>
                </a:solidFill>
                <a:latin typeface="Lato"/>
                <a:ea typeface="Lato"/>
                <a:cs typeface="Lato"/>
                <a:sym typeface="Lato"/>
              </a:rPr>
              <a:t>태양광 패널 이미지 학습 데이터</a:t>
            </a:r>
            <a:r>
              <a:rPr lang="ko" sz="1100">
                <a:solidFill>
                  <a:srgbClr val="1155CC"/>
                </a:solidFill>
                <a:latin typeface="Lato"/>
                <a:ea typeface="Lato"/>
                <a:cs typeface="Lato"/>
                <a:sym typeface="Lato"/>
              </a:rPr>
              <a:t>로 패널 오염 확률 예측</a:t>
            </a:r>
            <a:endParaRPr sz="1100">
              <a:solidFill>
                <a:srgbClr val="1155CC"/>
              </a:solidFill>
            </a:endParaRPr>
          </a:p>
        </p:txBody>
      </p:sp>
      <p:pic>
        <p:nvPicPr>
          <p:cNvPr id="886" name="Google Shape;886;p65"/>
          <p:cNvPicPr preferRelativeResize="0"/>
          <p:nvPr/>
        </p:nvPicPr>
        <p:blipFill rotWithShape="1">
          <a:blip r:embed="rId5">
            <a:alphaModFix/>
          </a:blip>
          <a:srcRect b="0" l="4607" r="4698" t="0"/>
          <a:stretch/>
        </p:blipFill>
        <p:spPr>
          <a:xfrm>
            <a:off x="4786275" y="1590375"/>
            <a:ext cx="3929100" cy="2857500"/>
          </a:xfrm>
          <a:prstGeom prst="roundRect">
            <a:avLst>
              <a:gd fmla="val 4785" name="adj"/>
            </a:avLst>
          </a:prstGeom>
          <a:noFill/>
          <a:ln>
            <a:noFill/>
          </a:ln>
        </p:spPr>
      </p:pic>
      <p:sp>
        <p:nvSpPr>
          <p:cNvPr id="887" name="Google Shape;887;p65"/>
          <p:cNvSpPr txBox="1"/>
          <p:nvPr/>
        </p:nvSpPr>
        <p:spPr>
          <a:xfrm>
            <a:off x="428627" y="2428265"/>
            <a:ext cx="4125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평가방법</a:t>
            </a:r>
            <a:endParaRPr sz="1100"/>
          </a:p>
        </p:txBody>
      </p:sp>
      <p:sp>
        <p:nvSpPr>
          <p:cNvPr id="888" name="Google Shape;888;p65"/>
          <p:cNvSpPr txBox="1"/>
          <p:nvPr/>
        </p:nvSpPr>
        <p:spPr>
          <a:xfrm>
            <a:off x="634334" y="2718906"/>
            <a:ext cx="36402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10B981"/>
                </a:solidFill>
                <a:latin typeface="Lato"/>
                <a:ea typeface="Lato"/>
                <a:cs typeface="Lato"/>
                <a:sym typeface="Lato"/>
              </a:rPr>
              <a:t>ROC-AUC:</a:t>
            </a:r>
            <a:r>
              <a:rPr lang="ko" sz="1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ko" sz="1050">
                <a:solidFill>
                  <a:srgbClr val="3C4043"/>
                </a:solidFill>
                <a:highlight>
                  <a:srgbClr val="FFFFFF"/>
                </a:highlight>
              </a:rPr>
              <a:t>모델이 Dusty를 Clean보다 높게 점수 매기는 능력</a:t>
            </a:r>
            <a:endParaRPr sz="110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89" name="Google Shape;889;p65"/>
          <p:cNvSpPr txBox="1"/>
          <p:nvPr/>
        </p:nvSpPr>
        <p:spPr>
          <a:xfrm>
            <a:off x="5250850" y="4562900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깨끗함</a:t>
            </a:r>
            <a:r>
              <a:rPr lang="ko" sz="1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패널 </a:t>
            </a:r>
            <a:r>
              <a:rPr lang="ko" sz="1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이미지(좌) / 더러움 패널 이미지(우) </a:t>
            </a:r>
            <a:endParaRPr/>
          </a:p>
        </p:txBody>
      </p:sp>
      <p:pic>
        <p:nvPicPr>
          <p:cNvPr id="890" name="Google Shape;890;p6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16675" y="2949525"/>
            <a:ext cx="2130550" cy="2036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FFFFF"/>
        </a:solidFill>
      </p:bgPr>
    </p:bg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95" name="Google Shape;895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137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96" name="Google Shape;896;p6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86313" y="1590377"/>
            <a:ext cx="3929063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897" name="Google Shape;897;p66"/>
          <p:cNvSpPr txBox="1"/>
          <p:nvPr/>
        </p:nvSpPr>
        <p:spPr>
          <a:xfrm>
            <a:off x="428625" y="1590367"/>
            <a:ext cx="4125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과제목표</a:t>
            </a:r>
            <a:endParaRPr sz="1100"/>
          </a:p>
        </p:txBody>
      </p:sp>
      <p:sp>
        <p:nvSpPr>
          <p:cNvPr id="898" name="Google Shape;898;p66"/>
          <p:cNvSpPr txBox="1"/>
          <p:nvPr/>
        </p:nvSpPr>
        <p:spPr>
          <a:xfrm>
            <a:off x="634331" y="2539406"/>
            <a:ext cx="3640200" cy="7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10B981"/>
                </a:solidFill>
                <a:latin typeface="Lato"/>
                <a:ea typeface="Lato"/>
                <a:cs typeface="Lato"/>
                <a:sym typeface="Lato"/>
              </a:rPr>
              <a:t>dup_score :</a:t>
            </a:r>
            <a:r>
              <a:rPr lang="ko" sz="1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타 이미지와 시각적으로 근접 중복일 가능성</a:t>
            </a:r>
            <a:endParaRPr sz="110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10B981"/>
                </a:solidFill>
                <a:latin typeface="Lato"/>
                <a:ea typeface="Lato"/>
                <a:cs typeface="Lato"/>
                <a:sym typeface="Lato"/>
              </a:rPr>
              <a:t>ood_score :</a:t>
            </a:r>
            <a:r>
              <a:rPr lang="ko" sz="1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패널이 아닌 이미지(off-topic)일 가능성  </a:t>
            </a:r>
            <a:endParaRPr sz="110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10B981"/>
                </a:solidFill>
                <a:latin typeface="Lato"/>
                <a:ea typeface="Lato"/>
                <a:cs typeface="Lato"/>
                <a:sym typeface="Lato"/>
              </a:rPr>
              <a:t>mislabel_score :</a:t>
            </a:r>
            <a:r>
              <a:rPr lang="ko" sz="1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clean/dusty 라벨이 반대로 부여되었을 가능성</a:t>
            </a:r>
            <a:endParaRPr sz="110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99" name="Google Shape;899;p66"/>
          <p:cNvSpPr txBox="1"/>
          <p:nvPr/>
        </p:nvSpPr>
        <p:spPr>
          <a:xfrm>
            <a:off x="571500" y="677651"/>
            <a:ext cx="8551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40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Track-B: </a:t>
            </a:r>
            <a:r>
              <a:rPr b="1" i="0" lang="ko" sz="24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태양광 패널 데이터 품질 탐지 과제</a:t>
            </a:r>
            <a:endParaRPr sz="1100"/>
          </a:p>
        </p:txBody>
      </p:sp>
      <p:sp>
        <p:nvSpPr>
          <p:cNvPr id="900" name="Google Shape;900;p66"/>
          <p:cNvSpPr/>
          <p:nvPr/>
        </p:nvSpPr>
        <p:spPr>
          <a:xfrm>
            <a:off x="428625" y="677651"/>
            <a:ext cx="57000" cy="360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1" name="Google Shape;901;p66"/>
          <p:cNvSpPr txBox="1"/>
          <p:nvPr/>
        </p:nvSpPr>
        <p:spPr>
          <a:xfrm>
            <a:off x="485775" y="1897313"/>
            <a:ext cx="39777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1155CC"/>
                </a:solidFill>
                <a:latin typeface="Lato"/>
                <a:ea typeface="Lato"/>
                <a:cs typeface="Lato"/>
                <a:sym typeface="Lato"/>
              </a:rPr>
              <a:t>태양광 패널 이미지 학습 데이터셋에 섞여 있는 3개 유형의 오염을 구별하고, 이미지별 의심 점수 산출하는 것이 목표</a:t>
            </a:r>
            <a:endParaRPr sz="1100">
              <a:solidFill>
                <a:srgbClr val="1155CC"/>
              </a:solidFill>
            </a:endParaRPr>
          </a:p>
        </p:txBody>
      </p:sp>
      <p:sp>
        <p:nvSpPr>
          <p:cNvPr id="902" name="Google Shape;902;p66"/>
          <p:cNvSpPr txBox="1"/>
          <p:nvPr/>
        </p:nvSpPr>
        <p:spPr>
          <a:xfrm>
            <a:off x="5250850" y="4562900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태양광 패널 데이터셋에 포함된 OOD 유형 이미지</a:t>
            </a:r>
            <a:endParaRPr/>
          </a:p>
        </p:txBody>
      </p:sp>
      <p:pic>
        <p:nvPicPr>
          <p:cNvPr id="903" name="Google Shape;903;p6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86325" y="1590375"/>
            <a:ext cx="3929100" cy="2857500"/>
          </a:xfrm>
          <a:prstGeom prst="roundRect">
            <a:avLst>
              <a:gd fmla="val 5026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FFFFF"/>
        </a:solidFill>
      </p:bgPr>
    </p:bg>
    <p:spTree>
      <p:nvGrpSpPr>
        <p:cNvPr id="907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08" name="Google Shape;908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137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09" name="Google Shape;909;p6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86313" y="1590377"/>
            <a:ext cx="3929063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910" name="Google Shape;910;p67"/>
          <p:cNvSpPr txBox="1"/>
          <p:nvPr/>
        </p:nvSpPr>
        <p:spPr>
          <a:xfrm>
            <a:off x="428625" y="1590367"/>
            <a:ext cx="4125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과제목표</a:t>
            </a:r>
            <a:endParaRPr sz="1100"/>
          </a:p>
        </p:txBody>
      </p:sp>
      <p:pic>
        <p:nvPicPr>
          <p:cNvPr descr="image.png" id="911" name="Google Shape;911;p6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86313" y="1590377"/>
            <a:ext cx="3929063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912" name="Google Shape;912;p67"/>
          <p:cNvSpPr txBox="1"/>
          <p:nvPr/>
        </p:nvSpPr>
        <p:spPr>
          <a:xfrm>
            <a:off x="634331" y="2539406"/>
            <a:ext cx="3640200" cy="7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10B981"/>
                </a:solidFill>
                <a:latin typeface="Lato"/>
                <a:ea typeface="Lato"/>
                <a:cs typeface="Lato"/>
                <a:sym typeface="Lato"/>
              </a:rPr>
              <a:t>dup_score :</a:t>
            </a:r>
            <a:r>
              <a:rPr lang="ko" sz="1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타 이미지와 시각적으로 근접 중복일 가능성</a:t>
            </a:r>
            <a:endParaRPr sz="110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10B981"/>
                </a:solidFill>
                <a:latin typeface="Lato"/>
                <a:ea typeface="Lato"/>
                <a:cs typeface="Lato"/>
                <a:sym typeface="Lato"/>
              </a:rPr>
              <a:t>ood_score :</a:t>
            </a:r>
            <a:r>
              <a:rPr lang="ko" sz="1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패널이 아닌 이미지(off-topic)일 가능성  </a:t>
            </a:r>
            <a:endParaRPr sz="110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10B981"/>
                </a:solidFill>
                <a:latin typeface="Lato"/>
                <a:ea typeface="Lato"/>
                <a:cs typeface="Lato"/>
                <a:sym typeface="Lato"/>
              </a:rPr>
              <a:t>mislabel_score :</a:t>
            </a:r>
            <a:r>
              <a:rPr lang="ko" sz="1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clean/dusty 라벨이 반대로 부여되었을 가능성</a:t>
            </a:r>
            <a:endParaRPr sz="110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13" name="Google Shape;913;p67"/>
          <p:cNvSpPr txBox="1"/>
          <p:nvPr/>
        </p:nvSpPr>
        <p:spPr>
          <a:xfrm>
            <a:off x="571500" y="677651"/>
            <a:ext cx="8551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40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Track-B: </a:t>
            </a:r>
            <a:r>
              <a:rPr b="1" i="0" lang="ko" sz="24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태양광 패널 데이터 품질 탐지 과제</a:t>
            </a:r>
            <a:endParaRPr sz="1100"/>
          </a:p>
        </p:txBody>
      </p:sp>
      <p:sp>
        <p:nvSpPr>
          <p:cNvPr id="914" name="Google Shape;914;p67"/>
          <p:cNvSpPr/>
          <p:nvPr/>
        </p:nvSpPr>
        <p:spPr>
          <a:xfrm>
            <a:off x="428625" y="677651"/>
            <a:ext cx="57000" cy="360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5" name="Google Shape;915;p67"/>
          <p:cNvSpPr txBox="1"/>
          <p:nvPr/>
        </p:nvSpPr>
        <p:spPr>
          <a:xfrm>
            <a:off x="485775" y="1897313"/>
            <a:ext cx="39777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1155CC"/>
                </a:solidFill>
                <a:latin typeface="Lato"/>
                <a:ea typeface="Lato"/>
                <a:cs typeface="Lato"/>
                <a:sym typeface="Lato"/>
              </a:rPr>
              <a:t>태양광 패널 이미지 학습 데이터셋에 섞여 있는 3개 유형의 오염을 구별하고, 이미지별 의심 점수 산출하는 것이 목표</a:t>
            </a:r>
            <a:endParaRPr sz="1100">
              <a:solidFill>
                <a:srgbClr val="1155CC"/>
              </a:solidFill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919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p6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pic>
        <p:nvPicPr>
          <p:cNvPr id="921" name="Google Shape;921;p68"/>
          <p:cNvPicPr preferRelativeResize="0"/>
          <p:nvPr/>
        </p:nvPicPr>
        <p:blipFill rotWithShape="1">
          <a:blip r:embed="rId3">
            <a:alphaModFix/>
          </a:blip>
          <a:srcRect b="0" l="0" r="1980" t="2818"/>
          <a:stretch/>
        </p:blipFill>
        <p:spPr>
          <a:xfrm>
            <a:off x="115375" y="730254"/>
            <a:ext cx="4291051" cy="2889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922" name="Google Shape;922;p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43575" y="720640"/>
            <a:ext cx="4377574" cy="3555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3" name="Google Shape;923;p6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7550" y="3716115"/>
            <a:ext cx="1968026" cy="1107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4" name="Google Shape;924;p68"/>
          <p:cNvPicPr preferRelativeResize="0"/>
          <p:nvPr/>
        </p:nvPicPr>
        <p:blipFill rotWithShape="1">
          <a:blip r:embed="rId6">
            <a:alphaModFix/>
          </a:blip>
          <a:srcRect b="0" l="0" r="5303" t="0"/>
          <a:stretch/>
        </p:blipFill>
        <p:spPr>
          <a:xfrm>
            <a:off x="2232825" y="3706348"/>
            <a:ext cx="2096700" cy="1107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928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9" name="Google Shape;929;p69"/>
          <p:cNvGrpSpPr/>
          <p:nvPr/>
        </p:nvGrpSpPr>
        <p:grpSpPr>
          <a:xfrm>
            <a:off x="0" y="0"/>
            <a:ext cx="9210675" cy="5143500"/>
            <a:chOff x="-35700" y="0"/>
            <a:chExt cx="9210675" cy="5143500"/>
          </a:xfrm>
        </p:grpSpPr>
        <p:pic>
          <p:nvPicPr>
            <p:cNvPr descr="첫번째 슬라이드 디자인. &#10;수행 과정 흐름도 생성.&#10;총 두개 트랙이 있고 데이터는 공통임.&#10;트랙 b에서 세 개 점수 기반으로 데이터 필터링하고, 이 결과로 트랙 a에서 최종 이미지 분류하는 과정.&#10;&#10;아래 글 참고: &#10;1. track-b 수행&#10;데이터 EDA -&gt; ood_score, mislabel_score, duplication_score 생성 전략 수립 -&gt; track-b 제출 결과 평가 &#10;과정 반복하여 track-b 로부터 train 이미지 배제 목록 선정 &#10;&#10;2. track-a 는 track-b 결과를 토대로 수행&#10;track-b를 통해 정제된 데이터  -&gt;  EDA 및 전처리 -&gt; baseline 모델 테스트 -&gt; baseline 모델 최종 선정 &#10;&#10;아래 과정 반복&#10;track-a 학습 전략 수립 -&gt;  데이터 전처리 -&gt; 모델 학습 -&gt; 결과 제출 및 평가&#10;&#10;3. 최종 track-a 결과 " id="930" name="Google Shape;930;p6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-35700" y="0"/>
              <a:ext cx="9210675" cy="5143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31" name="Google Shape;931;p69"/>
            <p:cNvSpPr/>
            <p:nvPr/>
          </p:nvSpPr>
          <p:spPr>
            <a:xfrm>
              <a:off x="5867771" y="2983925"/>
              <a:ext cx="2056500" cy="252900"/>
            </a:xfrm>
            <a:prstGeom prst="rect">
              <a:avLst/>
            </a:prstGeom>
            <a:solidFill>
              <a:srgbClr val="E6E5E9"/>
            </a:solidFill>
            <a:ln cap="flat" cmpd="sng" w="9525">
              <a:solidFill>
                <a:srgbClr val="E6E5E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1200">
                  <a:solidFill>
                    <a:srgbClr val="08070B"/>
                  </a:solidFill>
                </a:rPr>
                <a:t>[A</a:t>
              </a:r>
              <a:r>
                <a:rPr b="1" lang="ko" sz="600">
                  <a:solidFill>
                    <a:srgbClr val="08070B"/>
                  </a:solidFill>
                </a:rPr>
                <a:t> </a:t>
              </a:r>
              <a:r>
                <a:rPr b="1" lang="ko" sz="1200">
                  <a:solidFill>
                    <a:srgbClr val="08070B"/>
                  </a:solidFill>
                </a:rPr>
                <a:t>Model</a:t>
              </a:r>
              <a:r>
                <a:rPr b="1" lang="ko" sz="600">
                  <a:solidFill>
                    <a:srgbClr val="08070B"/>
                  </a:solidFill>
                </a:rPr>
                <a:t> </a:t>
              </a:r>
              <a:r>
                <a:rPr b="1" lang="ko" sz="1200">
                  <a:solidFill>
                    <a:srgbClr val="08070B"/>
                  </a:solidFill>
                </a:rPr>
                <a:t>develop</a:t>
              </a:r>
              <a:r>
                <a:rPr b="1" lang="ko" sz="600">
                  <a:solidFill>
                    <a:srgbClr val="08070B"/>
                  </a:solidFill>
                </a:rPr>
                <a:t> </a:t>
              </a:r>
              <a:r>
                <a:rPr b="1" lang="ko" sz="1200">
                  <a:solidFill>
                    <a:srgbClr val="08070B"/>
                  </a:solidFill>
                </a:rPr>
                <a:t>Cycle</a:t>
              </a:r>
              <a:r>
                <a:rPr b="1" lang="ko" sz="1200">
                  <a:solidFill>
                    <a:srgbClr val="08070B"/>
                  </a:solidFill>
                </a:rPr>
                <a:t>]</a:t>
              </a:r>
              <a:endParaRPr b="1" sz="1200">
                <a:solidFill>
                  <a:srgbClr val="08070B"/>
                </a:solidFill>
              </a:endParaRPr>
            </a:p>
          </p:txBody>
        </p:sp>
        <p:sp>
          <p:nvSpPr>
            <p:cNvPr id="932" name="Google Shape;932;p69"/>
            <p:cNvSpPr/>
            <p:nvPr/>
          </p:nvSpPr>
          <p:spPr>
            <a:xfrm>
              <a:off x="2149364" y="3837025"/>
              <a:ext cx="548700" cy="252900"/>
            </a:xfrm>
            <a:prstGeom prst="rect">
              <a:avLst/>
            </a:prstGeom>
            <a:solidFill>
              <a:srgbClr val="E6E5E9"/>
            </a:solidFill>
            <a:ln cap="flat" cmpd="sng" w="9525">
              <a:solidFill>
                <a:srgbClr val="E6E5E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/>
            </a:p>
          </p:txBody>
        </p:sp>
      </p:grpSp>
      <p:sp>
        <p:nvSpPr>
          <p:cNvPr id="933" name="Google Shape;933;p6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934" name="Google Shape;934;p69"/>
          <p:cNvSpPr/>
          <p:nvPr/>
        </p:nvSpPr>
        <p:spPr>
          <a:xfrm>
            <a:off x="9453800" y="496750"/>
            <a:ext cx="1730400" cy="471000"/>
          </a:xfrm>
          <a:prstGeom prst="rect">
            <a:avLst/>
          </a:prstGeom>
          <a:solidFill>
            <a:srgbClr val="E6E5E9"/>
          </a:solidFill>
          <a:ln cap="flat" cmpd="sng" w="9525">
            <a:solidFill>
              <a:srgbClr val="E6E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배경색</a:t>
            </a:r>
            <a:endParaRPr b="1"/>
          </a:p>
        </p:txBody>
      </p:sp>
      <p:sp>
        <p:nvSpPr>
          <p:cNvPr id="935" name="Google Shape;935;p69"/>
          <p:cNvSpPr/>
          <p:nvPr/>
        </p:nvSpPr>
        <p:spPr>
          <a:xfrm>
            <a:off x="9530600" y="1254825"/>
            <a:ext cx="1653600" cy="318600"/>
          </a:xfrm>
          <a:prstGeom prst="rect">
            <a:avLst/>
          </a:prstGeom>
          <a:solidFill>
            <a:srgbClr val="E6E5E9"/>
          </a:solidFill>
          <a:ln cap="flat" cmpd="sng" w="9525">
            <a:solidFill>
              <a:srgbClr val="E6E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/>
              <a:t>모델 개발 사이클 반복</a:t>
            </a:r>
            <a:endParaRPr b="1" sz="1100"/>
          </a:p>
        </p:txBody>
      </p:sp>
      <p:sp>
        <p:nvSpPr>
          <p:cNvPr id="936" name="Google Shape;936;p69"/>
          <p:cNvSpPr/>
          <p:nvPr/>
        </p:nvSpPr>
        <p:spPr>
          <a:xfrm>
            <a:off x="3740138" y="4624525"/>
            <a:ext cx="1730400" cy="471000"/>
          </a:xfrm>
          <a:prstGeom prst="rect">
            <a:avLst/>
          </a:prstGeom>
          <a:solidFill>
            <a:srgbClr val="E6E5E9"/>
          </a:solidFill>
          <a:ln cap="flat" cmpd="sng" w="9525">
            <a:solidFill>
              <a:srgbClr val="E6E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p7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pic>
        <p:nvPicPr>
          <p:cNvPr id="942" name="Google Shape;942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8925" y="2188028"/>
            <a:ext cx="8633823" cy="102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" name="Google Shape;943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8925" y="3292964"/>
            <a:ext cx="8633824" cy="1436327"/>
          </a:xfrm>
          <a:prstGeom prst="rect">
            <a:avLst/>
          </a:prstGeom>
          <a:noFill/>
          <a:ln>
            <a:noFill/>
          </a:ln>
        </p:spPr>
      </p:pic>
      <p:sp>
        <p:nvSpPr>
          <p:cNvPr id="944" name="Google Shape;944;p70"/>
          <p:cNvSpPr/>
          <p:nvPr/>
        </p:nvSpPr>
        <p:spPr>
          <a:xfrm>
            <a:off x="997400" y="2738825"/>
            <a:ext cx="1345800" cy="393600"/>
          </a:xfrm>
          <a:prstGeom prst="rect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이름 비식별화</a:t>
            </a:r>
            <a:endParaRPr/>
          </a:p>
        </p:txBody>
      </p:sp>
      <p:grpSp>
        <p:nvGrpSpPr>
          <p:cNvPr id="945" name="Google Shape;945;p70"/>
          <p:cNvGrpSpPr/>
          <p:nvPr/>
        </p:nvGrpSpPr>
        <p:grpSpPr>
          <a:xfrm>
            <a:off x="428625" y="677651"/>
            <a:ext cx="8694075" cy="369300"/>
            <a:chOff x="428625" y="677651"/>
            <a:chExt cx="8694075" cy="369300"/>
          </a:xfrm>
        </p:grpSpPr>
        <p:sp>
          <p:nvSpPr>
            <p:cNvPr id="946" name="Google Shape;946;p70"/>
            <p:cNvSpPr txBox="1"/>
            <p:nvPr/>
          </p:nvSpPr>
          <p:spPr>
            <a:xfrm>
              <a:off x="571500" y="677651"/>
              <a:ext cx="85512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996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ko" sz="2400">
                  <a:solidFill>
                    <a:srgbClr val="1E293B"/>
                  </a:solidFill>
                  <a:latin typeface="Poppins"/>
                  <a:ea typeface="Poppins"/>
                  <a:cs typeface="Poppins"/>
                  <a:sym typeface="Poppins"/>
                </a:rPr>
                <a:t>최종 제출 결과</a:t>
              </a:r>
              <a:endParaRPr sz="1100"/>
            </a:p>
          </p:txBody>
        </p:sp>
        <p:sp>
          <p:nvSpPr>
            <p:cNvPr id="947" name="Google Shape;947;p70"/>
            <p:cNvSpPr/>
            <p:nvPr/>
          </p:nvSpPr>
          <p:spPr>
            <a:xfrm>
              <a:off x="428625" y="677651"/>
              <a:ext cx="57000" cy="360000"/>
            </a:xfrm>
            <a:prstGeom prst="rect">
              <a:avLst/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descr="image.png" id="948" name="Google Shape;948;p7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05900" y="1195197"/>
            <a:ext cx="5077144" cy="883638"/>
          </a:xfrm>
          <a:prstGeom prst="rect">
            <a:avLst/>
          </a:prstGeom>
          <a:noFill/>
          <a:ln>
            <a:noFill/>
          </a:ln>
        </p:spPr>
      </p:pic>
      <p:sp>
        <p:nvSpPr>
          <p:cNvPr id="949" name="Google Shape;949;p70"/>
          <p:cNvSpPr txBox="1"/>
          <p:nvPr/>
        </p:nvSpPr>
        <p:spPr>
          <a:xfrm>
            <a:off x="428625" y="1360909"/>
            <a:ext cx="4125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rgbClr val="1155C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Track-A</a:t>
            </a:r>
            <a:r>
              <a:rPr lang="ko" sz="1600">
                <a:solidFill>
                  <a:srgbClr val="1155C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</a:t>
            </a:r>
            <a:r>
              <a:rPr lang="ko" sz="1600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: </a:t>
            </a:r>
            <a:r>
              <a:rPr lang="ko" sz="1600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최종 스코어 0.93 로 1위 달성</a:t>
            </a:r>
            <a:endParaRPr sz="1600">
              <a:solidFill>
                <a:srgbClr val="0F172A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rgbClr val="1155C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Track-B</a:t>
            </a:r>
            <a:r>
              <a:rPr lang="ko" sz="1600">
                <a:solidFill>
                  <a:srgbClr val="1155C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</a:t>
            </a:r>
            <a:r>
              <a:rPr lang="ko" sz="1600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: 최종 스코어 0.42 로 2위 달성</a:t>
            </a:r>
            <a:endParaRPr sz="1600">
              <a:solidFill>
                <a:srgbClr val="0F172A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p71"/>
          <p:cNvSpPr txBox="1"/>
          <p:nvPr>
            <p:ph type="ctrTitle"/>
          </p:nvPr>
        </p:nvSpPr>
        <p:spPr>
          <a:xfrm>
            <a:off x="429833" y="72310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데이터 </a:t>
            </a:r>
            <a:r>
              <a:rPr lang="ko"/>
              <a:t>EDA(track-b)</a:t>
            </a:r>
            <a:endParaRPr/>
          </a:p>
        </p:txBody>
      </p:sp>
      <p:sp>
        <p:nvSpPr>
          <p:cNvPr id="955" name="Google Shape;955;p71"/>
          <p:cNvSpPr txBox="1"/>
          <p:nvPr>
            <p:ph idx="1" type="subTitle"/>
          </p:nvPr>
        </p:nvSpPr>
        <p:spPr>
          <a:xfrm>
            <a:off x="429825" y="351060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6" name="Google Shape;956;p7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FFFFF"/>
        </a:solidFill>
      </p:bgPr>
    </p:bg>
    <p:spTree>
      <p:nvGrpSpPr>
        <p:cNvPr id="960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61" name="Google Shape;961;p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2" name="Google Shape;962;p7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625" y="3409243"/>
            <a:ext cx="8286750" cy="10771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3" name="Google Shape;963;p7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6494" y="1283873"/>
            <a:ext cx="8286750" cy="3391495"/>
          </a:xfrm>
          <a:prstGeom prst="rect">
            <a:avLst/>
          </a:prstGeom>
          <a:noFill/>
          <a:ln>
            <a:noFill/>
          </a:ln>
        </p:spPr>
      </p:pic>
      <p:sp>
        <p:nvSpPr>
          <p:cNvPr id="964" name="Google Shape;964;p72"/>
          <p:cNvSpPr txBox="1"/>
          <p:nvPr/>
        </p:nvSpPr>
        <p:spPr>
          <a:xfrm>
            <a:off x="642938" y="3623555"/>
            <a:ext cx="78582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5725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 </a:t>
            </a:r>
            <a:r>
              <a:rPr b="1" i="0" lang="ko" sz="11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데이터 무결성 :</a:t>
            </a:r>
            <a:r>
              <a:rPr b="0" i="0" lang="ko" sz="11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이미지 ID와 실제 파일 매칭 결과 누락 0건 확인</a:t>
            </a:r>
            <a:endParaRPr sz="1100"/>
          </a:p>
        </p:txBody>
      </p:sp>
      <p:sp>
        <p:nvSpPr>
          <p:cNvPr id="965" name="Google Shape;965;p72"/>
          <p:cNvSpPr txBox="1"/>
          <p:nvPr/>
        </p:nvSpPr>
        <p:spPr>
          <a:xfrm>
            <a:off x="642938" y="3947815"/>
            <a:ext cx="78582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5725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 </a:t>
            </a:r>
            <a:r>
              <a:rPr b="1" lang="ko" sz="1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클래스 경미한 불균형 </a:t>
            </a:r>
            <a:r>
              <a:rPr b="1" i="0" lang="ko" sz="11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: </a:t>
            </a:r>
            <a:r>
              <a:rPr b="1" lang="ko" sz="1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ko" sz="1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Class 0(813개) vs. Class 1(553개)는 경미한 불균형 분포, 모델 학습시 Class 1의 성능저하 방지를 고려가 필요 </a:t>
            </a:r>
            <a:r>
              <a:rPr i="0" lang="ko" sz="11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sz="1100">
              <a:solidFill>
                <a:srgbClr val="980000"/>
              </a:solidFill>
            </a:endParaRPr>
          </a:p>
        </p:txBody>
      </p:sp>
      <p:pic>
        <p:nvPicPr>
          <p:cNvPr descr="image.png" id="966" name="Google Shape;966;p7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2938" y="3666418"/>
            <a:ext cx="135731" cy="13573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7" name="Google Shape;967;p7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2938" y="3990677"/>
            <a:ext cx="135731" cy="135731"/>
          </a:xfrm>
          <a:prstGeom prst="rect">
            <a:avLst/>
          </a:prstGeom>
          <a:noFill/>
          <a:ln>
            <a:noFill/>
          </a:ln>
        </p:spPr>
      </p:pic>
      <p:sp>
        <p:nvSpPr>
          <p:cNvPr id="968" name="Google Shape;968;p72"/>
          <p:cNvSpPr txBox="1"/>
          <p:nvPr/>
        </p:nvSpPr>
        <p:spPr>
          <a:xfrm>
            <a:off x="571500" y="677651"/>
            <a:ext cx="8551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24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EDA: </a:t>
            </a:r>
            <a:r>
              <a:rPr b="1" i="0" lang="ko" sz="1700" u="none" cap="none" strike="noStrike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라벨 분포 및 데이터 무결성</a:t>
            </a:r>
            <a:endParaRPr sz="400">
              <a:solidFill>
                <a:srgbClr val="999999"/>
              </a:solidFill>
            </a:endParaRPr>
          </a:p>
        </p:txBody>
      </p:sp>
      <p:sp>
        <p:nvSpPr>
          <p:cNvPr id="969" name="Google Shape;969;p72"/>
          <p:cNvSpPr/>
          <p:nvPr/>
        </p:nvSpPr>
        <p:spPr>
          <a:xfrm>
            <a:off x="428625" y="677651"/>
            <a:ext cx="57000" cy="360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FFFFF"/>
        </a:solidFill>
      </p:bgPr>
    </p:bg>
    <p:spTree>
      <p:nvGrpSpPr>
        <p:cNvPr id="973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74" name="Google Shape;974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5" name="Google Shape;975;p7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625" y="1324575"/>
            <a:ext cx="3502675" cy="3376100"/>
          </a:xfrm>
          <a:prstGeom prst="rect">
            <a:avLst/>
          </a:prstGeom>
          <a:noFill/>
          <a:ln>
            <a:noFill/>
          </a:ln>
        </p:spPr>
      </p:pic>
      <p:sp>
        <p:nvSpPr>
          <p:cNvPr id="976" name="Google Shape;976;p73"/>
          <p:cNvSpPr txBox="1"/>
          <p:nvPr/>
        </p:nvSpPr>
        <p:spPr>
          <a:xfrm>
            <a:off x="593275" y="1564100"/>
            <a:ext cx="3293100" cy="19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5725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다양한 </a:t>
            </a:r>
            <a:r>
              <a:rPr b="1" lang="ko" sz="1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b="1" lang="ko" sz="1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이미지 크기 </a:t>
            </a:r>
            <a:r>
              <a:rPr b="1" i="0" lang="ko" sz="11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r>
              <a:rPr b="0" i="0" lang="ko" sz="11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ko" sz="1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이미지 크기가 균일하지 않고 다양, 80 px 이미지들은 이상치로 별도로 확인 필요하며 모델 학습 전 resize 처리 필수  </a:t>
            </a:r>
            <a:endParaRPr sz="110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ko" sz="1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b="1" sz="110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ko" sz="1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RGB 채널 </a:t>
            </a:r>
            <a:r>
              <a:rPr b="1" lang="ko" sz="1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r>
              <a:rPr lang="ko" sz="1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샘플 200장 모두 컬러 이미지(3채널)이고 흑백 이미지와 섞여 있지 않음</a:t>
            </a:r>
            <a:endParaRPr sz="110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image.png" id="977" name="Google Shape;977;p7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7538" y="1564093"/>
            <a:ext cx="135731" cy="13573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8" name="Google Shape;978;p7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27538" y="3140427"/>
            <a:ext cx="135731" cy="135731"/>
          </a:xfrm>
          <a:prstGeom prst="rect">
            <a:avLst/>
          </a:prstGeom>
          <a:noFill/>
          <a:ln>
            <a:noFill/>
          </a:ln>
        </p:spPr>
      </p:pic>
      <p:sp>
        <p:nvSpPr>
          <p:cNvPr id="979" name="Google Shape;979;p73"/>
          <p:cNvSpPr txBox="1"/>
          <p:nvPr/>
        </p:nvSpPr>
        <p:spPr>
          <a:xfrm>
            <a:off x="571500" y="677651"/>
            <a:ext cx="8551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24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EDA: </a:t>
            </a:r>
            <a:r>
              <a:rPr b="1" lang="ko" sz="170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이미지 크기 &amp; 채널 분포</a:t>
            </a:r>
            <a:endParaRPr sz="400">
              <a:solidFill>
                <a:srgbClr val="999999"/>
              </a:solidFill>
            </a:endParaRPr>
          </a:p>
        </p:txBody>
      </p:sp>
      <p:sp>
        <p:nvSpPr>
          <p:cNvPr id="980" name="Google Shape;980;p73"/>
          <p:cNvSpPr/>
          <p:nvPr/>
        </p:nvSpPr>
        <p:spPr>
          <a:xfrm>
            <a:off x="428625" y="677651"/>
            <a:ext cx="57000" cy="360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1" name="Google Shape;981;p7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157875" y="1372200"/>
            <a:ext cx="4657524" cy="2275875"/>
          </a:xfrm>
          <a:prstGeom prst="rect">
            <a:avLst/>
          </a:prstGeom>
          <a:noFill/>
          <a:ln>
            <a:noFill/>
          </a:ln>
        </p:spPr>
      </p:pic>
      <p:sp>
        <p:nvSpPr>
          <p:cNvPr id="982" name="Google Shape;982;p73"/>
          <p:cNvSpPr txBox="1"/>
          <p:nvPr/>
        </p:nvSpPr>
        <p:spPr>
          <a:xfrm>
            <a:off x="5376756" y="3713469"/>
            <a:ext cx="2582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rgbClr val="595959"/>
                </a:solidFill>
              </a:rPr>
              <a:t>[</a:t>
            </a:r>
            <a:r>
              <a:rPr lang="ko" sz="900">
                <a:solidFill>
                  <a:srgbClr val="595959"/>
                </a:solidFill>
              </a:rPr>
              <a:t>표1</a:t>
            </a:r>
            <a:r>
              <a:rPr lang="ko" sz="900">
                <a:solidFill>
                  <a:srgbClr val="595959"/>
                </a:solidFill>
              </a:rPr>
              <a:t>]  이미지 </a:t>
            </a:r>
            <a:r>
              <a:rPr lang="ko" sz="900">
                <a:solidFill>
                  <a:srgbClr val="595959"/>
                </a:solidFill>
              </a:rPr>
              <a:t>크기(너비/ 높이) 분포</a:t>
            </a:r>
            <a:endParaRPr sz="900"/>
          </a:p>
        </p:txBody>
      </p:sp>
      <p:sp>
        <p:nvSpPr>
          <p:cNvPr id="983" name="Google Shape;983;p73"/>
          <p:cNvSpPr txBox="1"/>
          <p:nvPr/>
        </p:nvSpPr>
        <p:spPr>
          <a:xfrm>
            <a:off x="916283" y="2259300"/>
            <a:ext cx="2316000" cy="6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1155CC"/>
                </a:solidFill>
                <a:latin typeface="Lato"/>
                <a:ea typeface="Lato"/>
                <a:cs typeface="Lato"/>
                <a:sym typeface="Lato"/>
              </a:rPr>
              <a:t>이미지 </a:t>
            </a:r>
            <a:r>
              <a:rPr lang="ko" sz="1100">
                <a:solidFill>
                  <a:srgbClr val="1155CC"/>
                </a:solidFill>
                <a:latin typeface="Lato"/>
                <a:ea typeface="Lato"/>
                <a:cs typeface="Lato"/>
                <a:sym typeface="Lato"/>
              </a:rPr>
              <a:t>너비 M= 457.5 px (80~512) </a:t>
            </a:r>
            <a:endParaRPr sz="1100">
              <a:solidFill>
                <a:srgbClr val="1155CC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1155CC"/>
                </a:solidFill>
                <a:latin typeface="Lato"/>
                <a:ea typeface="Lato"/>
                <a:cs typeface="Lato"/>
                <a:sym typeface="Lato"/>
              </a:rPr>
              <a:t>이미지 </a:t>
            </a:r>
            <a:r>
              <a:rPr lang="ko" sz="1100">
                <a:solidFill>
                  <a:srgbClr val="1155CC"/>
                </a:solidFill>
                <a:latin typeface="Lato"/>
                <a:ea typeface="Lato"/>
                <a:cs typeface="Lato"/>
                <a:sym typeface="Lato"/>
              </a:rPr>
              <a:t>높이 M= 391.8 px (80~512)</a:t>
            </a:r>
            <a:endParaRPr>
              <a:solidFill>
                <a:srgbClr val="1155CC"/>
              </a:solidFill>
            </a:endParaRPr>
          </a:p>
        </p:txBody>
      </p:sp>
      <p:sp>
        <p:nvSpPr>
          <p:cNvPr id="984" name="Google Shape;984;p73"/>
          <p:cNvSpPr txBox="1"/>
          <p:nvPr/>
        </p:nvSpPr>
        <p:spPr>
          <a:xfrm>
            <a:off x="-3975100" y="635959"/>
            <a:ext cx="3924000" cy="24012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이미지 사이즈가 비정상적인것들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이미지 결측(깨짐, 비어있음) 확인 추가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채널 확인 : 흑백, 컬러 차이로 혼란을 주는 데이터 정제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85" name="Google Shape;985;p73"/>
          <p:cNvSpPr txBox="1"/>
          <p:nvPr/>
        </p:nvSpPr>
        <p:spPr>
          <a:xfrm>
            <a:off x="-5188100" y="4193075"/>
            <a:ext cx="3983700" cy="4617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수정완료 후 박스 삭제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986" name="Google Shape;986;p7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9143988" y="3576400"/>
            <a:ext cx="5549326" cy="145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FFFFF"/>
        </a:solidFill>
      </p:bgPr>
    </p:bg>
    <p:spTree>
      <p:nvGrpSpPr>
        <p:cNvPr id="990" name="Shape 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91" name="Google Shape;991;p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70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2" name="Google Shape;992;p7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5638" y="4353875"/>
            <a:ext cx="3941149" cy="382592"/>
          </a:xfrm>
          <a:prstGeom prst="rect">
            <a:avLst/>
          </a:prstGeom>
          <a:noFill/>
          <a:ln>
            <a:noFill/>
          </a:ln>
        </p:spPr>
      </p:pic>
      <p:sp>
        <p:nvSpPr>
          <p:cNvPr id="993" name="Google Shape;993;p74"/>
          <p:cNvSpPr txBox="1"/>
          <p:nvPr/>
        </p:nvSpPr>
        <p:spPr>
          <a:xfrm>
            <a:off x="5411950" y="3791000"/>
            <a:ext cx="3293100" cy="3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5725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밝기 정도</a:t>
            </a:r>
            <a:r>
              <a:rPr b="1" lang="ko" sz="1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b="1" i="0" lang="ko" sz="11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: </a:t>
            </a:r>
            <a:r>
              <a:rPr lang="ko" sz="1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두 클래스의 밝기 차이는 약 4.5로 크지 않고 밝기는 두 클래스를 구분하는 특징은 아님 </a:t>
            </a:r>
            <a:r>
              <a:rPr i="0" lang="ko" sz="11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sz="110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image.png" id="994" name="Google Shape;994;p7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8413" y="4488293"/>
            <a:ext cx="135731" cy="135731"/>
          </a:xfrm>
          <a:prstGeom prst="rect">
            <a:avLst/>
          </a:prstGeom>
          <a:noFill/>
          <a:ln>
            <a:noFill/>
          </a:ln>
        </p:spPr>
      </p:pic>
      <p:sp>
        <p:nvSpPr>
          <p:cNvPr id="995" name="Google Shape;995;p74"/>
          <p:cNvSpPr txBox="1"/>
          <p:nvPr/>
        </p:nvSpPr>
        <p:spPr>
          <a:xfrm>
            <a:off x="571500" y="677651"/>
            <a:ext cx="8551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24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EDA: </a:t>
            </a:r>
            <a:r>
              <a:rPr b="1" lang="ko" sz="170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클래스별  이미지 &amp; 밝기</a:t>
            </a:r>
            <a:r>
              <a:rPr b="1" lang="ko" sz="240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100"/>
          </a:p>
        </p:txBody>
      </p:sp>
      <p:sp>
        <p:nvSpPr>
          <p:cNvPr id="996" name="Google Shape;996;p74"/>
          <p:cNvSpPr/>
          <p:nvPr/>
        </p:nvSpPr>
        <p:spPr>
          <a:xfrm>
            <a:off x="428625" y="677651"/>
            <a:ext cx="57000" cy="360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97" name="Google Shape;997;p74"/>
          <p:cNvPicPr preferRelativeResize="0"/>
          <p:nvPr/>
        </p:nvPicPr>
        <p:blipFill rotWithShape="1">
          <a:blip r:embed="rId6">
            <a:alphaModFix/>
          </a:blip>
          <a:srcRect b="8012" l="4825" r="0" t="0"/>
          <a:stretch/>
        </p:blipFill>
        <p:spPr>
          <a:xfrm>
            <a:off x="5091613" y="1306800"/>
            <a:ext cx="3691274" cy="2437225"/>
          </a:xfrm>
          <a:prstGeom prst="rect">
            <a:avLst/>
          </a:prstGeom>
          <a:noFill/>
          <a:ln>
            <a:noFill/>
          </a:ln>
        </p:spPr>
      </p:pic>
      <p:sp>
        <p:nvSpPr>
          <p:cNvPr id="998" name="Google Shape;998;p74"/>
          <p:cNvSpPr txBox="1"/>
          <p:nvPr/>
        </p:nvSpPr>
        <p:spPr>
          <a:xfrm>
            <a:off x="5706488" y="4201875"/>
            <a:ext cx="2461500" cy="53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1155CC"/>
                </a:solidFill>
              </a:rPr>
              <a:t>Class 0 밝기 : M=115.46, SD=21.07</a:t>
            </a:r>
            <a:endParaRPr sz="1100">
              <a:solidFill>
                <a:srgbClr val="1155CC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1155CC"/>
                </a:solidFill>
              </a:rPr>
              <a:t>Class 1 밝기 : M=119.97, SD=21.37</a:t>
            </a:r>
            <a:endParaRPr sz="1100">
              <a:solidFill>
                <a:srgbClr val="1155CC"/>
              </a:solidFill>
            </a:endParaRPr>
          </a:p>
        </p:txBody>
      </p:sp>
      <p:pic>
        <p:nvPicPr>
          <p:cNvPr descr="image.png" id="999" name="Google Shape;999;p7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329488" y="3790977"/>
            <a:ext cx="135731" cy="1357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0" name="Google Shape;1000;p7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09438" y="1335800"/>
            <a:ext cx="3893525" cy="1508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1" name="Google Shape;1001;p7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85638" y="2903663"/>
            <a:ext cx="3941150" cy="1390650"/>
          </a:xfrm>
          <a:prstGeom prst="rect">
            <a:avLst/>
          </a:prstGeom>
          <a:noFill/>
          <a:ln>
            <a:noFill/>
          </a:ln>
        </p:spPr>
      </p:pic>
      <p:sp>
        <p:nvSpPr>
          <p:cNvPr id="1002" name="Google Shape;1002;p74"/>
          <p:cNvSpPr txBox="1"/>
          <p:nvPr/>
        </p:nvSpPr>
        <p:spPr>
          <a:xfrm>
            <a:off x="963150" y="4387925"/>
            <a:ext cx="2900400" cy="2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1155CC"/>
                </a:solidFill>
              </a:rPr>
              <a:t>C</a:t>
            </a:r>
            <a:r>
              <a:rPr lang="ko" sz="1200">
                <a:solidFill>
                  <a:srgbClr val="1155CC"/>
                </a:solidFill>
              </a:rPr>
              <a:t>lass 0 = Clean            Class 1 = Dirty</a:t>
            </a:r>
            <a:endParaRPr sz="1200">
              <a:solidFill>
                <a:srgbClr val="1155CC"/>
              </a:solidFill>
            </a:endParaRPr>
          </a:p>
        </p:txBody>
      </p:sp>
      <p:sp>
        <p:nvSpPr>
          <p:cNvPr id="1003" name="Google Shape;1003;p74"/>
          <p:cNvSpPr txBox="1"/>
          <p:nvPr/>
        </p:nvSpPr>
        <p:spPr>
          <a:xfrm>
            <a:off x="-4621600" y="2903675"/>
            <a:ext cx="2900400" cy="4617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수정완료 후 박스 삭제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04" name="Google Shape;1004;p74"/>
          <p:cNvSpPr txBox="1"/>
          <p:nvPr/>
        </p:nvSpPr>
        <p:spPr>
          <a:xfrm>
            <a:off x="-4621600" y="3576625"/>
            <a:ext cx="2900400" cy="12930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HSV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이 슬라이드의 밝기는 색상 분포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008" name="Shape 1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Google Shape;1009;p75"/>
          <p:cNvSpPr txBox="1"/>
          <p:nvPr>
            <p:ph idx="1" type="subTitle"/>
          </p:nvPr>
        </p:nvSpPr>
        <p:spPr>
          <a:xfrm>
            <a:off x="429825" y="351060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0" name="Google Shape;1010;p7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1011" name="Google Shape;1011;p75"/>
          <p:cNvSpPr/>
          <p:nvPr/>
        </p:nvSpPr>
        <p:spPr>
          <a:xfrm>
            <a:off x="428625" y="677651"/>
            <a:ext cx="57000" cy="360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2" name="Google Shape;1012;p75"/>
          <p:cNvSpPr txBox="1"/>
          <p:nvPr/>
        </p:nvSpPr>
        <p:spPr>
          <a:xfrm>
            <a:off x="592800" y="673001"/>
            <a:ext cx="8551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40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오염 유형별 의심 점수 산출</a:t>
            </a:r>
            <a:endParaRPr sz="110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FFFFF"/>
        </a:solidFill>
      </p:bgPr>
    </p:bg>
    <p:spTree>
      <p:nvGrpSpPr>
        <p:cNvPr id="1016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17" name="Google Shape;1017;p7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8556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8" name="Google Shape;1018;p7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625" y="1286900"/>
            <a:ext cx="4229800" cy="3633550"/>
          </a:xfrm>
          <a:prstGeom prst="rect">
            <a:avLst/>
          </a:prstGeom>
          <a:noFill/>
          <a:ln>
            <a:noFill/>
          </a:ln>
        </p:spPr>
      </p:pic>
      <p:sp>
        <p:nvSpPr>
          <p:cNvPr id="1019" name="Google Shape;1019;p76"/>
          <p:cNvSpPr txBox="1"/>
          <p:nvPr/>
        </p:nvSpPr>
        <p:spPr>
          <a:xfrm>
            <a:off x="635794" y="3282084"/>
            <a:ext cx="786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020" name="Google Shape;1020;p76"/>
          <p:cNvSpPr txBox="1"/>
          <p:nvPr/>
        </p:nvSpPr>
        <p:spPr>
          <a:xfrm>
            <a:off x="635794" y="3933393"/>
            <a:ext cx="786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021" name="Google Shape;1021;p76"/>
          <p:cNvSpPr txBox="1"/>
          <p:nvPr/>
        </p:nvSpPr>
        <p:spPr>
          <a:xfrm>
            <a:off x="571500" y="677651"/>
            <a:ext cx="8551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24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dup_score:</a:t>
            </a:r>
            <a:r>
              <a:rPr b="1" i="0" lang="ko" sz="1700" u="none" cap="none" strike="noStrike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lang="ko" sz="170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중복 이미지 탐지</a:t>
            </a:r>
            <a:r>
              <a:rPr b="1" i="0" lang="ko" sz="1700" u="none" cap="none" strike="noStrike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b="1" sz="1700">
              <a:solidFill>
                <a:srgbClr val="999999"/>
              </a:solidFill>
            </a:endParaRPr>
          </a:p>
        </p:txBody>
      </p:sp>
      <p:sp>
        <p:nvSpPr>
          <p:cNvPr id="1022" name="Google Shape;1022;p76"/>
          <p:cNvSpPr/>
          <p:nvPr/>
        </p:nvSpPr>
        <p:spPr>
          <a:xfrm>
            <a:off x="428625" y="677651"/>
            <a:ext cx="57000" cy="360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3" name="Google Shape;1023;p76"/>
          <p:cNvSpPr txBox="1"/>
          <p:nvPr/>
        </p:nvSpPr>
        <p:spPr>
          <a:xfrm>
            <a:off x="616294" y="1732343"/>
            <a:ext cx="3854400" cy="3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시각적 유사도를 비교하는데 유용한  pHash를 사용하여 중복된 이미지를 필터링  </a:t>
            </a:r>
            <a:endParaRPr sz="1100"/>
          </a:p>
        </p:txBody>
      </p:sp>
      <p:sp>
        <p:nvSpPr>
          <p:cNvPr id="1024" name="Google Shape;1024;p76"/>
          <p:cNvSpPr txBox="1"/>
          <p:nvPr/>
        </p:nvSpPr>
        <p:spPr>
          <a:xfrm>
            <a:off x="635794" y="1423969"/>
            <a:ext cx="33303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rgbClr val="1155C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방법 </a:t>
            </a:r>
            <a:r>
              <a:rPr lang="ko" sz="1600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: Perceptual Hash 최근접 거리</a:t>
            </a:r>
            <a:endParaRPr sz="1100"/>
          </a:p>
        </p:txBody>
      </p:sp>
      <p:sp>
        <p:nvSpPr>
          <p:cNvPr id="1025" name="Google Shape;1025;p76"/>
          <p:cNvSpPr txBox="1"/>
          <p:nvPr/>
        </p:nvSpPr>
        <p:spPr>
          <a:xfrm>
            <a:off x="576581" y="2238356"/>
            <a:ext cx="3933900" cy="25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8575" spcFirstLastPara="1" rIns="0" wrap="square" tIns="0">
            <a:spAutoFit/>
          </a:bodyPr>
          <a:lstStyle/>
          <a:p>
            <a:pPr indent="-23495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Lato"/>
              <a:buChar char="●"/>
            </a:pPr>
            <a:r>
              <a:rPr b="1" lang="ko" sz="1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이미지 축소/흑백 전환 : </a:t>
            </a:r>
            <a:r>
              <a:rPr lang="ko" sz="1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밝기 정보만 남김</a:t>
            </a:r>
            <a:endParaRPr sz="110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  <a:p>
            <a:pPr indent="-234950" lvl="0" marL="3429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Lato"/>
              <a:buChar char="●"/>
            </a:pPr>
            <a:r>
              <a:rPr b="1" lang="ko" sz="1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이산코사인 변환:</a:t>
            </a:r>
            <a:r>
              <a:rPr lang="ko" sz="1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이미지의 전체적 구조를 주파수 영역으로 변환</a:t>
            </a:r>
            <a:endParaRPr sz="110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  <a:p>
            <a:pPr indent="-234950" lvl="0" marL="3429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Lato"/>
              <a:buChar char="●"/>
            </a:pPr>
            <a:r>
              <a:rPr b="1" lang="ko" sz="1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해시생성</a:t>
            </a:r>
            <a:r>
              <a:rPr lang="ko" sz="1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: 변환된 데이터의 값을 평균과 비교하여 0과 1의 비트열로 변환</a:t>
            </a:r>
            <a:endParaRPr sz="110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  <a:p>
            <a:pPr indent="-234950" lvl="0" marL="3429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Lato"/>
              <a:buChar char="●"/>
            </a:pPr>
            <a:r>
              <a:rPr b="1" lang="ko" sz="1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Hamming distance 계산:  </a:t>
            </a:r>
            <a:r>
              <a:rPr lang="ko" sz="1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최근접 이웃</a:t>
            </a:r>
            <a:r>
              <a:rPr b="1" lang="ko" sz="1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ko" sz="1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해시 거리 계산</a:t>
            </a:r>
            <a:endParaRPr sz="110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  <a:p>
            <a:pPr indent="-234950" lvl="1" marL="685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Lato"/>
              <a:buChar char="○"/>
            </a:pPr>
            <a:r>
              <a:rPr lang="ko" sz="1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거리 0= 원본 동일, 거리가 큼 = 서로 다른 이미지</a:t>
            </a:r>
            <a:endParaRPr sz="110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  <a:p>
            <a:pPr indent="-234950" lvl="0" marL="3429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Lato"/>
              <a:buChar char="●"/>
            </a:pPr>
            <a:r>
              <a:rPr b="1" lang="ko" sz="1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임계값에 따른 거리 분포 확인:   </a:t>
            </a:r>
            <a:endParaRPr sz="110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  <a:p>
            <a:pPr indent="-234950" lvl="1" marL="685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Lato"/>
              <a:buChar char="○"/>
            </a:pPr>
            <a:r>
              <a:rPr lang="ko" sz="1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임계값=5 경우,  72개의 유사 쌍 후보가 발견 </a:t>
            </a:r>
            <a:r>
              <a:rPr lang="ko" sz="1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평균 0.94(SD=1.38)로 </a:t>
            </a:r>
            <a:r>
              <a:rPr lang="ko" sz="1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ko" sz="1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매우 가까운 거리에 몰려 있어 임계값을 10으로 변경하여 재확인 </a:t>
            </a:r>
            <a:endParaRPr sz="110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026" name="Google Shape;1026;p76"/>
          <p:cNvPicPr preferRelativeResize="0"/>
          <p:nvPr/>
        </p:nvPicPr>
        <p:blipFill rotWithShape="1">
          <a:blip r:embed="rId5">
            <a:alphaModFix/>
          </a:blip>
          <a:srcRect b="27767" l="0" r="0" t="0"/>
          <a:stretch/>
        </p:blipFill>
        <p:spPr>
          <a:xfrm>
            <a:off x="5465900" y="1037650"/>
            <a:ext cx="3188825" cy="1918125"/>
          </a:xfrm>
          <a:prstGeom prst="rect">
            <a:avLst/>
          </a:prstGeom>
          <a:noFill/>
          <a:ln>
            <a:noFill/>
          </a:ln>
        </p:spPr>
      </p:pic>
      <p:sp>
        <p:nvSpPr>
          <p:cNvPr id="1027" name="Google Shape;1027;p76"/>
          <p:cNvSpPr txBox="1"/>
          <p:nvPr/>
        </p:nvSpPr>
        <p:spPr>
          <a:xfrm>
            <a:off x="5726300" y="723700"/>
            <a:ext cx="2768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rgbClr val="595959"/>
                </a:solidFill>
              </a:rPr>
              <a:t>[그림 2] 이미지 쌍 간 해시 거리 분포(임계값 = 5, 10)</a:t>
            </a:r>
            <a:r>
              <a:rPr lang="ko" sz="900">
                <a:solidFill>
                  <a:schemeClr val="dk1"/>
                </a:solidFill>
              </a:rPr>
              <a:t> </a:t>
            </a:r>
            <a:endParaRPr sz="900"/>
          </a:p>
        </p:txBody>
      </p:sp>
      <p:pic>
        <p:nvPicPr>
          <p:cNvPr id="1028" name="Google Shape;1028;p7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511175" y="3051700"/>
            <a:ext cx="3072876" cy="182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FFFFF"/>
        </a:solidFill>
      </p:bgPr>
    </p:bg>
    <p:spTree>
      <p:nvGrpSpPr>
        <p:cNvPr id="1032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33" name="Google Shape;1033;p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4" name="Google Shape;1034;p7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5688" y="1270800"/>
            <a:ext cx="4234988" cy="3648545"/>
          </a:xfrm>
          <a:prstGeom prst="rect">
            <a:avLst/>
          </a:prstGeom>
          <a:noFill/>
          <a:ln>
            <a:noFill/>
          </a:ln>
        </p:spPr>
      </p:pic>
      <p:sp>
        <p:nvSpPr>
          <p:cNvPr id="1035" name="Google Shape;1035;p77"/>
          <p:cNvSpPr txBox="1"/>
          <p:nvPr/>
        </p:nvSpPr>
        <p:spPr>
          <a:xfrm>
            <a:off x="571500" y="677643"/>
            <a:ext cx="392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24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dup_score:</a:t>
            </a:r>
            <a:r>
              <a:rPr b="1" i="0" lang="ko" sz="1700" u="none" cap="none" strike="noStrike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lang="ko" sz="170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중복 이미지 탐지</a:t>
            </a:r>
            <a:r>
              <a:rPr b="1" i="0" lang="ko" sz="1700" u="none" cap="none" strike="noStrike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b="1" sz="1700">
              <a:solidFill>
                <a:srgbClr val="999999"/>
              </a:solidFill>
            </a:endParaRPr>
          </a:p>
        </p:txBody>
      </p:sp>
      <p:sp>
        <p:nvSpPr>
          <p:cNvPr id="1036" name="Google Shape;1036;p77"/>
          <p:cNvSpPr/>
          <p:nvPr/>
        </p:nvSpPr>
        <p:spPr>
          <a:xfrm>
            <a:off x="428625" y="677651"/>
            <a:ext cx="57000" cy="360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7" name="Google Shape;1037;p77"/>
          <p:cNvSpPr txBox="1"/>
          <p:nvPr/>
        </p:nvSpPr>
        <p:spPr>
          <a:xfrm>
            <a:off x="6118350" y="4642150"/>
            <a:ext cx="1817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rgbClr val="595959"/>
                </a:solidFill>
              </a:rPr>
              <a:t>[그림 3] 거리 6~8 구간 이미지들 </a:t>
            </a:r>
            <a:endParaRPr sz="900"/>
          </a:p>
        </p:txBody>
      </p:sp>
      <p:sp>
        <p:nvSpPr>
          <p:cNvPr id="1038" name="Google Shape;1038;p77"/>
          <p:cNvSpPr txBox="1"/>
          <p:nvPr/>
        </p:nvSpPr>
        <p:spPr>
          <a:xfrm>
            <a:off x="387375" y="1465856"/>
            <a:ext cx="3839400" cy="23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8575" spcFirstLastPara="1" rIns="0" wrap="square" tIns="0">
            <a:spAutoFit/>
          </a:bodyPr>
          <a:lstStyle/>
          <a:p>
            <a:pPr indent="-234950" lvl="0" marL="3429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Lato"/>
              <a:buChar char="●"/>
            </a:pPr>
            <a:r>
              <a:rPr b="1" lang="ko" sz="1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임계값에 따른 거리 분포 확인: </a:t>
            </a:r>
            <a:endParaRPr b="1" sz="110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  <a:p>
            <a:pPr indent="-234950" lvl="1" marL="685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Lato"/>
              <a:buChar char="○"/>
            </a:pPr>
            <a:r>
              <a:rPr lang="ko" sz="1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임계값=10 경우,  </a:t>
            </a:r>
            <a:r>
              <a:rPr b="1" lang="ko" sz="1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 </a:t>
            </a:r>
            <a:r>
              <a:rPr lang="ko" sz="1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sz="110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  <a:p>
            <a:pPr indent="-234950" lvl="1" marL="685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Lato"/>
              <a:buChar char="○"/>
            </a:pPr>
            <a:r>
              <a:rPr lang="ko" sz="1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거리 0~8 구간: 모두 동일 원본의 변형(크롭, 워터마크 등)으로 확인됨</a:t>
            </a:r>
            <a:endParaRPr sz="110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  <a:p>
            <a:pPr indent="-234950" lvl="1" marL="685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Lato"/>
              <a:buChar char="○"/>
            </a:pPr>
            <a:r>
              <a:rPr lang="ko" sz="1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거리 10 이상: 전혀 다른 이미지가 유사 해시값을 갖는 오탐 사례 발견</a:t>
            </a:r>
            <a:endParaRPr sz="110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  <a:p>
            <a:pPr indent="-234950" lvl="1" marL="685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Lato"/>
              <a:buChar char="○"/>
            </a:pPr>
            <a:r>
              <a:rPr lang="ko" sz="1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진짜 중복 이미지들이 전체 상위 10~14% 내에 포착</a:t>
            </a:r>
            <a:endParaRPr sz="110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  <a:p>
            <a:pPr indent="-234950" lvl="0" marL="3429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Lato"/>
              <a:buChar char="●"/>
            </a:pPr>
            <a:r>
              <a:rPr b="1" lang="ko" sz="1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최종 임계값 8 확정:  </a:t>
            </a:r>
            <a:r>
              <a:rPr lang="ko" sz="1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이미지 육안 검증을 통해 10보다 8이 적정한다는 판단되어 최종 임계값으로로 결정</a:t>
            </a:r>
            <a:endParaRPr sz="110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  <a:p>
            <a:pPr indent="-234950" lvl="0" marL="3429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Lato"/>
              <a:buChar char="●"/>
            </a:pPr>
            <a:r>
              <a:rPr lang="ko" sz="1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직접 확인한 중복 이미지들이 전체 중 145~187위(상위 10~14%) 위치하여 점수의 신뢰성 확보</a:t>
            </a:r>
            <a:r>
              <a:rPr lang="ko" sz="1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가 가능</a:t>
            </a:r>
            <a:r>
              <a:rPr lang="ko" sz="1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sz="110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039" name="Google Shape;1039;p7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41150" y="1222425"/>
            <a:ext cx="3737124" cy="341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FFFFF"/>
        </a:solidFill>
      </p:bgPr>
    </p:bg>
    <p:spTree>
      <p:nvGrpSpPr>
        <p:cNvPr id="1043" name="Shape 1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44" name="Google Shape;1044;p7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45150" y="1138550"/>
            <a:ext cx="4070226" cy="3527950"/>
          </a:xfrm>
          <a:prstGeom prst="rect">
            <a:avLst/>
          </a:prstGeom>
          <a:noFill/>
          <a:ln>
            <a:noFill/>
          </a:ln>
        </p:spPr>
      </p:pic>
      <p:sp>
        <p:nvSpPr>
          <p:cNvPr id="1045" name="Google Shape;1045;p78"/>
          <p:cNvSpPr txBox="1"/>
          <p:nvPr/>
        </p:nvSpPr>
        <p:spPr>
          <a:xfrm>
            <a:off x="4745391" y="1348025"/>
            <a:ext cx="4125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rgbClr val="1155C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방법 </a:t>
            </a:r>
            <a:r>
              <a:rPr lang="ko" sz="1600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: </a:t>
            </a:r>
            <a:r>
              <a:rPr b="0" i="0" lang="ko" sz="16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ResNet18 임베딩 기반 분석</a:t>
            </a:r>
            <a:endParaRPr sz="1100"/>
          </a:p>
        </p:txBody>
      </p:sp>
      <p:sp>
        <p:nvSpPr>
          <p:cNvPr id="1046" name="Google Shape;1046;p78"/>
          <p:cNvSpPr txBox="1"/>
          <p:nvPr/>
        </p:nvSpPr>
        <p:spPr>
          <a:xfrm>
            <a:off x="4793138" y="1743825"/>
            <a:ext cx="3846000" cy="3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1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ImageNet 사전학습 모델</a:t>
            </a:r>
            <a:r>
              <a:rPr lang="ko" sz="1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로</a:t>
            </a:r>
            <a:r>
              <a:rPr b="0" i="0" lang="ko" sz="11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이미지의 고차원 특징 추출 후</a:t>
            </a:r>
            <a:endParaRPr b="0" i="0" sz="1100" u="none" cap="none" strike="noStrike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2개</a:t>
            </a:r>
            <a:r>
              <a:rPr b="0" i="0" lang="ko" sz="11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지표 적용:</a:t>
            </a:r>
            <a:endParaRPr sz="1100"/>
          </a:p>
        </p:txBody>
      </p:sp>
      <p:sp>
        <p:nvSpPr>
          <p:cNvPr id="1047" name="Google Shape;1047;p78"/>
          <p:cNvSpPr txBox="1"/>
          <p:nvPr/>
        </p:nvSpPr>
        <p:spPr>
          <a:xfrm>
            <a:off x="4850662" y="2681099"/>
            <a:ext cx="786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048" name="Google Shape;1048;p78"/>
          <p:cNvSpPr txBox="1"/>
          <p:nvPr/>
        </p:nvSpPr>
        <p:spPr>
          <a:xfrm>
            <a:off x="4745400" y="2215406"/>
            <a:ext cx="3786300" cy="22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8575" spcFirstLastPara="1" rIns="0" wrap="square" tIns="0">
            <a:spAutoFit/>
          </a:bodyPr>
          <a:lstStyle/>
          <a:p>
            <a:pPr indent="-23495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Lato"/>
              <a:buChar char="●"/>
            </a:pPr>
            <a:r>
              <a:rPr b="1" i="0" lang="ko" sz="11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Centroid 거리 :</a:t>
            </a:r>
            <a:r>
              <a:rPr b="0" i="0" lang="ko" sz="11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전체</a:t>
            </a:r>
            <a:r>
              <a:rPr lang="ko" sz="1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이미지 입베딩 평균으로부터 각 이미지가 얼마나 떨어져 있는지 측정 </a:t>
            </a:r>
            <a:endParaRPr sz="110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  <a:p>
            <a:pPr indent="-234950" lvl="0" marL="3429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Lato"/>
              <a:buChar char="●"/>
            </a:pPr>
            <a:r>
              <a:rPr b="1" lang="ko" sz="1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KNN 거리 :</a:t>
            </a:r>
            <a:r>
              <a:rPr lang="ko" sz="1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각 이미지의 k개 최근접 이웃까지의 평균 거리 측정 →  고립된 데이터 탐지 가능 </a:t>
            </a:r>
            <a:endParaRPr sz="110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  <a:p>
            <a:pPr indent="-23495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Lato"/>
              <a:buChar char="●"/>
            </a:pPr>
            <a:r>
              <a:rPr b="1" lang="ko" sz="1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검증결과:</a:t>
            </a:r>
            <a:endParaRPr sz="110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  <a:p>
            <a:pPr indent="-234950" lvl="1" marL="6858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Lato"/>
              <a:buChar char="○"/>
            </a:pPr>
            <a:r>
              <a:rPr lang="ko" sz="1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인포그래픽, 카탈로그성 패털 이미지가 주로 포착 된것을 확인 </a:t>
            </a:r>
            <a:endParaRPr sz="110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  <a:p>
            <a:pPr indent="-234950" lvl="1" marL="6858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Lato"/>
              <a:buChar char="○"/>
            </a:pPr>
            <a:r>
              <a:rPr lang="ko" sz="1100">
                <a:solidFill>
                  <a:srgbClr val="434343"/>
                </a:solidFill>
                <a:latin typeface="Lato"/>
                <a:ea typeface="Lato"/>
                <a:cs typeface="Lato"/>
                <a:sym typeface="Lato"/>
              </a:rPr>
              <a:t>두 방법 모두 명백한 off-topic 보다 인포그래픽·브랜드 제품샷·작업자 등장 사진 등의 패널 이미지를 위주로 포착</a:t>
            </a:r>
            <a:endParaRPr sz="1100">
              <a:solidFill>
                <a:srgbClr val="434343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49" name="Google Shape;1049;p78"/>
          <p:cNvSpPr txBox="1"/>
          <p:nvPr/>
        </p:nvSpPr>
        <p:spPr>
          <a:xfrm flipH="1">
            <a:off x="4937711" y="3212793"/>
            <a:ext cx="786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050" name="Google Shape;1050;p78"/>
          <p:cNvSpPr txBox="1"/>
          <p:nvPr/>
        </p:nvSpPr>
        <p:spPr>
          <a:xfrm>
            <a:off x="571500" y="677651"/>
            <a:ext cx="8551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24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ood_score: </a:t>
            </a:r>
            <a:r>
              <a:rPr b="1" lang="ko" sz="1700">
                <a:solidFill>
                  <a:srgbClr val="757575"/>
                </a:solidFill>
                <a:latin typeface="Poppins"/>
                <a:ea typeface="Poppins"/>
                <a:cs typeface="Poppins"/>
                <a:sym typeface="Poppins"/>
              </a:rPr>
              <a:t>off-topic 탐지</a:t>
            </a:r>
            <a:endParaRPr b="1" sz="400">
              <a:solidFill>
                <a:srgbClr val="757575"/>
              </a:solidFill>
            </a:endParaRPr>
          </a:p>
        </p:txBody>
      </p:sp>
      <p:sp>
        <p:nvSpPr>
          <p:cNvPr id="1051" name="Google Shape;1051;p78"/>
          <p:cNvSpPr/>
          <p:nvPr/>
        </p:nvSpPr>
        <p:spPr>
          <a:xfrm>
            <a:off x="428625" y="677651"/>
            <a:ext cx="57000" cy="360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52" name="Google Shape;1052;p7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8925" y="1590356"/>
            <a:ext cx="3786301" cy="2570041"/>
          </a:xfrm>
          <a:prstGeom prst="rect">
            <a:avLst/>
          </a:prstGeom>
          <a:noFill/>
          <a:ln>
            <a:noFill/>
          </a:ln>
        </p:spPr>
      </p:pic>
      <p:sp>
        <p:nvSpPr>
          <p:cNvPr id="1053" name="Google Shape;1053;p78"/>
          <p:cNvSpPr txBox="1"/>
          <p:nvPr/>
        </p:nvSpPr>
        <p:spPr>
          <a:xfrm>
            <a:off x="614025" y="4296919"/>
            <a:ext cx="3176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lang="ko" sz="900">
                <a:solidFill>
                  <a:srgbClr val="595959"/>
                </a:solidFill>
              </a:rPr>
              <a:t>[그림 4] Centroid 거리 상위 이미지</a:t>
            </a:r>
            <a:endParaRPr sz="900">
              <a:solidFill>
                <a:srgbClr val="595959"/>
              </a:solidFill>
            </a:endParaRPr>
          </a:p>
        </p:txBody>
      </p:sp>
      <p:sp>
        <p:nvSpPr>
          <p:cNvPr id="1054" name="Google Shape;1054;p78"/>
          <p:cNvSpPr txBox="1"/>
          <p:nvPr/>
        </p:nvSpPr>
        <p:spPr>
          <a:xfrm flipH="1" rot="2339460">
            <a:off x="4876221" y="3860512"/>
            <a:ext cx="24317" cy="169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055" name="Google Shape;1055;p78"/>
          <p:cNvSpPr txBox="1"/>
          <p:nvPr/>
        </p:nvSpPr>
        <p:spPr>
          <a:xfrm>
            <a:off x="-2491700" y="4296925"/>
            <a:ext cx="3730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데이터셋의 정상 집단에서 떨어진 케이스는 ood일 확률이 높을것이다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FFFFF"/>
        </a:solidFill>
      </p:bgPr>
    </p:bg>
    <p:spTree>
      <p:nvGrpSpPr>
        <p:cNvPr id="1059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60" name="Google Shape;1060;p7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5638" y="1265006"/>
            <a:ext cx="4037587" cy="33746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1" name="Google Shape;1061;p7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330206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2" name="Google Shape;1062;p7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9900" y="1222150"/>
            <a:ext cx="4096049" cy="3921350"/>
          </a:xfrm>
          <a:prstGeom prst="rect">
            <a:avLst/>
          </a:prstGeom>
          <a:noFill/>
          <a:ln>
            <a:noFill/>
          </a:ln>
        </p:spPr>
      </p:pic>
      <p:sp>
        <p:nvSpPr>
          <p:cNvPr id="1063" name="Google Shape;1063;p79"/>
          <p:cNvSpPr txBox="1"/>
          <p:nvPr/>
        </p:nvSpPr>
        <p:spPr>
          <a:xfrm>
            <a:off x="428625" y="1360910"/>
            <a:ext cx="4125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rgbClr val="1155C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보완</a:t>
            </a:r>
            <a:r>
              <a:rPr lang="ko" sz="1600">
                <a:solidFill>
                  <a:srgbClr val="1155C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</a:t>
            </a:r>
            <a:r>
              <a:rPr lang="ko" sz="1600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: OCR 텍스트 신호 추가</a:t>
            </a:r>
            <a:endParaRPr sz="1100"/>
          </a:p>
        </p:txBody>
      </p:sp>
      <p:sp>
        <p:nvSpPr>
          <p:cNvPr id="1064" name="Google Shape;1064;p79"/>
          <p:cNvSpPr txBox="1"/>
          <p:nvPr/>
        </p:nvSpPr>
        <p:spPr>
          <a:xfrm>
            <a:off x="428625" y="1652275"/>
            <a:ext cx="3750300" cy="3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본 과제의 데이터 안내와 주제이탈(o</a:t>
            </a:r>
            <a:r>
              <a:rPr b="0" i="0" lang="ko" sz="11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ff-topic)의 </a:t>
            </a:r>
            <a:r>
              <a:rPr lang="ko" sz="1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정의에 맞춰 이미지 안의</a:t>
            </a:r>
            <a:r>
              <a:rPr b="0" i="0" lang="ko" sz="11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텍스트</a:t>
            </a:r>
            <a:r>
              <a:rPr lang="ko" sz="1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b="0" i="0" lang="ko" sz="11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탐지하</a:t>
            </a:r>
            <a:r>
              <a:rPr lang="ko" sz="1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는 ocr 텍스트 신호 도입 </a:t>
            </a:r>
            <a:endParaRPr sz="1100"/>
          </a:p>
        </p:txBody>
      </p:sp>
      <p:sp>
        <p:nvSpPr>
          <p:cNvPr id="1065" name="Google Shape;1065;p79"/>
          <p:cNvSpPr txBox="1"/>
          <p:nvPr/>
        </p:nvSpPr>
        <p:spPr>
          <a:xfrm>
            <a:off x="571500" y="677651"/>
            <a:ext cx="8551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24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ood_score </a:t>
            </a:r>
            <a:r>
              <a:rPr b="1" lang="ko" sz="240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정교</a:t>
            </a:r>
            <a:r>
              <a:rPr b="1" i="0" lang="ko" sz="24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화</a:t>
            </a:r>
            <a:endParaRPr b="1" sz="1700">
              <a:solidFill>
                <a:srgbClr val="999999"/>
              </a:solidFill>
            </a:endParaRPr>
          </a:p>
        </p:txBody>
      </p:sp>
      <p:sp>
        <p:nvSpPr>
          <p:cNvPr id="1066" name="Google Shape;1066;p79"/>
          <p:cNvSpPr/>
          <p:nvPr/>
        </p:nvSpPr>
        <p:spPr>
          <a:xfrm>
            <a:off x="428625" y="677651"/>
            <a:ext cx="57000" cy="360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7" name="Google Shape;1067;p79"/>
          <p:cNvSpPr txBox="1"/>
          <p:nvPr/>
        </p:nvSpPr>
        <p:spPr>
          <a:xfrm>
            <a:off x="428625" y="2260481"/>
            <a:ext cx="3721800" cy="263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8575" spcFirstLastPara="1" rIns="0" wrap="square" tIns="0">
            <a:spAutoFit/>
          </a:bodyPr>
          <a:lstStyle/>
          <a:p>
            <a:pPr indent="-23495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Lato"/>
              <a:buChar char="●"/>
            </a:pPr>
            <a:r>
              <a:rPr b="1" lang="ko" sz="1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OCR 기반 텍스트 신호 도입: </a:t>
            </a:r>
            <a:r>
              <a:rPr lang="ko" sz="1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인포그래픽 및 워터마크 이미지의 공통 특징인 화면 내 텍스트 비중 파악 목적으로 pytesseract로 길이 추출</a:t>
            </a:r>
            <a:endParaRPr sz="110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  <a:p>
            <a:pPr indent="-234950" lvl="0" marL="3429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Lato"/>
              <a:buChar char="●"/>
            </a:pPr>
            <a:r>
              <a:rPr b="1" lang="ko" sz="1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다중지표 순위 결합</a:t>
            </a:r>
            <a:r>
              <a:rPr lang="ko" sz="1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:  이미지 임베딩 거리(Centroid, KNN)와 OCR 텍스트 정보의 순위(Rank)를 결합하여 분석 다각화</a:t>
            </a:r>
            <a:endParaRPr sz="110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  <a:p>
            <a:pPr indent="-234950" lvl="0" marL="342900" marR="0" rtl="0" algn="l">
              <a:lnSpc>
                <a:spcPct val="159929"/>
              </a:lnSpc>
              <a:spcBef>
                <a:spcPts val="80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Lato"/>
              <a:buChar char="●"/>
            </a:pPr>
            <a:r>
              <a:rPr b="1" lang="ko" sz="1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최종 ood_score 산출 :</a:t>
            </a:r>
            <a:r>
              <a:rPr lang="ko" sz="1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sz="110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00">
                <a:solidFill>
                  <a:srgbClr val="166534"/>
                </a:solidFill>
                <a:latin typeface="Lato"/>
                <a:ea typeface="Lato"/>
                <a:cs typeface="Lato"/>
                <a:sym typeface="Lato"/>
              </a:rPr>
              <a:t>Avg(Centroid_rank, KNN_rank, Text_rank)</a:t>
            </a:r>
            <a:endParaRPr sz="110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  <a:p>
            <a:pPr indent="-234950" lvl="0" marL="3429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Lato"/>
              <a:buChar char="●"/>
            </a:pPr>
            <a:r>
              <a:rPr b="1" lang="ko" sz="1100">
                <a:solidFill>
                  <a:srgbClr val="434343"/>
                </a:solidFill>
                <a:latin typeface="Lato"/>
                <a:ea typeface="Lato"/>
                <a:cs typeface="Lato"/>
                <a:sym typeface="Lato"/>
              </a:rPr>
              <a:t>검증결과</a:t>
            </a:r>
            <a:r>
              <a:rPr lang="ko" sz="1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: </a:t>
            </a:r>
            <a:endParaRPr sz="110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  <a:p>
            <a:pPr indent="-234950" lvl="1" marL="685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Lato"/>
              <a:buChar char="○"/>
            </a:pPr>
            <a:r>
              <a:rPr lang="ko" sz="1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패널 미등장 이미지(워터마크, 물탱크, 전선 등)가 상위 35위(약 2.6%) 내에 성공적으로 포착</a:t>
            </a:r>
            <a:endParaRPr sz="110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068" name="Google Shape;1068;p79"/>
          <p:cNvPicPr preferRelativeResize="0"/>
          <p:nvPr/>
        </p:nvPicPr>
        <p:blipFill rotWithShape="1">
          <a:blip r:embed="rId6">
            <a:alphaModFix/>
          </a:blip>
          <a:srcRect b="12358" l="0" r="0" t="0"/>
          <a:stretch/>
        </p:blipFill>
        <p:spPr>
          <a:xfrm>
            <a:off x="4653494" y="1420631"/>
            <a:ext cx="4125600" cy="2962632"/>
          </a:xfrm>
          <a:prstGeom prst="rect">
            <a:avLst/>
          </a:prstGeom>
          <a:noFill/>
          <a:ln>
            <a:noFill/>
          </a:ln>
        </p:spPr>
      </p:pic>
      <p:sp>
        <p:nvSpPr>
          <p:cNvPr id="1069" name="Google Shape;1069;p79"/>
          <p:cNvSpPr txBox="1"/>
          <p:nvPr/>
        </p:nvSpPr>
        <p:spPr>
          <a:xfrm>
            <a:off x="5637613" y="4425338"/>
            <a:ext cx="2535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595959"/>
                </a:solidFill>
              </a:rPr>
              <a:t>[그림 5] 종합 ood_score 상위 20개 이미지</a:t>
            </a:r>
            <a:r>
              <a:rPr lang="ko" sz="900">
                <a:solidFill>
                  <a:srgbClr val="595959"/>
                </a:solidFill>
              </a:rPr>
              <a:t> </a:t>
            </a:r>
            <a:endParaRPr sz="120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FFFFF"/>
        </a:solidFill>
      </p:bgPr>
    </p:bg>
    <p:spTree>
      <p:nvGrpSpPr>
        <p:cNvPr id="1073" name="Shape 1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74" name="Google Shape;1074;p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3294" y="1282444"/>
            <a:ext cx="4229812" cy="3926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5" name="Google Shape;1075;p8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547370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6" name="Google Shape;1076;p8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9125" y="1249700"/>
            <a:ext cx="4291775" cy="4036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7" name="Google Shape;1077;p80"/>
          <p:cNvSpPr txBox="1"/>
          <p:nvPr/>
        </p:nvSpPr>
        <p:spPr>
          <a:xfrm>
            <a:off x="365400" y="1409943"/>
            <a:ext cx="39282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1155C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방법</a:t>
            </a:r>
            <a:r>
              <a:rPr lang="ko" sz="1300">
                <a:solidFill>
                  <a:srgbClr val="1155C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</a:t>
            </a:r>
            <a:r>
              <a:rPr lang="ko" sz="1600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:</a:t>
            </a:r>
            <a:r>
              <a:rPr lang="ko" sz="1500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ResNet k-fold + clenlab 라벨 품질 점수</a:t>
            </a:r>
            <a:r>
              <a:rPr lang="ko" sz="1600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</a:t>
            </a:r>
            <a:endParaRPr sz="1100"/>
          </a:p>
        </p:txBody>
      </p:sp>
      <p:sp>
        <p:nvSpPr>
          <p:cNvPr id="1078" name="Google Shape;1078;p80"/>
          <p:cNvSpPr txBox="1"/>
          <p:nvPr/>
        </p:nvSpPr>
        <p:spPr>
          <a:xfrm>
            <a:off x="571500" y="677651"/>
            <a:ext cx="8551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ko" sz="240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mislabel_score: </a:t>
            </a:r>
            <a:r>
              <a:rPr b="1" lang="ko" sz="1700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라벨 오류 탐지</a:t>
            </a:r>
            <a:endParaRPr b="1" sz="1700">
              <a:solidFill>
                <a:srgbClr val="999999"/>
              </a:solidFill>
            </a:endParaRPr>
          </a:p>
        </p:txBody>
      </p:sp>
      <p:sp>
        <p:nvSpPr>
          <p:cNvPr id="1079" name="Google Shape;1079;p80"/>
          <p:cNvSpPr/>
          <p:nvPr/>
        </p:nvSpPr>
        <p:spPr>
          <a:xfrm>
            <a:off x="428625" y="677651"/>
            <a:ext cx="57000" cy="360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0" name="Google Shape;1080;p80"/>
          <p:cNvSpPr txBox="1"/>
          <p:nvPr/>
        </p:nvSpPr>
        <p:spPr>
          <a:xfrm>
            <a:off x="365401" y="1813525"/>
            <a:ext cx="4125600" cy="31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8575" spcFirstLastPara="1" rIns="0" wrap="square" tIns="0">
            <a:spAutoFit/>
          </a:bodyPr>
          <a:lstStyle/>
          <a:p>
            <a:pPr indent="-23495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Lato"/>
              <a:buChar char="●"/>
            </a:pPr>
            <a:r>
              <a:rPr b="1" lang="ko" sz="11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K-fold 기반 예측 확률 산출:</a:t>
            </a:r>
            <a:r>
              <a:rPr lang="ko" sz="140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ko" sz="11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ResNet18 분류 모델을 5-fold 교차검증 방식으로 학습하여 각 검증셋에 대한 예측 확률 확보</a:t>
            </a:r>
            <a:endParaRPr sz="11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234950" lvl="0" marL="3429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Noto Sans KR"/>
              <a:buChar char="●"/>
            </a:pPr>
            <a:r>
              <a:rPr b="1" lang="ko" sz="11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Cleanlab 기반 품질점수 계산:</a:t>
            </a:r>
            <a:r>
              <a:rPr lang="ko" sz="140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ko" sz="8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cleanlab.rank_label_quality_scores</a:t>
            </a:r>
            <a:r>
              <a:rPr lang="ko" sz="11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 함수를 적용하여 학습된 확률값과 실제 라벨 간의 괴리 정도를 품질점수로 계산</a:t>
            </a:r>
            <a:endParaRPr sz="1100">
              <a:solidFill>
                <a:srgbClr val="434343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234950" lvl="0" marL="342900" rtl="0" algn="l">
              <a:lnSpc>
                <a:spcPct val="126611"/>
              </a:lnSpc>
              <a:spcBef>
                <a:spcPts val="80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Noto Sans KR"/>
              <a:buChar char="●"/>
            </a:pPr>
            <a:r>
              <a:rPr b="1" lang="ko" sz="11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mislabel_score 산출:</a:t>
            </a:r>
            <a:br>
              <a:rPr lang="ko" sz="140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ko" sz="1400">
                <a:solidFill>
                  <a:srgbClr val="434343"/>
                </a:solidFill>
                <a:latin typeface="Calibri"/>
                <a:ea typeface="Calibri"/>
                <a:cs typeface="Calibri"/>
                <a:sym typeface="Calibri"/>
              </a:rPr>
              <a:t>           </a:t>
            </a:r>
            <a:r>
              <a:rPr b="1" lang="ko" sz="1100">
                <a:solidFill>
                  <a:srgbClr val="434343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b="1" lang="ko" sz="1100">
                <a:solidFill>
                  <a:srgbClr val="166534"/>
                </a:solidFill>
                <a:latin typeface="Lato"/>
                <a:ea typeface="Lato"/>
                <a:cs typeface="Lato"/>
                <a:sym typeface="Lato"/>
              </a:rPr>
              <a:t>mislabel_score = 1- quality_score </a:t>
            </a:r>
            <a:endParaRPr b="1" sz="1100">
              <a:solidFill>
                <a:srgbClr val="166534"/>
              </a:solidFill>
              <a:latin typeface="Lato"/>
              <a:ea typeface="Lato"/>
              <a:cs typeface="Lato"/>
              <a:sym typeface="Lato"/>
            </a:endParaRPr>
          </a:p>
          <a:p>
            <a:pPr indent="-234950" lvl="0" marL="3429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Lato"/>
              <a:buChar char="●"/>
            </a:pPr>
            <a:r>
              <a:rPr b="1" lang="ko" sz="1100">
                <a:solidFill>
                  <a:srgbClr val="434343"/>
                </a:solidFill>
                <a:latin typeface="Lato"/>
                <a:ea typeface="Lato"/>
                <a:cs typeface="Lato"/>
                <a:sym typeface="Lato"/>
              </a:rPr>
              <a:t>검증결과: </a:t>
            </a:r>
            <a:endParaRPr sz="1100">
              <a:solidFill>
                <a:srgbClr val="434343"/>
              </a:solidFill>
              <a:latin typeface="Lato"/>
              <a:ea typeface="Lato"/>
              <a:cs typeface="Lato"/>
              <a:sym typeface="Lato"/>
            </a:endParaRPr>
          </a:p>
          <a:p>
            <a:pPr indent="-234950" lvl="1" marL="685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Lato"/>
              <a:buChar char="○"/>
            </a:pPr>
            <a:r>
              <a:rPr lang="ko" sz="1100">
                <a:solidFill>
                  <a:srgbClr val="434343"/>
                </a:solidFill>
                <a:latin typeface="Lato"/>
                <a:ea typeface="Lato"/>
                <a:cs typeface="Lato"/>
                <a:sym typeface="Lato"/>
              </a:rPr>
              <a:t>상위 후보 중 일부가 실제 라벨 오류가 아닌 ood-score, dup_score가 높은 이미지와 겹친다는 점을 발견 </a:t>
            </a:r>
            <a:endParaRPr sz="1100">
              <a:solidFill>
                <a:srgbClr val="434343"/>
              </a:solidFill>
              <a:latin typeface="Lato"/>
              <a:ea typeface="Lato"/>
              <a:cs typeface="Lato"/>
              <a:sym typeface="Lato"/>
            </a:endParaRPr>
          </a:p>
          <a:p>
            <a:pPr indent="-234950" lvl="1" marL="6858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Lato"/>
              <a:buChar char="○"/>
            </a:pPr>
            <a:r>
              <a:rPr lang="ko" sz="1100">
                <a:solidFill>
                  <a:srgbClr val="434343"/>
                </a:solidFill>
                <a:latin typeface="Lato"/>
                <a:ea typeface="Lato"/>
                <a:cs typeface="Lato"/>
                <a:sym typeface="Lato"/>
              </a:rPr>
              <a:t>모델이 비정상 이미지에 대해 예측 확신이 낮아지면 라벨오류로 인지하는 것으로 유추되며, 향후 mislabel 모델 학습시 off-topic과 중복 이미지를 제외하는 보정 필요</a:t>
            </a:r>
            <a:endParaRPr sz="110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81" name="Google Shape;1081;p80"/>
          <p:cNvSpPr txBox="1"/>
          <p:nvPr/>
        </p:nvSpPr>
        <p:spPr>
          <a:xfrm>
            <a:off x="5843138" y="4402388"/>
            <a:ext cx="2535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rgbClr val="595959"/>
                </a:solidFill>
              </a:rPr>
              <a:t>[그림 6] mislabel_score 상위 후보 시각화</a:t>
            </a:r>
            <a:r>
              <a:rPr lang="ko" sz="900">
                <a:solidFill>
                  <a:schemeClr val="dk1"/>
                </a:solidFill>
              </a:rPr>
              <a:t> </a:t>
            </a:r>
            <a:endParaRPr sz="900"/>
          </a:p>
        </p:txBody>
      </p:sp>
      <p:pic>
        <p:nvPicPr>
          <p:cNvPr id="1082" name="Google Shape;1082;p8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78456" y="1479750"/>
            <a:ext cx="3979350" cy="2871788"/>
          </a:xfrm>
          <a:prstGeom prst="rect">
            <a:avLst/>
          </a:prstGeom>
          <a:noFill/>
          <a:ln>
            <a:noFill/>
          </a:ln>
        </p:spPr>
      </p:pic>
      <p:sp>
        <p:nvSpPr>
          <p:cNvPr id="1083" name="Google Shape;1083;p80"/>
          <p:cNvSpPr txBox="1"/>
          <p:nvPr/>
        </p:nvSpPr>
        <p:spPr>
          <a:xfrm>
            <a:off x="-2408875" y="1566800"/>
            <a:ext cx="1698000" cy="46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resnet fine tune 없이  이진분류해서 예측 확률 확보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cleanlab 한줄 정리 검색해서 설명 준비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quality score가 cleanlab 결과물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FFFFF"/>
        </a:solidFill>
      </p:bgPr>
    </p:bg>
    <p:spTree>
      <p:nvGrpSpPr>
        <p:cNvPr id="1087" name="Shape 1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88" name="Google Shape;1088;p8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9525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9" name="Google Shape;1089;p8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625" y="3905510"/>
            <a:ext cx="8286750" cy="50285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90" name="Google Shape;1090;p81"/>
          <p:cNvGraphicFramePr/>
          <p:nvPr/>
        </p:nvGraphicFramePr>
        <p:xfrm>
          <a:off x="571500" y="139975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{EBB42007-BD4A-461F-8AA3-06A089F2EFE4}</a:tableStyleId>
              </a:tblPr>
              <a:tblGrid>
                <a:gridCol w="1421500"/>
                <a:gridCol w="2315600"/>
                <a:gridCol w="3585425"/>
              </a:tblGrid>
              <a:tr h="4796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ko" sz="1100" u="none" cap="none" strike="noStrike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항목</a:t>
                      </a:r>
                      <a:endParaRPr sz="1100"/>
                    </a:p>
                  </a:txBody>
                  <a:tcPr marT="19050" marB="19050" marR="47625" marL="47625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ko" sz="1100" u="none" cap="none" strike="noStrike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방법론 (Methodology)</a:t>
                      </a:r>
                      <a:endParaRPr sz="1100"/>
                    </a:p>
                  </a:txBody>
                  <a:tcPr marT="19050" marB="19050" marR="47625" marL="47625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ko" sz="1100" u="none" cap="none" strike="noStrike"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주요 검증 결과</a:t>
                      </a:r>
                      <a:endParaRPr sz="1100"/>
                    </a:p>
                  </a:txBody>
                  <a:tcPr marT="19050" marB="19050" marR="47625" marL="47625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4796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ko" sz="110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dup_score</a:t>
                      </a:r>
                      <a:endParaRPr sz="1100"/>
                    </a:p>
                  </a:txBody>
                  <a:tcPr marT="19050" marB="19050" marR="47625" marL="47625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" sz="110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pHash 최근접 거리</a:t>
                      </a:r>
                      <a:endParaRPr sz="1100"/>
                    </a:p>
                  </a:txBody>
                  <a:tcPr marT="19050" marB="19050" marR="47625" marL="47625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" sz="110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임계값 8 기준 중복 상위 10~14% 포착</a:t>
                      </a:r>
                      <a:endParaRPr sz="1100"/>
                    </a:p>
                  </a:txBody>
                  <a:tcPr marT="19050" marB="19050" marR="47625" marL="47625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96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ko" sz="110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ood_score</a:t>
                      </a:r>
                      <a:endParaRPr sz="1100"/>
                    </a:p>
                  </a:txBody>
                  <a:tcPr marT="19050" marB="19050" marR="47625" marL="47625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" sz="110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ResNet 임베딩 + OCR 순위</a:t>
                      </a:r>
                      <a:endParaRPr sz="1100"/>
                    </a:p>
                  </a:txBody>
                  <a:tcPr marT="19050" marB="19050" marR="47625" marL="47625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" sz="110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인포그래픽/패널 미등장 이미지 상위권 탐지</a:t>
                      </a:r>
                      <a:endParaRPr sz="1100"/>
                    </a:p>
                  </a:txBody>
                  <a:tcPr marT="19050" marB="19050" marR="47625" marL="47625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796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ko" sz="110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mislabel_score</a:t>
                      </a:r>
                      <a:endParaRPr sz="1100"/>
                    </a:p>
                  </a:txBody>
                  <a:tcPr marT="19050" marB="19050" marR="47625" marL="47625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" sz="110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ResNet K-fold + cleanlab</a:t>
                      </a:r>
                      <a:endParaRPr sz="1100"/>
                    </a:p>
                  </a:txBody>
                  <a:tcPr marT="19050" marB="19050" marR="47625" marL="47625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" sz="110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OOD/중복 이미지와 혼동 한계(보정 필요)</a:t>
                      </a:r>
                      <a:endParaRPr sz="1100"/>
                    </a:p>
                  </a:txBody>
                  <a:tcPr marT="19050" marB="19050" marR="47625" marL="47625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91" name="Google Shape;1091;p81"/>
          <p:cNvSpPr/>
          <p:nvPr/>
        </p:nvSpPr>
        <p:spPr>
          <a:xfrm>
            <a:off x="428625" y="2717639"/>
            <a:ext cx="1608900" cy="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2" name="Google Shape;1092;p81"/>
          <p:cNvSpPr/>
          <p:nvPr/>
        </p:nvSpPr>
        <p:spPr>
          <a:xfrm>
            <a:off x="2037307" y="2717639"/>
            <a:ext cx="2620500" cy="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3" name="Google Shape;1093;p81"/>
          <p:cNvSpPr/>
          <p:nvPr/>
        </p:nvSpPr>
        <p:spPr>
          <a:xfrm>
            <a:off x="4657836" y="2717639"/>
            <a:ext cx="4057800" cy="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4" name="Google Shape;1094;p81"/>
          <p:cNvSpPr/>
          <p:nvPr/>
        </p:nvSpPr>
        <p:spPr>
          <a:xfrm>
            <a:off x="428625" y="3199061"/>
            <a:ext cx="1608900" cy="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5" name="Google Shape;1095;p81"/>
          <p:cNvSpPr/>
          <p:nvPr/>
        </p:nvSpPr>
        <p:spPr>
          <a:xfrm>
            <a:off x="2037307" y="3199061"/>
            <a:ext cx="2620500" cy="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6" name="Google Shape;1096;p81"/>
          <p:cNvSpPr/>
          <p:nvPr/>
        </p:nvSpPr>
        <p:spPr>
          <a:xfrm>
            <a:off x="4657836" y="3199061"/>
            <a:ext cx="4057800" cy="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7" name="Google Shape;1097;p81"/>
          <p:cNvSpPr/>
          <p:nvPr/>
        </p:nvSpPr>
        <p:spPr>
          <a:xfrm>
            <a:off x="428625" y="3680482"/>
            <a:ext cx="1608900" cy="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8" name="Google Shape;1098;p81"/>
          <p:cNvSpPr/>
          <p:nvPr/>
        </p:nvSpPr>
        <p:spPr>
          <a:xfrm>
            <a:off x="2037307" y="3680482"/>
            <a:ext cx="2620500" cy="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9" name="Google Shape;1099;p81"/>
          <p:cNvSpPr/>
          <p:nvPr/>
        </p:nvSpPr>
        <p:spPr>
          <a:xfrm>
            <a:off x="4657836" y="3680482"/>
            <a:ext cx="4057800" cy="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0" name="Google Shape;1100;p81"/>
          <p:cNvSpPr txBox="1"/>
          <p:nvPr/>
        </p:nvSpPr>
        <p:spPr>
          <a:xfrm>
            <a:off x="571500" y="677651"/>
            <a:ext cx="8551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24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작업 요약 및 검증 결과</a:t>
            </a:r>
            <a:endParaRPr sz="1100"/>
          </a:p>
        </p:txBody>
      </p:sp>
      <p:sp>
        <p:nvSpPr>
          <p:cNvPr id="1101" name="Google Shape;1101;p81"/>
          <p:cNvSpPr/>
          <p:nvPr/>
        </p:nvSpPr>
        <p:spPr>
          <a:xfrm>
            <a:off x="428625" y="677651"/>
            <a:ext cx="57000" cy="360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FFFFF"/>
        </a:solidFill>
      </p:bgPr>
    </p:bg>
    <p:spTree>
      <p:nvGrpSpPr>
        <p:cNvPr id="1105" name="Shape 1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06" name="Google Shape;1106;p8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9525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7" name="Google Shape;1107;p8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625" y="1410925"/>
            <a:ext cx="4620425" cy="34751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8" name="Google Shape;1108;p82"/>
          <p:cNvSpPr txBox="1"/>
          <p:nvPr/>
        </p:nvSpPr>
        <p:spPr>
          <a:xfrm>
            <a:off x="607219" y="4048385"/>
            <a:ext cx="7965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5725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980000"/>
              </a:solidFill>
            </a:endParaRPr>
          </a:p>
        </p:txBody>
      </p:sp>
      <p:sp>
        <p:nvSpPr>
          <p:cNvPr id="1109" name="Google Shape;1109;p82"/>
          <p:cNvSpPr/>
          <p:nvPr/>
        </p:nvSpPr>
        <p:spPr>
          <a:xfrm>
            <a:off x="428625" y="2717639"/>
            <a:ext cx="1608900" cy="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0" name="Google Shape;1110;p82"/>
          <p:cNvSpPr/>
          <p:nvPr/>
        </p:nvSpPr>
        <p:spPr>
          <a:xfrm>
            <a:off x="2037307" y="2717639"/>
            <a:ext cx="2620500" cy="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1" name="Google Shape;1111;p82"/>
          <p:cNvSpPr/>
          <p:nvPr/>
        </p:nvSpPr>
        <p:spPr>
          <a:xfrm>
            <a:off x="4657836" y="2717639"/>
            <a:ext cx="4057800" cy="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2" name="Google Shape;1112;p82"/>
          <p:cNvSpPr/>
          <p:nvPr/>
        </p:nvSpPr>
        <p:spPr>
          <a:xfrm>
            <a:off x="428625" y="3199061"/>
            <a:ext cx="1608900" cy="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3" name="Google Shape;1113;p82"/>
          <p:cNvSpPr/>
          <p:nvPr/>
        </p:nvSpPr>
        <p:spPr>
          <a:xfrm>
            <a:off x="2037307" y="3199061"/>
            <a:ext cx="2620500" cy="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4" name="Google Shape;1114;p82"/>
          <p:cNvSpPr/>
          <p:nvPr/>
        </p:nvSpPr>
        <p:spPr>
          <a:xfrm>
            <a:off x="4657836" y="3199061"/>
            <a:ext cx="4057800" cy="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5" name="Google Shape;1115;p82"/>
          <p:cNvSpPr/>
          <p:nvPr/>
        </p:nvSpPr>
        <p:spPr>
          <a:xfrm>
            <a:off x="428625" y="3680482"/>
            <a:ext cx="1608900" cy="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6" name="Google Shape;1116;p82"/>
          <p:cNvSpPr/>
          <p:nvPr/>
        </p:nvSpPr>
        <p:spPr>
          <a:xfrm>
            <a:off x="2037307" y="3680482"/>
            <a:ext cx="2620500" cy="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7" name="Google Shape;1117;p82"/>
          <p:cNvSpPr/>
          <p:nvPr/>
        </p:nvSpPr>
        <p:spPr>
          <a:xfrm>
            <a:off x="4657836" y="3680482"/>
            <a:ext cx="4057800" cy="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8" name="Google Shape;1118;p82"/>
          <p:cNvSpPr txBox="1"/>
          <p:nvPr/>
        </p:nvSpPr>
        <p:spPr>
          <a:xfrm>
            <a:off x="571500" y="677651"/>
            <a:ext cx="8551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24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검증 결과</a:t>
            </a:r>
            <a:endParaRPr sz="1100"/>
          </a:p>
        </p:txBody>
      </p:sp>
      <p:sp>
        <p:nvSpPr>
          <p:cNvPr id="1119" name="Google Shape;1119;p82"/>
          <p:cNvSpPr/>
          <p:nvPr/>
        </p:nvSpPr>
        <p:spPr>
          <a:xfrm>
            <a:off x="428625" y="677651"/>
            <a:ext cx="57000" cy="360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0" name="Google Shape;1120;p82"/>
          <p:cNvSpPr txBox="1"/>
          <p:nvPr/>
        </p:nvSpPr>
        <p:spPr>
          <a:xfrm>
            <a:off x="523463" y="4404807"/>
            <a:ext cx="39291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121" name="Google Shape;1121;p82"/>
          <p:cNvSpPr txBox="1"/>
          <p:nvPr/>
        </p:nvSpPr>
        <p:spPr>
          <a:xfrm>
            <a:off x="428613" y="1574675"/>
            <a:ext cx="4362300" cy="31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ko" sz="1100">
                <a:solidFill>
                  <a:schemeClr val="dk1"/>
                </a:solidFill>
              </a:rPr>
              <a:t>정답 라벨이 제공되지 않아 정량적 AP를 직접 계산하지는 못함 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ko" sz="1100">
                <a:solidFill>
                  <a:schemeClr val="dk1"/>
                </a:solidFill>
              </a:rPr>
              <a:t>각 축의 상위 스코어 이미지를 육안으로 검토하여 정성적으로 타당성 확인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ko" sz="1100">
                <a:solidFill>
                  <a:schemeClr val="dk1"/>
                </a:solidFill>
              </a:rPr>
              <a:t>dup_score: 실제 시각적으로 동일한 이미지 쌍이 상위권 위치 확인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ko" sz="1100">
                <a:solidFill>
                  <a:schemeClr val="dk1"/>
                </a:solidFill>
              </a:rPr>
              <a:t>ood_score: 워터마크, 낙서, 안테나 등 패널이 아닌 이미지가 상위권에 위치함을 확인 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ko" sz="1100">
                <a:solidFill>
                  <a:schemeClr val="dk1"/>
                </a:solidFill>
              </a:rPr>
              <a:t>mislabel_score: 라벨-이미지 불일치보다 스타일 이질성에 더 민감하게 반응하는 한계 확인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ko" sz="1100">
                <a:solidFill>
                  <a:schemeClr val="dk1"/>
                </a:solidFill>
              </a:rPr>
              <a:t>3개 점수간 Spearman 상관계수가 모두 0.2 미만으로 가 낮고 이는 서로 다른 유형의 이상 신호를 독립적으로 포착하고 있음을 시사  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1122" name="Google Shape;1122;p8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34900" y="1494525"/>
            <a:ext cx="3387893" cy="2910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126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" name="Google Shape;1127;p8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데이터 EDA (track-a)</a:t>
            </a:r>
            <a:endParaRPr/>
          </a:p>
        </p:txBody>
      </p:sp>
      <p:sp>
        <p:nvSpPr>
          <p:cNvPr id="1128" name="Google Shape;1128;p8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9" name="Google Shape;1129;p8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133" name="Shape 1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4" name="Google Shape;1134;p8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sp>
        <p:nvSpPr>
          <p:cNvPr id="1135" name="Google Shape;1135;p84"/>
          <p:cNvSpPr txBox="1"/>
          <p:nvPr/>
        </p:nvSpPr>
        <p:spPr>
          <a:xfrm>
            <a:off x="408225" y="276150"/>
            <a:ext cx="7593900" cy="45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ko" sz="1300">
                <a:solidFill>
                  <a:schemeClr val="dk1"/>
                </a:solidFill>
              </a:rPr>
              <a:t>전처리 전략 1: 검증 신뢰성 확보 (Stratified Split)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ko" sz="1100">
                <a:solidFill>
                  <a:schemeClr val="dk1"/>
                </a:solidFill>
              </a:rPr>
              <a:t>적용 기법:</a:t>
            </a:r>
            <a:r>
              <a:rPr lang="ko" sz="1100">
                <a:solidFill>
                  <a:schemeClr val="dk1"/>
                </a:solidFill>
              </a:rPr>
              <a:t> </a:t>
            </a:r>
            <a:r>
              <a:rPr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Stratified Sampling</a:t>
            </a:r>
            <a:r>
              <a:rPr lang="ko" sz="1100">
                <a:solidFill>
                  <a:schemeClr val="dk1"/>
                </a:solidFill>
              </a:rPr>
              <a:t> 기반 Train/Validation Split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ko" sz="1100">
                <a:solidFill>
                  <a:schemeClr val="dk1"/>
                </a:solidFill>
              </a:rPr>
              <a:t>적용 사유</a:t>
            </a:r>
            <a:r>
              <a:rPr b="1" lang="ko" sz="1100">
                <a:solidFill>
                  <a:schemeClr val="dk1"/>
                </a:solidFill>
              </a:rPr>
              <a:t>:</a:t>
            </a: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ko" sz="1100">
                <a:solidFill>
                  <a:schemeClr val="dk1"/>
                </a:solidFill>
              </a:rPr>
              <a:t>클래스 불균형에 따른 데이터 편향 방지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ko" sz="1100">
                <a:solidFill>
                  <a:schemeClr val="dk1"/>
                </a:solidFill>
              </a:rPr>
              <a:t>학습셋과 검증셋의 레이블 분포를 동일하게 유지하여 평가 지표(ROC-AUC)의 객관성 확보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ko" sz="1100">
                <a:solidFill>
                  <a:schemeClr val="dk1"/>
                </a:solidFill>
              </a:rPr>
              <a:t>기대 효과:</a:t>
            </a:r>
            <a:r>
              <a:rPr lang="ko" sz="1100">
                <a:solidFill>
                  <a:schemeClr val="dk1"/>
                </a:solidFill>
              </a:rPr>
              <a:t> 모델 성능 평가의 변동성을 줄이고 과적합 여부를 정확히 판단 가능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ko" sz="1300">
                <a:solidFill>
                  <a:schemeClr val="dk1"/>
                </a:solidFill>
              </a:rPr>
              <a:t>전처리 전략 2: 기하학적·광학적 강건성 확보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ko" sz="1100">
                <a:solidFill>
                  <a:schemeClr val="dk1"/>
                </a:solidFill>
              </a:rPr>
              <a:t>적용 기법:</a:t>
            </a:r>
            <a:r>
              <a:rPr lang="ko" sz="1100">
                <a:solidFill>
                  <a:schemeClr val="dk1"/>
                </a:solidFill>
              </a:rPr>
              <a:t> </a:t>
            </a:r>
            <a:r>
              <a:rPr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RandomResizedCrop</a:t>
            </a:r>
            <a:r>
              <a:rPr lang="ko" sz="1100">
                <a:solidFill>
                  <a:schemeClr val="dk1"/>
                </a:solidFill>
              </a:rPr>
              <a:t>, </a:t>
            </a:r>
            <a:r>
              <a:rPr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RandomHorizontalFlip</a:t>
            </a:r>
            <a:r>
              <a:rPr lang="ko" sz="1100">
                <a:solidFill>
                  <a:schemeClr val="dk1"/>
                </a:solidFill>
              </a:rPr>
              <a:t>, </a:t>
            </a:r>
            <a:r>
              <a:rPr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ColorJitter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ko" sz="1100">
                <a:solidFill>
                  <a:schemeClr val="dk1"/>
                </a:solidFill>
              </a:rPr>
              <a:t>적용 사유</a:t>
            </a:r>
            <a:r>
              <a:rPr b="1" lang="ko" sz="1100">
                <a:solidFill>
                  <a:schemeClr val="dk1"/>
                </a:solidFill>
              </a:rPr>
              <a:t>:</a:t>
            </a: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ko" sz="1100">
                <a:solidFill>
                  <a:schemeClr val="dk1"/>
                </a:solidFill>
              </a:rPr>
              <a:t>각도 대응:</a:t>
            </a:r>
            <a:r>
              <a:rPr lang="ko" sz="1100">
                <a:solidFill>
                  <a:schemeClr val="dk1"/>
                </a:solidFill>
              </a:rPr>
              <a:t> 촬영 위치 변화를 모사하여 다양한 구도에서도 패널 영역을 인식하도록 유도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ko" sz="1100">
                <a:solidFill>
                  <a:schemeClr val="dk1"/>
                </a:solidFill>
              </a:rPr>
              <a:t>조도 대응:</a:t>
            </a:r>
            <a:r>
              <a:rPr lang="ko" sz="1100">
                <a:solidFill>
                  <a:schemeClr val="dk1"/>
                </a:solidFill>
              </a:rPr>
              <a:t> 기후 변화에 따른 색상/밝기 변동성을 인위적으로 확장하여 광학적 노이즈에 강건한 모델 생성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ko" sz="1100">
                <a:solidFill>
                  <a:schemeClr val="dk1"/>
                </a:solidFill>
              </a:rPr>
              <a:t>기술적 근거:</a:t>
            </a:r>
            <a:r>
              <a:rPr lang="ko" sz="1100">
                <a:solidFill>
                  <a:schemeClr val="dk1"/>
                </a:solidFill>
              </a:rPr>
              <a:t> 입력 데이터의 도메인을 확장하여 데이터 부족 문제를 간접적으로 해결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ko" sz="1300">
                <a:solidFill>
                  <a:schemeClr val="dk1"/>
                </a:solidFill>
              </a:rPr>
              <a:t>전처리 전략 3: 미세 패턴 학습 및 Shortcut Learning 방지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ko" sz="1100">
                <a:solidFill>
                  <a:schemeClr val="dk1"/>
                </a:solidFill>
              </a:rPr>
              <a:t>적용 기법:</a:t>
            </a:r>
            <a:r>
              <a:rPr lang="ko" sz="1100">
                <a:solidFill>
                  <a:schemeClr val="dk1"/>
                </a:solidFill>
              </a:rPr>
              <a:t> </a:t>
            </a:r>
            <a:r>
              <a:rPr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TrivialAugmentWide</a:t>
            </a:r>
            <a:r>
              <a:rPr lang="ko" sz="1100">
                <a:solidFill>
                  <a:schemeClr val="dk1"/>
                </a:solidFill>
              </a:rPr>
              <a:t>, </a:t>
            </a:r>
            <a:r>
              <a:rPr lang="ko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RandomErasing (Cutout)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ko" sz="1100">
                <a:solidFill>
                  <a:schemeClr val="dk1"/>
                </a:solidFill>
              </a:rPr>
              <a:t>적용 사</a:t>
            </a:r>
            <a:r>
              <a:rPr b="1" lang="ko" sz="1100">
                <a:solidFill>
                  <a:schemeClr val="dk1"/>
                </a:solidFill>
              </a:rPr>
              <a:t>유:</a:t>
            </a: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ko" sz="1100">
                <a:solidFill>
                  <a:schemeClr val="dk1"/>
                </a:solidFill>
              </a:rPr>
              <a:t>패턴 다양화:</a:t>
            </a:r>
            <a:r>
              <a:rPr lang="ko" sz="1100">
                <a:solidFill>
                  <a:schemeClr val="dk1"/>
                </a:solidFill>
              </a:rPr>
              <a:t> SOTA 증강 알고리즘을 통해 패널 프레임의 왜곡 및 복잡한 오염 형태를 무작위로 학습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ko" sz="1100">
                <a:solidFill>
                  <a:schemeClr val="dk1"/>
                </a:solidFill>
              </a:rPr>
              <a:t>국소 편향 제거:</a:t>
            </a:r>
            <a:r>
              <a:rPr lang="ko" sz="1100">
                <a:solidFill>
                  <a:schemeClr val="dk1"/>
                </a:solidFill>
              </a:rPr>
              <a:t> 패널의 깨끗한 일부 영역(모서리 등)만 보고 판단하는 '지름길 학습(Shortcut)' 차단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ko" sz="1100">
                <a:solidFill>
                  <a:schemeClr val="dk1"/>
                </a:solidFill>
              </a:rPr>
              <a:t>기대 효과:</a:t>
            </a:r>
            <a:r>
              <a:rPr lang="ko" sz="1100">
                <a:solidFill>
                  <a:schemeClr val="dk1"/>
                </a:solidFill>
              </a:rPr>
              <a:t> 모델이 패널 전체의 질감을 골고루 살피도록 강제하여 실제 환경에서의 오염 판별력 상승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136" name="Google Shape;1136;p84"/>
          <p:cNvSpPr txBox="1"/>
          <p:nvPr/>
        </p:nvSpPr>
        <p:spPr>
          <a:xfrm>
            <a:off x="-2232875" y="1539200"/>
            <a:ext cx="18324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track-b 필터 후 추가 전처리 작업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train_transpose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0B0D12"/>
        </a:solidFill>
      </p:bgPr>
    </p:bg>
    <p:spTree>
      <p:nvGrpSpPr>
        <p:cNvPr id="1141" name="Shape 1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2" name="Google Shape;1142;p85"/>
          <p:cNvSpPr/>
          <p:nvPr/>
        </p:nvSpPr>
        <p:spPr>
          <a:xfrm>
            <a:off x="377190" y="329184"/>
            <a:ext cx="41100" cy="411600"/>
          </a:xfrm>
          <a:prstGeom prst="rect">
            <a:avLst/>
          </a:prstGeom>
          <a:solidFill>
            <a:srgbClr val="C9CDD8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3" name="Google Shape;1143;p85"/>
          <p:cNvSpPr/>
          <p:nvPr/>
        </p:nvSpPr>
        <p:spPr>
          <a:xfrm>
            <a:off x="534924" y="260604"/>
            <a:ext cx="81609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ko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전처리 전략 요약: </a:t>
            </a:r>
            <a:r>
              <a:rPr b="1" i="0" lang="ko" sz="2000" u="none" cap="none" strike="noStrike">
                <a:solidFill>
                  <a:srgbClr val="C9CDD8"/>
                </a:solidFill>
                <a:latin typeface="Calibri"/>
                <a:ea typeface="Calibri"/>
                <a:cs typeface="Calibri"/>
                <a:sym typeface="Calibri"/>
              </a:rPr>
              <a:t>3가지 핵심 전략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4" name="Google Shape;1144;p85"/>
          <p:cNvSpPr/>
          <p:nvPr/>
        </p:nvSpPr>
        <p:spPr>
          <a:xfrm>
            <a:off x="534924" y="672084"/>
            <a:ext cx="81609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AFC0"/>
              </a:buClr>
              <a:buSzPts val="1100"/>
              <a:buFont typeface="Calibri"/>
              <a:buNone/>
            </a:pPr>
            <a:r>
              <a:rPr b="0" i="1" lang="ko" sz="1100" u="none" cap="none" strike="noStrike">
                <a:solidFill>
                  <a:srgbClr val="A9AFC0"/>
                </a:solidFill>
                <a:latin typeface="Calibri"/>
                <a:ea typeface="Calibri"/>
                <a:cs typeface="Calibri"/>
                <a:sym typeface="Calibri"/>
              </a:rPr>
              <a:t>검증 신뢰성 저하 · 촬영환경 변화 · 지름길 학습, 3가지 리스크에 대응하는 가설 기반 전처리 전략을 순차 적용했습니다.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5" name="Google Shape;1145;p85"/>
          <p:cNvSpPr/>
          <p:nvPr/>
        </p:nvSpPr>
        <p:spPr>
          <a:xfrm>
            <a:off x="377190" y="1200150"/>
            <a:ext cx="2469000" cy="2846100"/>
          </a:xfrm>
          <a:prstGeom prst="roundRect">
            <a:avLst>
              <a:gd fmla="val 2500" name="adj"/>
            </a:avLst>
          </a:prstGeom>
          <a:solidFill>
            <a:srgbClr val="14182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6" name="Google Shape;1146;p85"/>
          <p:cNvSpPr/>
          <p:nvPr/>
        </p:nvSpPr>
        <p:spPr>
          <a:xfrm>
            <a:off x="569214" y="1405890"/>
            <a:ext cx="425100" cy="425100"/>
          </a:xfrm>
          <a:prstGeom prst="ellipse">
            <a:avLst/>
          </a:prstGeom>
          <a:solidFill>
            <a:srgbClr val="3E8ED0">
              <a:alpha val="16079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7" name="Google Shape;1147;p85"/>
          <p:cNvSpPr/>
          <p:nvPr/>
        </p:nvSpPr>
        <p:spPr>
          <a:xfrm>
            <a:off x="569214" y="1405890"/>
            <a:ext cx="4251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E8ED0"/>
              </a:buClr>
              <a:buSzPts val="1400"/>
              <a:buFont typeface="Calibri"/>
              <a:buNone/>
            </a:pPr>
            <a:r>
              <a:rPr b="1" i="0" lang="ko" sz="1400" u="none" cap="none" strike="noStrike">
                <a:solidFill>
                  <a:srgbClr val="3E8ED0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8" name="Google Shape;1148;p85"/>
          <p:cNvSpPr/>
          <p:nvPr/>
        </p:nvSpPr>
        <p:spPr>
          <a:xfrm>
            <a:off x="569214" y="1968246"/>
            <a:ext cx="2085000" cy="4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ko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검증 신뢰성 확보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9" name="Google Shape;1149;p85"/>
          <p:cNvSpPr/>
          <p:nvPr/>
        </p:nvSpPr>
        <p:spPr>
          <a:xfrm>
            <a:off x="569214" y="2468880"/>
            <a:ext cx="2085000" cy="8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A9AFC0"/>
              </a:buClr>
              <a:buSzPts val="900"/>
              <a:buFont typeface="Calibri"/>
              <a:buNone/>
            </a:pPr>
            <a:r>
              <a:rPr b="0" i="0" lang="ko" sz="900" u="none" cap="none" strike="noStrike">
                <a:solidFill>
                  <a:srgbClr val="A9AFC0"/>
                </a:solidFill>
                <a:latin typeface="Calibri"/>
                <a:ea typeface="Calibri"/>
                <a:cs typeface="Calibri"/>
                <a:sym typeface="Calibri"/>
              </a:rPr>
              <a:t>학습 / 검증 데이터의 레이블 분포를 일치시켜 평가 지표의 객관성 확보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50" name="Google Shape;1150;p85"/>
          <p:cNvCxnSpPr/>
          <p:nvPr/>
        </p:nvCxnSpPr>
        <p:spPr>
          <a:xfrm>
            <a:off x="569214" y="3394710"/>
            <a:ext cx="2085000" cy="0"/>
          </a:xfrm>
          <a:prstGeom prst="straightConnector1">
            <a:avLst/>
          </a:prstGeom>
          <a:noFill/>
          <a:ln cap="flat" cmpd="sng" w="7150">
            <a:solidFill>
              <a:srgbClr val="262A3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51" name="Google Shape;1151;p85"/>
          <p:cNvSpPr/>
          <p:nvPr/>
        </p:nvSpPr>
        <p:spPr>
          <a:xfrm>
            <a:off x="569214" y="3511296"/>
            <a:ext cx="20850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385"/>
              </a:buClr>
              <a:buSzPts val="800"/>
              <a:buFont typeface="Calibri"/>
              <a:buNone/>
            </a:pPr>
            <a:r>
              <a:rPr b="0" i="0" lang="ko" sz="800" u="none" cap="none" strike="noStrike">
                <a:solidFill>
                  <a:srgbClr val="6E7385"/>
                </a:solidFill>
                <a:latin typeface="Calibri"/>
                <a:ea typeface="Calibri"/>
                <a:cs typeface="Calibri"/>
                <a:sym typeface="Calibri"/>
              </a:rPr>
              <a:t>적용 기법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2" name="Google Shape;1152;p85"/>
          <p:cNvSpPr/>
          <p:nvPr/>
        </p:nvSpPr>
        <p:spPr>
          <a:xfrm>
            <a:off x="569214" y="3703320"/>
            <a:ext cx="2085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E8ED0"/>
              </a:buClr>
              <a:buSzPts val="900"/>
              <a:buFont typeface="Calibri"/>
              <a:buNone/>
            </a:pPr>
            <a:r>
              <a:rPr b="1" i="0" lang="ko" sz="900" u="none" cap="none" strike="noStrike">
                <a:solidFill>
                  <a:srgbClr val="3E8ED0"/>
                </a:solidFill>
                <a:latin typeface="Calibri"/>
                <a:ea typeface="Calibri"/>
                <a:cs typeface="Calibri"/>
                <a:sym typeface="Calibri"/>
              </a:rPr>
              <a:t>Stratified Sampling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3" name="Google Shape;1153;p85"/>
          <p:cNvSpPr/>
          <p:nvPr/>
        </p:nvSpPr>
        <p:spPr>
          <a:xfrm>
            <a:off x="3278124" y="1200150"/>
            <a:ext cx="2469000" cy="2846100"/>
          </a:xfrm>
          <a:prstGeom prst="roundRect">
            <a:avLst>
              <a:gd fmla="val 2500" name="adj"/>
            </a:avLst>
          </a:prstGeom>
          <a:solidFill>
            <a:srgbClr val="14182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4" name="Google Shape;1154;p85"/>
          <p:cNvSpPr/>
          <p:nvPr/>
        </p:nvSpPr>
        <p:spPr>
          <a:xfrm>
            <a:off x="3470148" y="1405890"/>
            <a:ext cx="425100" cy="425100"/>
          </a:xfrm>
          <a:prstGeom prst="ellipse">
            <a:avLst/>
          </a:prstGeom>
          <a:solidFill>
            <a:srgbClr val="1D9E75">
              <a:alpha val="16079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5" name="Google Shape;1155;p85"/>
          <p:cNvSpPr/>
          <p:nvPr/>
        </p:nvSpPr>
        <p:spPr>
          <a:xfrm>
            <a:off x="3470148" y="1405890"/>
            <a:ext cx="4251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9E75"/>
              </a:buClr>
              <a:buSzPts val="1400"/>
              <a:buFont typeface="Calibri"/>
              <a:buNone/>
            </a:pPr>
            <a:r>
              <a:rPr b="1" i="0" lang="ko" sz="1400" u="none" cap="none" strike="noStrike">
                <a:solidFill>
                  <a:srgbClr val="1D9E75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6" name="Google Shape;1156;p85"/>
          <p:cNvSpPr/>
          <p:nvPr/>
        </p:nvSpPr>
        <p:spPr>
          <a:xfrm>
            <a:off x="3470148" y="1968246"/>
            <a:ext cx="2085000" cy="4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ko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기하학적·광학적 강건성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7" name="Google Shape;1157;p85"/>
          <p:cNvSpPr/>
          <p:nvPr/>
        </p:nvSpPr>
        <p:spPr>
          <a:xfrm>
            <a:off x="3470148" y="2468880"/>
            <a:ext cx="2085000" cy="8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A9AFC0"/>
              </a:buClr>
              <a:buSzPts val="900"/>
              <a:buFont typeface="Calibri"/>
              <a:buNone/>
            </a:pPr>
            <a:r>
              <a:rPr b="0" i="0" lang="ko" sz="900" u="none" cap="none" strike="noStrike">
                <a:solidFill>
                  <a:srgbClr val="A9AFC0"/>
                </a:solidFill>
                <a:latin typeface="Calibri"/>
                <a:ea typeface="Calibri"/>
                <a:cs typeface="Calibri"/>
                <a:sym typeface="Calibri"/>
              </a:rPr>
              <a:t>촬영 각도와 조도 변화를 모사하여 다양한 환경에 강건한 모델 학습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58" name="Google Shape;1158;p85"/>
          <p:cNvCxnSpPr/>
          <p:nvPr/>
        </p:nvCxnSpPr>
        <p:spPr>
          <a:xfrm>
            <a:off x="3470148" y="3394710"/>
            <a:ext cx="2085000" cy="0"/>
          </a:xfrm>
          <a:prstGeom prst="straightConnector1">
            <a:avLst/>
          </a:prstGeom>
          <a:noFill/>
          <a:ln cap="flat" cmpd="sng" w="7150">
            <a:solidFill>
              <a:srgbClr val="262A3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59" name="Google Shape;1159;p85"/>
          <p:cNvSpPr/>
          <p:nvPr/>
        </p:nvSpPr>
        <p:spPr>
          <a:xfrm>
            <a:off x="3470148" y="3511296"/>
            <a:ext cx="20850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385"/>
              </a:buClr>
              <a:buSzPts val="800"/>
              <a:buFont typeface="Calibri"/>
              <a:buNone/>
            </a:pPr>
            <a:r>
              <a:rPr b="0" i="0" lang="ko" sz="800" u="none" cap="none" strike="noStrike">
                <a:solidFill>
                  <a:srgbClr val="6E7385"/>
                </a:solidFill>
                <a:latin typeface="Calibri"/>
                <a:ea typeface="Calibri"/>
                <a:cs typeface="Calibri"/>
                <a:sym typeface="Calibri"/>
              </a:rPr>
              <a:t>적용 기법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0" name="Google Shape;1160;p85"/>
          <p:cNvSpPr/>
          <p:nvPr/>
        </p:nvSpPr>
        <p:spPr>
          <a:xfrm>
            <a:off x="3470148" y="3703320"/>
            <a:ext cx="2085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9E75"/>
              </a:buClr>
              <a:buSzPts val="900"/>
              <a:buFont typeface="Calibri"/>
              <a:buNone/>
            </a:pPr>
            <a:r>
              <a:rPr b="1" i="0" lang="ko" sz="900" u="none" cap="none" strike="noStrike">
                <a:solidFill>
                  <a:srgbClr val="1D9E75"/>
                </a:solidFill>
                <a:latin typeface="Calibri"/>
                <a:ea typeface="Calibri"/>
                <a:cs typeface="Calibri"/>
                <a:sym typeface="Calibri"/>
              </a:rPr>
              <a:t>Crop · Flip · ColorJitter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1" name="Google Shape;1161;p85"/>
          <p:cNvSpPr/>
          <p:nvPr/>
        </p:nvSpPr>
        <p:spPr>
          <a:xfrm>
            <a:off x="6179058" y="1200150"/>
            <a:ext cx="2469000" cy="2846100"/>
          </a:xfrm>
          <a:prstGeom prst="roundRect">
            <a:avLst>
              <a:gd fmla="val 2500" name="adj"/>
            </a:avLst>
          </a:prstGeom>
          <a:solidFill>
            <a:srgbClr val="14182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2" name="Google Shape;1162;p85"/>
          <p:cNvSpPr/>
          <p:nvPr/>
        </p:nvSpPr>
        <p:spPr>
          <a:xfrm>
            <a:off x="6371082" y="1405890"/>
            <a:ext cx="425100" cy="425100"/>
          </a:xfrm>
          <a:prstGeom prst="ellipse">
            <a:avLst/>
          </a:prstGeom>
          <a:solidFill>
            <a:srgbClr val="D85A30">
              <a:alpha val="16079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3" name="Google Shape;1163;p85"/>
          <p:cNvSpPr/>
          <p:nvPr/>
        </p:nvSpPr>
        <p:spPr>
          <a:xfrm>
            <a:off x="6371082" y="1405890"/>
            <a:ext cx="4251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85A30"/>
              </a:buClr>
              <a:buSzPts val="1400"/>
              <a:buFont typeface="Calibri"/>
              <a:buNone/>
            </a:pPr>
            <a:r>
              <a:rPr b="1" i="0" lang="ko" sz="1400" u="none" cap="none" strike="noStrike">
                <a:solidFill>
                  <a:srgbClr val="D85A30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4" name="Google Shape;1164;p85"/>
          <p:cNvSpPr/>
          <p:nvPr/>
        </p:nvSpPr>
        <p:spPr>
          <a:xfrm>
            <a:off x="6371082" y="1968246"/>
            <a:ext cx="2085000" cy="4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ko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Shortcut Learning 방지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5" name="Google Shape;1165;p85"/>
          <p:cNvSpPr/>
          <p:nvPr/>
        </p:nvSpPr>
        <p:spPr>
          <a:xfrm>
            <a:off x="6371082" y="2468880"/>
            <a:ext cx="2085000" cy="8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A9AFC0"/>
              </a:buClr>
              <a:buSzPts val="900"/>
              <a:buFont typeface="Calibri"/>
              <a:buNone/>
            </a:pPr>
            <a:r>
              <a:rPr b="0" i="0" lang="ko" sz="900" u="none" cap="none" strike="noStrike">
                <a:solidFill>
                  <a:srgbClr val="A9AFC0"/>
                </a:solidFill>
                <a:latin typeface="Calibri"/>
                <a:ea typeface="Calibri"/>
                <a:cs typeface="Calibri"/>
                <a:sym typeface="Calibri"/>
              </a:rPr>
              <a:t>국소 패턴 의존을 차단하여 패널 전체의 미세 오염 판별력 강화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66" name="Google Shape;1166;p85"/>
          <p:cNvCxnSpPr/>
          <p:nvPr/>
        </p:nvCxnSpPr>
        <p:spPr>
          <a:xfrm>
            <a:off x="6371082" y="3394710"/>
            <a:ext cx="2085000" cy="0"/>
          </a:xfrm>
          <a:prstGeom prst="straightConnector1">
            <a:avLst/>
          </a:prstGeom>
          <a:noFill/>
          <a:ln cap="flat" cmpd="sng" w="7150">
            <a:solidFill>
              <a:srgbClr val="262A3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67" name="Google Shape;1167;p85"/>
          <p:cNvSpPr/>
          <p:nvPr/>
        </p:nvSpPr>
        <p:spPr>
          <a:xfrm>
            <a:off x="6371082" y="3511296"/>
            <a:ext cx="20850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385"/>
              </a:buClr>
              <a:buSzPts val="800"/>
              <a:buFont typeface="Calibri"/>
              <a:buNone/>
            </a:pPr>
            <a:r>
              <a:rPr b="0" i="0" lang="ko" sz="800" u="none" cap="none" strike="noStrike">
                <a:solidFill>
                  <a:srgbClr val="6E7385"/>
                </a:solidFill>
                <a:latin typeface="Calibri"/>
                <a:ea typeface="Calibri"/>
                <a:cs typeface="Calibri"/>
                <a:sym typeface="Calibri"/>
              </a:rPr>
              <a:t>적용 기법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8" name="Google Shape;1168;p85"/>
          <p:cNvSpPr/>
          <p:nvPr/>
        </p:nvSpPr>
        <p:spPr>
          <a:xfrm>
            <a:off x="6371082" y="3703320"/>
            <a:ext cx="2085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85A30"/>
              </a:buClr>
              <a:buSzPts val="900"/>
              <a:buFont typeface="Calibri"/>
              <a:buNone/>
            </a:pPr>
            <a:r>
              <a:rPr b="1" i="0" lang="ko" sz="900" u="none" cap="none" strike="noStrike">
                <a:solidFill>
                  <a:srgbClr val="D85A30"/>
                </a:solidFill>
                <a:latin typeface="Calibri"/>
                <a:ea typeface="Calibri"/>
                <a:cs typeface="Calibri"/>
                <a:sym typeface="Calibri"/>
              </a:rPr>
              <a:t>TrivialAugment · Cutout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69" name="Google Shape;1169;p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22880" y="2520315"/>
            <a:ext cx="205740" cy="2057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170" name="Google Shape;1170;p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23814" y="2520315"/>
            <a:ext cx="205740" cy="205740"/>
          </a:xfrm>
          <a:prstGeom prst="rect">
            <a:avLst/>
          </a:prstGeom>
          <a:noFill/>
          <a:ln>
            <a:noFill/>
          </a:ln>
        </p:spPr>
      </p:pic>
      <p:sp>
        <p:nvSpPr>
          <p:cNvPr id="1171" name="Google Shape;1171;p85"/>
          <p:cNvSpPr/>
          <p:nvPr/>
        </p:nvSpPr>
        <p:spPr>
          <a:xfrm>
            <a:off x="377190" y="4217670"/>
            <a:ext cx="8286600" cy="582900"/>
          </a:xfrm>
          <a:prstGeom prst="roundRect">
            <a:avLst>
              <a:gd fmla="val 9412" name="adj"/>
            </a:avLst>
          </a:prstGeom>
          <a:solidFill>
            <a:srgbClr val="C9CDD8">
              <a:alpha val="10199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72" name="Google Shape;1172;p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9214" y="4399407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1173" name="Google Shape;1173;p85"/>
          <p:cNvSpPr/>
          <p:nvPr/>
        </p:nvSpPr>
        <p:spPr>
          <a:xfrm>
            <a:off x="891540" y="4217670"/>
            <a:ext cx="76008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ko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종합 효과: </a:t>
            </a:r>
            <a:r>
              <a:rPr b="0" i="0" lang="ko" sz="1000" u="none" cap="none" strike="noStrike">
                <a:solidFill>
                  <a:srgbClr val="A9AFC0"/>
                </a:solidFill>
                <a:latin typeface="Calibri"/>
                <a:ea typeface="Calibri"/>
                <a:cs typeface="Calibri"/>
                <a:sym typeface="Calibri"/>
              </a:rPr>
              <a:t>3단계 전략의 순차 적용으로 소규모 데이터셋의 한계를 보완하고, 실제 환경에서도 안정적인 오염 판별 성능을 확보했습니다.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4" name="Google Shape;1174;p85"/>
          <p:cNvSpPr/>
          <p:nvPr/>
        </p:nvSpPr>
        <p:spPr>
          <a:xfrm>
            <a:off x="7886700" y="4882896"/>
            <a:ext cx="10974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7385"/>
              </a:buClr>
              <a:buSzPts val="800"/>
              <a:buFont typeface="Calibri"/>
              <a:buNone/>
            </a:pPr>
            <a:r>
              <a:rPr b="0" i="0" lang="ko" sz="800" u="none" cap="none" strike="noStrike">
                <a:solidFill>
                  <a:srgbClr val="6E7385"/>
                </a:solidFill>
                <a:latin typeface="Calibri"/>
                <a:ea typeface="Calibri"/>
                <a:cs typeface="Calibri"/>
                <a:sym typeface="Calibri"/>
              </a:rPr>
              <a:t>전처리 · 요약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0B0D12"/>
        </a:solidFill>
      </p:bgPr>
    </p:bg>
    <p:spTree>
      <p:nvGrpSpPr>
        <p:cNvPr id="1179" name="Shape 1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0" name="Google Shape;1180;p86"/>
          <p:cNvSpPr/>
          <p:nvPr/>
        </p:nvSpPr>
        <p:spPr>
          <a:xfrm>
            <a:off x="377190" y="329184"/>
            <a:ext cx="41100" cy="411600"/>
          </a:xfrm>
          <a:prstGeom prst="rect">
            <a:avLst/>
          </a:prstGeom>
          <a:solidFill>
            <a:srgbClr val="3E8ED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1" name="Google Shape;1181;p86"/>
          <p:cNvSpPr/>
          <p:nvPr/>
        </p:nvSpPr>
        <p:spPr>
          <a:xfrm>
            <a:off x="534924" y="260604"/>
            <a:ext cx="81609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ko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전처리 전략 1: </a:t>
            </a:r>
            <a:r>
              <a:rPr b="1" i="0" lang="ko" sz="2000" u="none" cap="none" strike="noStrike">
                <a:solidFill>
                  <a:srgbClr val="3E8ED0"/>
                </a:solidFill>
                <a:latin typeface="Calibri"/>
                <a:ea typeface="Calibri"/>
                <a:cs typeface="Calibri"/>
                <a:sym typeface="Calibri"/>
              </a:rPr>
              <a:t>검증 신뢰성 확보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2" name="Google Shape;1182;p86"/>
          <p:cNvSpPr/>
          <p:nvPr/>
        </p:nvSpPr>
        <p:spPr>
          <a:xfrm>
            <a:off x="534924" y="651510"/>
            <a:ext cx="81609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385"/>
              </a:buClr>
              <a:buSzPts val="1000"/>
              <a:buFont typeface="Calibri"/>
              <a:buNone/>
            </a:pPr>
            <a:r>
              <a:rPr b="0" i="1" lang="ko" sz="1000" u="none" cap="none" strike="noStrike">
                <a:solidFill>
                  <a:srgbClr val="6E7385"/>
                </a:solidFill>
                <a:latin typeface="Calibri"/>
                <a:ea typeface="Calibri"/>
                <a:cs typeface="Calibri"/>
                <a:sym typeface="Calibri"/>
              </a:rPr>
              <a:t>Stratified Sampling 기반 Train / Validation Split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3" name="Google Shape;1183;p86"/>
          <p:cNvSpPr/>
          <p:nvPr/>
        </p:nvSpPr>
        <p:spPr>
          <a:xfrm>
            <a:off x="377190" y="1062990"/>
            <a:ext cx="2640300" cy="2674500"/>
          </a:xfrm>
          <a:prstGeom prst="roundRect">
            <a:avLst>
              <a:gd fmla="val 2338" name="adj"/>
            </a:avLst>
          </a:prstGeom>
          <a:solidFill>
            <a:srgbClr val="14182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4" name="Google Shape;1184;p86"/>
          <p:cNvSpPr/>
          <p:nvPr/>
        </p:nvSpPr>
        <p:spPr>
          <a:xfrm>
            <a:off x="582930" y="1268730"/>
            <a:ext cx="425100" cy="425100"/>
          </a:xfrm>
          <a:prstGeom prst="ellipse">
            <a:avLst/>
          </a:prstGeom>
          <a:solidFill>
            <a:srgbClr val="3E8ED0">
              <a:alpha val="16079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85" name="Google Shape;1185;p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1371600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1186" name="Google Shape;1186;p86"/>
          <p:cNvSpPr/>
          <p:nvPr/>
        </p:nvSpPr>
        <p:spPr>
          <a:xfrm>
            <a:off x="582930" y="1817370"/>
            <a:ext cx="2229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ko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적용 기법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7" name="Google Shape;1187;p86"/>
          <p:cNvSpPr/>
          <p:nvPr/>
        </p:nvSpPr>
        <p:spPr>
          <a:xfrm>
            <a:off x="582930" y="2146554"/>
            <a:ext cx="22290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A9AFC0"/>
              </a:buClr>
              <a:buSzPts val="1000"/>
              <a:buFont typeface="Calibri"/>
              <a:buNone/>
            </a:pPr>
            <a:r>
              <a:rPr b="0" i="0" lang="ko" sz="1000" u="none" cap="none" strike="noStrike">
                <a:solidFill>
                  <a:srgbClr val="A9AFC0"/>
                </a:solidFill>
                <a:latin typeface="Calibri"/>
                <a:ea typeface="Calibri"/>
                <a:cs typeface="Calibri"/>
                <a:sym typeface="Calibri"/>
              </a:rPr>
              <a:t>Stratified Sampling 기반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A9AFC0"/>
              </a:buClr>
              <a:buSzPts val="1000"/>
              <a:buFont typeface="Calibri"/>
              <a:buNone/>
            </a:pPr>
            <a:r>
              <a:rPr b="0" i="0" lang="ko" sz="1000" u="none" cap="none" strike="noStrike">
                <a:solidFill>
                  <a:srgbClr val="A9AFC0"/>
                </a:solidFill>
                <a:latin typeface="Calibri"/>
                <a:ea typeface="Calibri"/>
                <a:cs typeface="Calibri"/>
                <a:sym typeface="Calibri"/>
              </a:rPr>
              <a:t>Train / Validation Split 적용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8" name="Google Shape;1188;p86"/>
          <p:cNvSpPr/>
          <p:nvPr/>
        </p:nvSpPr>
        <p:spPr>
          <a:xfrm>
            <a:off x="3188970" y="1062990"/>
            <a:ext cx="2640300" cy="2674500"/>
          </a:xfrm>
          <a:prstGeom prst="roundRect">
            <a:avLst>
              <a:gd fmla="val 2338" name="adj"/>
            </a:avLst>
          </a:prstGeom>
          <a:solidFill>
            <a:srgbClr val="14182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9" name="Google Shape;1189;p86"/>
          <p:cNvSpPr/>
          <p:nvPr/>
        </p:nvSpPr>
        <p:spPr>
          <a:xfrm>
            <a:off x="3394710" y="1268730"/>
            <a:ext cx="425100" cy="425100"/>
          </a:xfrm>
          <a:prstGeom prst="ellipse">
            <a:avLst/>
          </a:prstGeom>
          <a:solidFill>
            <a:srgbClr val="3E8ED0">
              <a:alpha val="16079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90" name="Google Shape;1190;p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97580" y="1371600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1191" name="Google Shape;1191;p86"/>
          <p:cNvSpPr/>
          <p:nvPr/>
        </p:nvSpPr>
        <p:spPr>
          <a:xfrm>
            <a:off x="3394710" y="1817370"/>
            <a:ext cx="2229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ko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적용 사유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2" name="Google Shape;1192;p86"/>
          <p:cNvSpPr/>
          <p:nvPr/>
        </p:nvSpPr>
        <p:spPr>
          <a:xfrm>
            <a:off x="3394710" y="2146554"/>
            <a:ext cx="22290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ko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편향 방지: </a:t>
            </a:r>
            <a:r>
              <a:rPr b="0" i="0" lang="ko" sz="900" u="none" cap="none" strike="noStrike">
                <a:solidFill>
                  <a:srgbClr val="A9AFC0"/>
                </a:solidFill>
                <a:latin typeface="Calibri"/>
                <a:ea typeface="Calibri"/>
                <a:cs typeface="Calibri"/>
                <a:sym typeface="Calibri"/>
              </a:rPr>
              <a:t>클래스 불균형에 따른 데이터 편향 방지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ko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분포 일치: </a:t>
            </a:r>
            <a:r>
              <a:rPr b="0" i="0" lang="ko" sz="900" u="none" cap="none" strike="noStrike">
                <a:solidFill>
                  <a:srgbClr val="A9AFC0"/>
                </a:solidFill>
                <a:latin typeface="Calibri"/>
                <a:ea typeface="Calibri"/>
                <a:cs typeface="Calibri"/>
                <a:sym typeface="Calibri"/>
              </a:rPr>
              <a:t>학습셋과 검증셋의 레이블 분포를 동일하게 유지하여 평가 지표(ROC-AUC)의 객관성 확보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3" name="Google Shape;1193;p86"/>
          <p:cNvSpPr/>
          <p:nvPr/>
        </p:nvSpPr>
        <p:spPr>
          <a:xfrm>
            <a:off x="6000750" y="1062990"/>
            <a:ext cx="2640300" cy="2674500"/>
          </a:xfrm>
          <a:prstGeom prst="roundRect">
            <a:avLst>
              <a:gd fmla="val 2338" name="adj"/>
            </a:avLst>
          </a:prstGeom>
          <a:solidFill>
            <a:srgbClr val="14182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4" name="Google Shape;1194;p86"/>
          <p:cNvSpPr/>
          <p:nvPr/>
        </p:nvSpPr>
        <p:spPr>
          <a:xfrm>
            <a:off x="6206490" y="1268730"/>
            <a:ext cx="425100" cy="425100"/>
          </a:xfrm>
          <a:prstGeom prst="ellipse">
            <a:avLst/>
          </a:prstGeom>
          <a:solidFill>
            <a:srgbClr val="3E8ED0">
              <a:alpha val="16079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95" name="Google Shape;1195;p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09360" y="1371600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1196" name="Google Shape;1196;p86"/>
          <p:cNvSpPr/>
          <p:nvPr/>
        </p:nvSpPr>
        <p:spPr>
          <a:xfrm>
            <a:off x="6206490" y="1817370"/>
            <a:ext cx="2229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ko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기대 효과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7" name="Google Shape;1197;p86"/>
          <p:cNvSpPr/>
          <p:nvPr/>
        </p:nvSpPr>
        <p:spPr>
          <a:xfrm>
            <a:off x="6206490" y="2146554"/>
            <a:ext cx="22290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A9AFC0"/>
              </a:buClr>
              <a:buSzPts val="1000"/>
              <a:buFont typeface="Calibri"/>
              <a:buNone/>
            </a:pPr>
            <a:r>
              <a:rPr b="0" i="0" lang="ko" sz="1000" u="none" cap="none" strike="noStrike">
                <a:solidFill>
                  <a:srgbClr val="A9AFC0"/>
                </a:solidFill>
                <a:latin typeface="Calibri"/>
                <a:ea typeface="Calibri"/>
                <a:cs typeface="Calibri"/>
                <a:sym typeface="Calibri"/>
              </a:rPr>
              <a:t>모델 성능 평가의 변동성을 줄이고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A9AFC0"/>
              </a:buClr>
              <a:buSzPts val="1000"/>
              <a:buFont typeface="Calibri"/>
              <a:buNone/>
            </a:pPr>
            <a:r>
              <a:rPr b="0" i="0" lang="ko" sz="1000" u="none" cap="none" strike="noStrike">
                <a:solidFill>
                  <a:srgbClr val="A9AFC0"/>
                </a:solidFill>
                <a:latin typeface="Calibri"/>
                <a:ea typeface="Calibri"/>
                <a:cs typeface="Calibri"/>
                <a:sym typeface="Calibri"/>
              </a:rPr>
              <a:t>과적합 여부를 정확히 판단 가능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8" name="Google Shape;1198;p86"/>
          <p:cNvSpPr/>
          <p:nvPr/>
        </p:nvSpPr>
        <p:spPr>
          <a:xfrm>
            <a:off x="377190" y="3909060"/>
            <a:ext cx="8286600" cy="582900"/>
          </a:xfrm>
          <a:prstGeom prst="roundRect">
            <a:avLst>
              <a:gd fmla="val 9412" name="adj"/>
            </a:avLst>
          </a:prstGeom>
          <a:solidFill>
            <a:srgbClr val="3E8ED0">
              <a:alpha val="1216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99" name="Google Shape;1199;p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9214" y="4090797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1200" name="Google Shape;1200;p86"/>
          <p:cNvSpPr/>
          <p:nvPr/>
        </p:nvSpPr>
        <p:spPr>
          <a:xfrm>
            <a:off x="891540" y="3909060"/>
            <a:ext cx="76008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ko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핵심 포인트: </a:t>
            </a:r>
            <a:r>
              <a:rPr b="0" i="0" lang="ko" sz="1000" u="none" cap="none" strike="noStrike">
                <a:solidFill>
                  <a:srgbClr val="A9AFC0"/>
                </a:solidFill>
                <a:latin typeface="Calibri"/>
                <a:ea typeface="Calibri"/>
                <a:cs typeface="Calibri"/>
                <a:sym typeface="Calibri"/>
              </a:rPr>
              <a:t>학습·검증 데이터의 레이블 분포 일치는 신뢰할 수 있는 성능 평가의 전제조건입니다.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1" name="Google Shape;1201;p86"/>
          <p:cNvSpPr/>
          <p:nvPr/>
        </p:nvSpPr>
        <p:spPr>
          <a:xfrm>
            <a:off x="7886700" y="4882896"/>
            <a:ext cx="10974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7385"/>
              </a:buClr>
              <a:buSzPts val="800"/>
              <a:buFont typeface="Calibri"/>
              <a:buNone/>
            </a:pPr>
            <a:r>
              <a:rPr b="0" i="0" lang="ko" sz="800" u="none" cap="none" strike="noStrike">
                <a:solidFill>
                  <a:srgbClr val="6E7385"/>
                </a:solidFill>
                <a:latin typeface="Calibri"/>
                <a:ea typeface="Calibri"/>
                <a:cs typeface="Calibri"/>
                <a:sym typeface="Calibri"/>
              </a:rPr>
              <a:t>전처리 · 1 / 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0B0D12"/>
        </a:solidFill>
      </p:bgPr>
    </p:bg>
    <p:spTree>
      <p:nvGrpSpPr>
        <p:cNvPr id="1206" name="Shape 1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7" name="Google Shape;1207;p87"/>
          <p:cNvSpPr/>
          <p:nvPr/>
        </p:nvSpPr>
        <p:spPr>
          <a:xfrm>
            <a:off x="377190" y="329184"/>
            <a:ext cx="41100" cy="41160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8" name="Google Shape;1208;p87"/>
          <p:cNvSpPr/>
          <p:nvPr/>
        </p:nvSpPr>
        <p:spPr>
          <a:xfrm>
            <a:off x="534924" y="260604"/>
            <a:ext cx="81609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ko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전처리 전략 2: </a:t>
            </a:r>
            <a:r>
              <a:rPr b="1" i="0" lang="ko" sz="2000" u="none" cap="none" strike="noStrike">
                <a:solidFill>
                  <a:srgbClr val="1D9E75"/>
                </a:solidFill>
                <a:latin typeface="Calibri"/>
                <a:ea typeface="Calibri"/>
                <a:cs typeface="Calibri"/>
                <a:sym typeface="Calibri"/>
              </a:rPr>
              <a:t>기하학적·광학적 강건성 확보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9" name="Google Shape;1209;p87"/>
          <p:cNvSpPr/>
          <p:nvPr/>
        </p:nvSpPr>
        <p:spPr>
          <a:xfrm>
            <a:off x="534924" y="651510"/>
            <a:ext cx="81609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385"/>
              </a:buClr>
              <a:buSzPts val="1000"/>
              <a:buFont typeface="Calibri"/>
              <a:buNone/>
            </a:pPr>
            <a:r>
              <a:rPr b="0" i="1" lang="ko" sz="1000" u="none" cap="none" strike="noStrike">
                <a:solidFill>
                  <a:srgbClr val="6E7385"/>
                </a:solidFill>
                <a:latin typeface="Calibri"/>
                <a:ea typeface="Calibri"/>
                <a:cs typeface="Calibri"/>
                <a:sym typeface="Calibri"/>
              </a:rPr>
              <a:t>RandomResizedCrop · RandomHorizontalFlip · ColorJitter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0" name="Google Shape;1210;p87"/>
          <p:cNvSpPr/>
          <p:nvPr/>
        </p:nvSpPr>
        <p:spPr>
          <a:xfrm>
            <a:off x="377190" y="1062990"/>
            <a:ext cx="2640300" cy="2674500"/>
          </a:xfrm>
          <a:prstGeom prst="roundRect">
            <a:avLst>
              <a:gd fmla="val 2338" name="adj"/>
            </a:avLst>
          </a:prstGeom>
          <a:solidFill>
            <a:srgbClr val="14182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1" name="Google Shape;1211;p87"/>
          <p:cNvSpPr/>
          <p:nvPr/>
        </p:nvSpPr>
        <p:spPr>
          <a:xfrm>
            <a:off x="582930" y="1268730"/>
            <a:ext cx="425100" cy="425100"/>
          </a:xfrm>
          <a:prstGeom prst="ellipse">
            <a:avLst/>
          </a:prstGeom>
          <a:solidFill>
            <a:srgbClr val="1D9E75">
              <a:alpha val="16079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12" name="Google Shape;1212;p8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1371600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1213" name="Google Shape;1213;p87"/>
          <p:cNvSpPr/>
          <p:nvPr/>
        </p:nvSpPr>
        <p:spPr>
          <a:xfrm>
            <a:off x="582930" y="1817370"/>
            <a:ext cx="2229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ko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적용 기법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4" name="Google Shape;1214;p87"/>
          <p:cNvSpPr/>
          <p:nvPr/>
        </p:nvSpPr>
        <p:spPr>
          <a:xfrm>
            <a:off x="582930" y="2146554"/>
            <a:ext cx="22290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A9AFC0"/>
              </a:buClr>
              <a:buSzPts val="1000"/>
              <a:buFont typeface="Calibri"/>
              <a:buNone/>
            </a:pPr>
            <a:r>
              <a:rPr b="0" i="0" lang="ko" sz="1000" u="none" cap="none" strike="noStrike">
                <a:solidFill>
                  <a:srgbClr val="A9AFC0"/>
                </a:solidFill>
                <a:latin typeface="Calibri"/>
                <a:ea typeface="Calibri"/>
                <a:cs typeface="Calibri"/>
                <a:sym typeface="Calibri"/>
              </a:rPr>
              <a:t>RandomResizedCrop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A9AFC0"/>
              </a:buClr>
              <a:buSzPts val="1000"/>
              <a:buFont typeface="Calibri"/>
              <a:buNone/>
            </a:pPr>
            <a:r>
              <a:rPr b="0" i="0" lang="ko" sz="1000" u="none" cap="none" strike="noStrike">
                <a:solidFill>
                  <a:srgbClr val="A9AFC0"/>
                </a:solidFill>
                <a:latin typeface="Calibri"/>
                <a:ea typeface="Calibri"/>
                <a:cs typeface="Calibri"/>
                <a:sym typeface="Calibri"/>
              </a:rPr>
              <a:t>RandomHorizontalFlip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A9AFC0"/>
              </a:buClr>
              <a:buSzPts val="1000"/>
              <a:buFont typeface="Calibri"/>
              <a:buNone/>
            </a:pPr>
            <a:r>
              <a:rPr b="0" i="0" lang="ko" sz="1000" u="none" cap="none" strike="noStrike">
                <a:solidFill>
                  <a:srgbClr val="A9AFC0"/>
                </a:solidFill>
                <a:latin typeface="Calibri"/>
                <a:ea typeface="Calibri"/>
                <a:cs typeface="Calibri"/>
                <a:sym typeface="Calibri"/>
              </a:rPr>
              <a:t>ColorJitter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5" name="Google Shape;1215;p87"/>
          <p:cNvSpPr/>
          <p:nvPr/>
        </p:nvSpPr>
        <p:spPr>
          <a:xfrm>
            <a:off x="3188970" y="1062990"/>
            <a:ext cx="2640300" cy="2674500"/>
          </a:xfrm>
          <a:prstGeom prst="roundRect">
            <a:avLst>
              <a:gd fmla="val 2338" name="adj"/>
            </a:avLst>
          </a:prstGeom>
          <a:solidFill>
            <a:srgbClr val="14182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6" name="Google Shape;1216;p87"/>
          <p:cNvSpPr/>
          <p:nvPr/>
        </p:nvSpPr>
        <p:spPr>
          <a:xfrm>
            <a:off x="3394710" y="1268730"/>
            <a:ext cx="425100" cy="425100"/>
          </a:xfrm>
          <a:prstGeom prst="ellipse">
            <a:avLst/>
          </a:prstGeom>
          <a:solidFill>
            <a:srgbClr val="1D9E75">
              <a:alpha val="16079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17" name="Google Shape;1217;p8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97580" y="1371600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1218" name="Google Shape;1218;p87"/>
          <p:cNvSpPr/>
          <p:nvPr/>
        </p:nvSpPr>
        <p:spPr>
          <a:xfrm>
            <a:off x="3394710" y="1817370"/>
            <a:ext cx="2229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ko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적용 사유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9" name="Google Shape;1219;p87"/>
          <p:cNvSpPr/>
          <p:nvPr/>
        </p:nvSpPr>
        <p:spPr>
          <a:xfrm>
            <a:off x="3394710" y="2146554"/>
            <a:ext cx="22290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ko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각도 대응: </a:t>
            </a:r>
            <a:r>
              <a:rPr b="0" i="0" lang="ko" sz="900" u="none" cap="none" strike="noStrike">
                <a:solidFill>
                  <a:srgbClr val="A9AFC0"/>
                </a:solidFill>
                <a:latin typeface="Calibri"/>
                <a:ea typeface="Calibri"/>
                <a:cs typeface="Calibri"/>
                <a:sym typeface="Calibri"/>
              </a:rPr>
              <a:t>촬영 위치 변화를 모사하여 다양한 구도에서도 패널 영역을 인식하도록 유도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ko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조도 대응: </a:t>
            </a:r>
            <a:r>
              <a:rPr b="0" i="0" lang="ko" sz="900" u="none" cap="none" strike="noStrike">
                <a:solidFill>
                  <a:srgbClr val="A9AFC0"/>
                </a:solidFill>
                <a:latin typeface="Calibri"/>
                <a:ea typeface="Calibri"/>
                <a:cs typeface="Calibri"/>
                <a:sym typeface="Calibri"/>
              </a:rPr>
              <a:t>기후 변화에 따른 색상/밝기 변동성을 인위적으로 확장하여 광학적 노이즈에 강건한 모델 생성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0" name="Google Shape;1220;p87"/>
          <p:cNvSpPr/>
          <p:nvPr/>
        </p:nvSpPr>
        <p:spPr>
          <a:xfrm>
            <a:off x="6000750" y="1062990"/>
            <a:ext cx="2640300" cy="2674500"/>
          </a:xfrm>
          <a:prstGeom prst="roundRect">
            <a:avLst>
              <a:gd fmla="val 2338" name="adj"/>
            </a:avLst>
          </a:prstGeom>
          <a:solidFill>
            <a:srgbClr val="14182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1" name="Google Shape;1221;p87"/>
          <p:cNvSpPr/>
          <p:nvPr/>
        </p:nvSpPr>
        <p:spPr>
          <a:xfrm>
            <a:off x="6206490" y="1268730"/>
            <a:ext cx="425100" cy="425100"/>
          </a:xfrm>
          <a:prstGeom prst="ellipse">
            <a:avLst/>
          </a:prstGeom>
          <a:solidFill>
            <a:srgbClr val="1D9E75">
              <a:alpha val="16079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22" name="Google Shape;1222;p8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09360" y="1371600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1223" name="Google Shape;1223;p87"/>
          <p:cNvSpPr/>
          <p:nvPr/>
        </p:nvSpPr>
        <p:spPr>
          <a:xfrm>
            <a:off x="6206490" y="1817370"/>
            <a:ext cx="2229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ko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기술적 근거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4" name="Google Shape;1224;p87"/>
          <p:cNvSpPr/>
          <p:nvPr/>
        </p:nvSpPr>
        <p:spPr>
          <a:xfrm>
            <a:off x="6206490" y="2146554"/>
            <a:ext cx="22290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A9AFC0"/>
              </a:buClr>
              <a:buSzPts val="1000"/>
              <a:buFont typeface="Calibri"/>
              <a:buNone/>
            </a:pPr>
            <a:r>
              <a:rPr b="0" i="0" lang="ko" sz="1000" u="none" cap="none" strike="noStrike">
                <a:solidFill>
                  <a:srgbClr val="A9AFC0"/>
                </a:solidFill>
                <a:latin typeface="Calibri"/>
                <a:ea typeface="Calibri"/>
                <a:cs typeface="Calibri"/>
                <a:sym typeface="Calibri"/>
              </a:rPr>
              <a:t>입력 데이터의 도메인을 확장하여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A9AFC0"/>
              </a:buClr>
              <a:buSzPts val="1000"/>
              <a:buFont typeface="Calibri"/>
              <a:buNone/>
            </a:pPr>
            <a:r>
              <a:rPr b="0" i="0" lang="ko" sz="1000" u="none" cap="none" strike="noStrike">
                <a:solidFill>
                  <a:srgbClr val="A9AFC0"/>
                </a:solidFill>
                <a:latin typeface="Calibri"/>
                <a:ea typeface="Calibri"/>
                <a:cs typeface="Calibri"/>
                <a:sym typeface="Calibri"/>
              </a:rPr>
              <a:t>데이터 부족 문제를 간접적으로 해결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5" name="Google Shape;1225;p87"/>
          <p:cNvSpPr/>
          <p:nvPr/>
        </p:nvSpPr>
        <p:spPr>
          <a:xfrm>
            <a:off x="377190" y="3909060"/>
            <a:ext cx="8286600" cy="582900"/>
          </a:xfrm>
          <a:prstGeom prst="roundRect">
            <a:avLst>
              <a:gd fmla="val 9412" name="adj"/>
            </a:avLst>
          </a:prstGeom>
          <a:solidFill>
            <a:srgbClr val="1D9E75">
              <a:alpha val="1216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26" name="Google Shape;1226;p8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9214" y="4090797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1227" name="Google Shape;1227;p87"/>
          <p:cNvSpPr/>
          <p:nvPr/>
        </p:nvSpPr>
        <p:spPr>
          <a:xfrm>
            <a:off x="891540" y="3909060"/>
            <a:ext cx="76008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ko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핵심 포인트: </a:t>
            </a:r>
            <a:r>
              <a:rPr b="0" i="0" lang="ko" sz="1000" u="none" cap="none" strike="noStrike">
                <a:solidFill>
                  <a:srgbClr val="A9AFC0"/>
                </a:solidFill>
                <a:latin typeface="Calibri"/>
                <a:ea typeface="Calibri"/>
                <a:cs typeface="Calibri"/>
                <a:sym typeface="Calibri"/>
              </a:rPr>
              <a:t>기하학적·광학적 증강은 실제 촬영 환경의 다양성을 모사해 모델의 일반화 성능을 높입니다.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8" name="Google Shape;1228;p87"/>
          <p:cNvSpPr/>
          <p:nvPr/>
        </p:nvSpPr>
        <p:spPr>
          <a:xfrm>
            <a:off x="7886700" y="4882896"/>
            <a:ext cx="10974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7385"/>
              </a:buClr>
              <a:buSzPts val="800"/>
              <a:buFont typeface="Calibri"/>
              <a:buNone/>
            </a:pPr>
            <a:r>
              <a:rPr b="0" i="0" lang="ko" sz="800" u="none" cap="none" strike="noStrike">
                <a:solidFill>
                  <a:srgbClr val="6E7385"/>
                </a:solidFill>
                <a:latin typeface="Calibri"/>
                <a:ea typeface="Calibri"/>
                <a:cs typeface="Calibri"/>
                <a:sym typeface="Calibri"/>
              </a:rPr>
              <a:t>전처리 · 2 / 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0B0D12"/>
        </a:solidFill>
      </p:bgPr>
    </p:bg>
    <p:spTree>
      <p:nvGrpSpPr>
        <p:cNvPr id="1233" name="Shape 1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4" name="Google Shape;1234;p88"/>
          <p:cNvSpPr/>
          <p:nvPr/>
        </p:nvSpPr>
        <p:spPr>
          <a:xfrm>
            <a:off x="377190" y="329184"/>
            <a:ext cx="41100" cy="411600"/>
          </a:xfrm>
          <a:prstGeom prst="rect">
            <a:avLst/>
          </a:prstGeom>
          <a:solidFill>
            <a:srgbClr val="D85A3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5" name="Google Shape;1235;p88"/>
          <p:cNvSpPr/>
          <p:nvPr/>
        </p:nvSpPr>
        <p:spPr>
          <a:xfrm>
            <a:off x="534924" y="260604"/>
            <a:ext cx="81609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ko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전처리 전략 3: </a:t>
            </a:r>
            <a:r>
              <a:rPr b="1" i="0" lang="ko" sz="2000" u="none" cap="none" strike="noStrike">
                <a:solidFill>
                  <a:srgbClr val="D85A30"/>
                </a:solidFill>
                <a:latin typeface="Calibri"/>
                <a:ea typeface="Calibri"/>
                <a:cs typeface="Calibri"/>
                <a:sym typeface="Calibri"/>
              </a:rPr>
              <a:t>미세 패턴 학습 및 Shortcut Learning 방지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6" name="Google Shape;1236;p88"/>
          <p:cNvSpPr/>
          <p:nvPr/>
        </p:nvSpPr>
        <p:spPr>
          <a:xfrm>
            <a:off x="534924" y="651510"/>
            <a:ext cx="81609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385"/>
              </a:buClr>
              <a:buSzPts val="1000"/>
              <a:buFont typeface="Calibri"/>
              <a:buNone/>
            </a:pPr>
            <a:r>
              <a:rPr b="0" i="1" lang="ko" sz="1000" u="none" cap="none" strike="noStrike">
                <a:solidFill>
                  <a:srgbClr val="6E7385"/>
                </a:solidFill>
                <a:latin typeface="Calibri"/>
                <a:ea typeface="Calibri"/>
                <a:cs typeface="Calibri"/>
                <a:sym typeface="Calibri"/>
              </a:rPr>
              <a:t>TrivialAugmentWide · RandomErasing (Cutout)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7" name="Google Shape;1237;p88"/>
          <p:cNvSpPr/>
          <p:nvPr/>
        </p:nvSpPr>
        <p:spPr>
          <a:xfrm>
            <a:off x="377190" y="1062990"/>
            <a:ext cx="2640300" cy="2674500"/>
          </a:xfrm>
          <a:prstGeom prst="roundRect">
            <a:avLst>
              <a:gd fmla="val 2338" name="adj"/>
            </a:avLst>
          </a:prstGeom>
          <a:solidFill>
            <a:srgbClr val="14182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8" name="Google Shape;1238;p88"/>
          <p:cNvSpPr/>
          <p:nvPr/>
        </p:nvSpPr>
        <p:spPr>
          <a:xfrm>
            <a:off x="582930" y="1268730"/>
            <a:ext cx="425100" cy="425100"/>
          </a:xfrm>
          <a:prstGeom prst="ellipse">
            <a:avLst/>
          </a:prstGeom>
          <a:solidFill>
            <a:srgbClr val="D85A30">
              <a:alpha val="16079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39" name="Google Shape;1239;p8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1371600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1240" name="Google Shape;1240;p88"/>
          <p:cNvSpPr/>
          <p:nvPr/>
        </p:nvSpPr>
        <p:spPr>
          <a:xfrm>
            <a:off x="582930" y="1817370"/>
            <a:ext cx="2229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ko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적용 기법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1" name="Google Shape;1241;p88"/>
          <p:cNvSpPr/>
          <p:nvPr/>
        </p:nvSpPr>
        <p:spPr>
          <a:xfrm>
            <a:off x="582930" y="2146554"/>
            <a:ext cx="22290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A9AFC0"/>
              </a:buClr>
              <a:buSzPts val="1000"/>
              <a:buFont typeface="Calibri"/>
              <a:buNone/>
            </a:pPr>
            <a:r>
              <a:rPr b="0" i="0" lang="ko" sz="1000" u="none" cap="none" strike="noStrike">
                <a:solidFill>
                  <a:srgbClr val="A9AFC0"/>
                </a:solidFill>
                <a:latin typeface="Calibri"/>
                <a:ea typeface="Calibri"/>
                <a:cs typeface="Calibri"/>
                <a:sym typeface="Calibri"/>
              </a:rPr>
              <a:t>TrivialAugmentWide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A9AFC0"/>
              </a:buClr>
              <a:buSzPts val="1000"/>
              <a:buFont typeface="Calibri"/>
              <a:buNone/>
            </a:pPr>
            <a:r>
              <a:rPr b="0" i="0" lang="ko" sz="1000" u="none" cap="none" strike="noStrike">
                <a:solidFill>
                  <a:srgbClr val="A9AFC0"/>
                </a:solidFill>
                <a:latin typeface="Calibri"/>
                <a:ea typeface="Calibri"/>
                <a:cs typeface="Calibri"/>
                <a:sym typeface="Calibri"/>
              </a:rPr>
              <a:t>RandomErasing (Cutout)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2" name="Google Shape;1242;p88"/>
          <p:cNvSpPr/>
          <p:nvPr/>
        </p:nvSpPr>
        <p:spPr>
          <a:xfrm>
            <a:off x="3188970" y="1062990"/>
            <a:ext cx="2640300" cy="2674500"/>
          </a:xfrm>
          <a:prstGeom prst="roundRect">
            <a:avLst>
              <a:gd fmla="val 2338" name="adj"/>
            </a:avLst>
          </a:prstGeom>
          <a:solidFill>
            <a:srgbClr val="14182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3" name="Google Shape;1243;p88"/>
          <p:cNvSpPr/>
          <p:nvPr/>
        </p:nvSpPr>
        <p:spPr>
          <a:xfrm>
            <a:off x="3394710" y="1268730"/>
            <a:ext cx="425100" cy="425100"/>
          </a:xfrm>
          <a:prstGeom prst="ellipse">
            <a:avLst/>
          </a:prstGeom>
          <a:solidFill>
            <a:srgbClr val="D85A30">
              <a:alpha val="16079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44" name="Google Shape;1244;p8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97580" y="1371600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1245" name="Google Shape;1245;p88"/>
          <p:cNvSpPr/>
          <p:nvPr/>
        </p:nvSpPr>
        <p:spPr>
          <a:xfrm>
            <a:off x="3394710" y="1817370"/>
            <a:ext cx="2229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ko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적용 사유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6" name="Google Shape;1246;p88"/>
          <p:cNvSpPr/>
          <p:nvPr/>
        </p:nvSpPr>
        <p:spPr>
          <a:xfrm>
            <a:off x="3394710" y="2146554"/>
            <a:ext cx="22290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ko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패턴 다양화: </a:t>
            </a:r>
            <a:r>
              <a:rPr b="0" i="0" lang="ko" sz="900" u="none" cap="none" strike="noStrike">
                <a:solidFill>
                  <a:srgbClr val="A9AFC0"/>
                </a:solidFill>
                <a:latin typeface="Calibri"/>
                <a:ea typeface="Calibri"/>
                <a:cs typeface="Calibri"/>
                <a:sym typeface="Calibri"/>
              </a:rPr>
              <a:t>SOTA 증강 알고리즘을 통해 패널 프레임의 왜곡 및 복잡한 오염 형태를 무작위로 학습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ko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국소 편향 제거: </a:t>
            </a:r>
            <a:r>
              <a:rPr b="0" i="0" lang="ko" sz="900" u="none" cap="none" strike="noStrike">
                <a:solidFill>
                  <a:srgbClr val="A9AFC0"/>
                </a:solidFill>
                <a:latin typeface="Calibri"/>
                <a:ea typeface="Calibri"/>
                <a:cs typeface="Calibri"/>
                <a:sym typeface="Calibri"/>
              </a:rPr>
              <a:t>패널의 깨끗한 일부 영역(모서리 등)만 보고 판단하는 지름길 학습(Shortcut) 차단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7" name="Google Shape;1247;p88"/>
          <p:cNvSpPr/>
          <p:nvPr/>
        </p:nvSpPr>
        <p:spPr>
          <a:xfrm>
            <a:off x="6000750" y="1062990"/>
            <a:ext cx="2640300" cy="2674500"/>
          </a:xfrm>
          <a:prstGeom prst="roundRect">
            <a:avLst>
              <a:gd fmla="val 2338" name="adj"/>
            </a:avLst>
          </a:prstGeom>
          <a:solidFill>
            <a:srgbClr val="14182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8" name="Google Shape;1248;p88"/>
          <p:cNvSpPr/>
          <p:nvPr/>
        </p:nvSpPr>
        <p:spPr>
          <a:xfrm>
            <a:off x="6206490" y="1268730"/>
            <a:ext cx="425100" cy="425100"/>
          </a:xfrm>
          <a:prstGeom prst="ellipse">
            <a:avLst/>
          </a:prstGeom>
          <a:solidFill>
            <a:srgbClr val="D85A30">
              <a:alpha val="16079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49" name="Google Shape;1249;p8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09360" y="1371600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1250" name="Google Shape;1250;p88"/>
          <p:cNvSpPr/>
          <p:nvPr/>
        </p:nvSpPr>
        <p:spPr>
          <a:xfrm>
            <a:off x="6206490" y="1817370"/>
            <a:ext cx="2229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ko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기대 효과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1" name="Google Shape;1251;p88"/>
          <p:cNvSpPr/>
          <p:nvPr/>
        </p:nvSpPr>
        <p:spPr>
          <a:xfrm>
            <a:off x="6206490" y="2146554"/>
            <a:ext cx="22290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A9AFC0"/>
              </a:buClr>
              <a:buSzPts val="1000"/>
              <a:buFont typeface="Calibri"/>
              <a:buNone/>
            </a:pPr>
            <a:r>
              <a:rPr b="0" i="0" lang="ko" sz="1000" u="none" cap="none" strike="noStrike">
                <a:solidFill>
                  <a:srgbClr val="A9AFC0"/>
                </a:solidFill>
                <a:latin typeface="Calibri"/>
                <a:ea typeface="Calibri"/>
                <a:cs typeface="Calibri"/>
                <a:sym typeface="Calibri"/>
              </a:rPr>
              <a:t>모델이 패널 전체의 질감을 골고루 살피도록 강제하여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A9AFC0"/>
              </a:buClr>
              <a:buSzPts val="1000"/>
              <a:buFont typeface="Calibri"/>
              <a:buNone/>
            </a:pPr>
            <a:r>
              <a:rPr b="0" i="0" lang="ko" sz="1000" u="none" cap="none" strike="noStrike">
                <a:solidFill>
                  <a:srgbClr val="A9AFC0"/>
                </a:solidFill>
                <a:latin typeface="Calibri"/>
                <a:ea typeface="Calibri"/>
                <a:cs typeface="Calibri"/>
                <a:sym typeface="Calibri"/>
              </a:rPr>
              <a:t>실제 환경에서의 오염 판별력 상승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2" name="Google Shape;1252;p88"/>
          <p:cNvSpPr/>
          <p:nvPr/>
        </p:nvSpPr>
        <p:spPr>
          <a:xfrm>
            <a:off x="377190" y="3909060"/>
            <a:ext cx="8286600" cy="582900"/>
          </a:xfrm>
          <a:prstGeom prst="roundRect">
            <a:avLst>
              <a:gd fmla="val 9412" name="adj"/>
            </a:avLst>
          </a:prstGeom>
          <a:solidFill>
            <a:srgbClr val="D85A30">
              <a:alpha val="1216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53" name="Google Shape;1253;p8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9214" y="4090797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1254" name="Google Shape;1254;p88"/>
          <p:cNvSpPr/>
          <p:nvPr/>
        </p:nvSpPr>
        <p:spPr>
          <a:xfrm>
            <a:off x="891540" y="3909060"/>
            <a:ext cx="76008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ko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핵심 포인트: </a:t>
            </a:r>
            <a:r>
              <a:rPr b="0" i="0" lang="ko" sz="1000" u="none" cap="none" strike="noStrike">
                <a:solidFill>
                  <a:srgbClr val="A9AFC0"/>
                </a:solidFill>
                <a:latin typeface="Calibri"/>
                <a:ea typeface="Calibri"/>
                <a:cs typeface="Calibri"/>
                <a:sym typeface="Calibri"/>
              </a:rPr>
              <a:t>국소 특징에 의존하는 지름길 학습을 차단해야 실제 환경에서도 안정적인 판별력을 확보합니다.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5" name="Google Shape;1255;p88"/>
          <p:cNvSpPr/>
          <p:nvPr/>
        </p:nvSpPr>
        <p:spPr>
          <a:xfrm>
            <a:off x="7886700" y="4882896"/>
            <a:ext cx="10974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7385"/>
              </a:buClr>
              <a:buSzPts val="800"/>
              <a:buFont typeface="Calibri"/>
              <a:buNone/>
            </a:pPr>
            <a:r>
              <a:rPr b="0" i="0" lang="ko" sz="800" u="none" cap="none" strike="noStrike">
                <a:solidFill>
                  <a:srgbClr val="6E7385"/>
                </a:solidFill>
                <a:latin typeface="Calibri"/>
                <a:ea typeface="Calibri"/>
                <a:cs typeface="Calibri"/>
                <a:sym typeface="Calibri"/>
              </a:rPr>
              <a:t>전처리 · 3 / 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259" name="Shape 1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0" name="Google Shape;1260;p8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모델 선정과정</a:t>
            </a:r>
            <a:endParaRPr/>
          </a:p>
        </p:txBody>
      </p:sp>
      <p:sp>
        <p:nvSpPr>
          <p:cNvPr id="1261" name="Google Shape;1261;p8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첫번째 슬라이드 디자인. &#10;수행 과정 흐름도 생성.&#10;총 두개 트랙이 있고 데이터는 공통임.&#10;트랙 b에서 세 개 점수 기반으로 데이터 필터링하고, 이 결과로 트랙 a에서 최종 이미지 분류하는 과정.&#10;&#10;아래 글 참고: &#10;1. track-b 수행&#10;데이터 EDA -&gt; ood_score, mislabel_score, duplication_score 생성 전략 수립 -&gt; track-b 제출 결과 평가 &#10;과정 반복하여 track-b 로부터 train 이미지 배제 목록 선정 &#10;&#10;2. track-a 는 track-b 결과를 토대로 수행&#10;track-b를 통해 정제된 데이터  -&gt;  EDA 및 전처리 -&gt; baseline 모델 테스트 -&gt; baseline 모델 최종 선정 &#10;&#10;아래 과정 반복&#10;track-a 학습 전략 수립 -&gt;  데이터 전처리 -&gt; 모델 학습 -&gt; 결과 제출 및 평가&#10;&#10;3. 최종 track-a 결과 " id="1262" name="Google Shape;1262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59504" y="1317350"/>
            <a:ext cx="4135496" cy="2309375"/>
          </a:xfrm>
          <a:prstGeom prst="rect">
            <a:avLst/>
          </a:prstGeom>
          <a:noFill/>
          <a:ln>
            <a:noFill/>
          </a:ln>
        </p:spPr>
      </p:pic>
      <p:sp>
        <p:nvSpPr>
          <p:cNvPr id="1263" name="Google Shape;1263;p8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000000"/>
        </a:solidFill>
      </p:bgPr>
    </p:bg>
    <p:spTree>
      <p:nvGrpSpPr>
        <p:cNvPr id="1267" name="Shape 1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68" name="Google Shape;1268;p9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69" name="Google Shape;1269;p90"/>
          <p:cNvGraphicFramePr/>
          <p:nvPr/>
        </p:nvGraphicFramePr>
        <p:xfrm>
          <a:off x="428625" y="10572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{EBB42007-BD4A-461F-8AA3-06A089F2EFE4}</a:tableStyleId>
              </a:tblPr>
              <a:tblGrid>
                <a:gridCol w="864950"/>
                <a:gridCol w="1464400"/>
                <a:gridCol w="2875450"/>
                <a:gridCol w="1639375"/>
                <a:gridCol w="1442575"/>
              </a:tblGrid>
              <a:tr h="355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ko" sz="900" u="none" cap="none" strike="noStrik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Model</a:t>
                      </a:r>
                      <a:endParaRPr sz="1100"/>
                    </a:p>
                  </a:txBody>
                  <a:tcPr marT="19050" marB="19050" marR="47625" marL="47625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232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ko" sz="900" u="none" cap="none" strike="noStrik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Paradigm</a:t>
                      </a:r>
                      <a:endParaRPr sz="1100"/>
                    </a:p>
                  </a:txBody>
                  <a:tcPr marT="19050" marB="19050" marR="47625" marL="47625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232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ko" sz="900" u="none" cap="none" strike="noStrik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Key Achievement</a:t>
                      </a:r>
                      <a:endParaRPr sz="1100"/>
                    </a:p>
                  </a:txBody>
                  <a:tcPr marT="19050" marB="19050" marR="47625" marL="47625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232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ko" sz="900" u="none" cap="none" strike="noStrik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IN-1K Accuracy</a:t>
                      </a:r>
                      <a:endParaRPr sz="1100"/>
                    </a:p>
                  </a:txBody>
                  <a:tcPr marT="19050" marB="19050" marR="47625" marL="47625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232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Model Size (Params) </a:t>
                      </a:r>
                      <a:endParaRPr b="1" i="0" sz="900" u="none" cap="none" strike="noStrike">
                        <a:solidFill>
                          <a:srgbClr val="DEFF9A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19050" marB="19050" marR="47625" marL="47625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23232"/>
                    </a:solidFill>
                  </a:tcPr>
                </a:tc>
              </a:tr>
              <a:tr h="355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ResNet-18</a:t>
                      </a:r>
                      <a:endParaRPr sz="1100"/>
                    </a:p>
                  </a:txBody>
                  <a:tcPr marT="19050" marB="19050" marR="47625" marL="47625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" sz="900" u="none" cap="none" strike="noStrike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Pure ConvNet</a:t>
                      </a:r>
                      <a:endParaRPr sz="1100"/>
                    </a:p>
                  </a:txBody>
                  <a:tcPr marT="19050" marB="19050" marR="47625" marL="47625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Residual Connection 도입; 가장 대중적인 경량 Baseline. </a:t>
                      </a:r>
                      <a:endParaRPr sz="1100"/>
                    </a:p>
                  </a:txBody>
                  <a:tcPr marT="19050" marB="19050" marR="47625" marL="47625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69.8% </a:t>
                      </a:r>
                      <a:endParaRPr sz="1100"/>
                    </a:p>
                  </a:txBody>
                  <a:tcPr marT="19050" marB="19050" marR="47625" marL="47625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11.7 M </a:t>
                      </a:r>
                      <a:endParaRPr sz="900">
                        <a:solidFill>
                          <a:srgbClr val="000000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19050" marB="19050" marR="47625" marL="47625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5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EfficientNet (B0)</a:t>
                      </a:r>
                      <a:endParaRPr sz="1100"/>
                    </a:p>
                  </a:txBody>
                  <a:tcPr marT="19050" marB="19050" marR="47625" marL="47625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Pure ConvNet</a:t>
                      </a:r>
                      <a:endParaRPr sz="1100"/>
                    </a:p>
                  </a:txBody>
                  <a:tcPr marT="19050" marB="19050" marR="47625" marL="47625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Mobile급 크기에서 Compound Scaling Baseline 구축. </a:t>
                      </a:r>
                      <a:endParaRPr sz="1100"/>
                    </a:p>
                  </a:txBody>
                  <a:tcPr marT="19050" marB="19050" marR="47625" marL="47625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76.5% </a:t>
                      </a:r>
                      <a:endParaRPr sz="1100"/>
                    </a:p>
                  </a:txBody>
                  <a:tcPr marT="19050" marB="19050" marR="47625" marL="47625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5.3 M </a:t>
                      </a:r>
                      <a:endParaRPr sz="900">
                        <a:solidFill>
                          <a:srgbClr val="000000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19050" marB="19050" marR="47625" marL="47625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5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" sz="900" u="none" cap="none" strike="noStrike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ConvNeXt</a:t>
                      </a:r>
                      <a:endParaRPr sz="1100"/>
                    </a:p>
                  </a:txBody>
                  <a:tcPr marT="19050" marB="19050" marR="47625" marL="47625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" sz="900" u="none" cap="none" strike="noStrike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Pure ConvNet</a:t>
                      </a:r>
                      <a:endParaRPr sz="1100"/>
                    </a:p>
                  </a:txBody>
                  <a:tcPr marT="19050" marB="19050" marR="47625" marL="47625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" sz="900" u="none" cap="none" strike="noStrike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Modernized CNN baseline; high throughput.</a:t>
                      </a:r>
                      <a:endParaRPr sz="1100"/>
                    </a:p>
                  </a:txBody>
                  <a:tcPr marT="19050" marB="19050" marR="47625" marL="47625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78.9% </a:t>
                      </a:r>
                      <a:endParaRPr sz="1100"/>
                    </a:p>
                  </a:txBody>
                  <a:tcPr marT="19050" marB="19050" marR="47625" marL="47625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15.6 M </a:t>
                      </a:r>
                      <a:endParaRPr sz="900">
                        <a:solidFill>
                          <a:srgbClr val="000000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19050" marB="19050" marR="47625" marL="47625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5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" sz="900" u="none" cap="none" strike="noStrike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CoAtNet</a:t>
                      </a:r>
                      <a:endParaRPr sz="1100"/>
                    </a:p>
                  </a:txBody>
                  <a:tcPr marT="19050" marB="19050" marR="47625" marL="47625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" sz="900" u="none" cap="none" strike="noStrike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Hybrid (Conv+Attn)</a:t>
                      </a:r>
                      <a:endParaRPr sz="1100"/>
                    </a:p>
                  </a:txBody>
                  <a:tcPr marT="19050" marB="19050" marR="47625" marL="47625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" sz="900" u="none" cap="none" strike="noStrike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SOTA for large-scale supervised learning.</a:t>
                      </a:r>
                      <a:endParaRPr sz="1100"/>
                    </a:p>
                  </a:txBody>
                  <a:tcPr marT="19050" marB="19050" marR="47625" marL="47625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81.6% </a:t>
                      </a:r>
                      <a:endParaRPr sz="1100"/>
                    </a:p>
                  </a:txBody>
                  <a:tcPr marT="19050" marB="19050" marR="47625" marL="47625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25.0 M </a:t>
                      </a:r>
                      <a:endParaRPr sz="900">
                        <a:solidFill>
                          <a:srgbClr val="000000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19050" marB="19050" marR="47625" marL="47625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5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" sz="900" u="none" cap="none" strike="noStrike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MaxViT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19050" marB="19050" marR="47625" marL="47625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" sz="900" u="none" cap="none" strike="noStrike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Hybrid Attention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19050" marB="19050" marR="47625" marL="47625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" sz="900" u="none" cap="none" strike="noStrike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Efficient global-local attention; linear cost.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19050" marB="19050" marR="47625" marL="47625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80.8% 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19050" marB="19050" marR="47625" marL="47625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900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25.0 M </a:t>
                      </a:r>
                      <a:endParaRPr sz="900">
                        <a:solidFill>
                          <a:srgbClr val="000000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19050" marB="19050" marR="47625" marL="47625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5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" sz="900" u="none" cap="none" strike="noStrike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EVA-02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19050" marB="19050" marR="47625" marL="47625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" sz="900" u="none" cap="none" strike="noStrike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Transformer (MIM)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19050" marB="19050" marR="47625" marL="47625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" sz="900" u="none" cap="none" strike="noStrike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Phenomenal param-efficiency via distillation.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19050" marB="19050" marR="47625" marL="47625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>
                          <a:solidFill>
                            <a:srgbClr val="000000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80.7% </a:t>
                      </a:r>
                      <a:endParaRPr b="0" i="0" sz="1100" u="none" cap="none" strike="noStrike">
                        <a:solidFill>
                          <a:srgbClr val="000000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19050" marB="19050" marR="47625" marL="47625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900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25.0 M </a:t>
                      </a:r>
                      <a:endParaRPr sz="900">
                        <a:solidFill>
                          <a:srgbClr val="000000"/>
                        </a:solidFill>
                        <a:latin typeface="Urbanist"/>
                        <a:ea typeface="Urbanist"/>
                        <a:cs typeface="Urbanist"/>
                        <a:sym typeface="Urbanist"/>
                      </a:endParaRPr>
                    </a:p>
                  </a:txBody>
                  <a:tcPr marT="19050" marB="19050" marR="47625" marL="47625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70" name="Google Shape;1270;p90"/>
          <p:cNvSpPr/>
          <p:nvPr/>
        </p:nvSpPr>
        <p:spPr>
          <a:xfrm>
            <a:off x="428625" y="1753790"/>
            <a:ext cx="1125600" cy="72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1" name="Google Shape;1271;p90"/>
          <p:cNvSpPr/>
          <p:nvPr/>
        </p:nvSpPr>
        <p:spPr>
          <a:xfrm>
            <a:off x="1554100" y="1753790"/>
            <a:ext cx="1842900" cy="72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2" name="Google Shape;1272;p90"/>
          <p:cNvSpPr/>
          <p:nvPr/>
        </p:nvSpPr>
        <p:spPr>
          <a:xfrm>
            <a:off x="3396741" y="1753790"/>
            <a:ext cx="3806700" cy="72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3" name="Google Shape;1273;p90"/>
          <p:cNvSpPr/>
          <p:nvPr/>
        </p:nvSpPr>
        <p:spPr>
          <a:xfrm>
            <a:off x="7203467" y="1753790"/>
            <a:ext cx="1512000" cy="72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4" name="Google Shape;1274;p90"/>
          <p:cNvSpPr/>
          <p:nvPr/>
        </p:nvSpPr>
        <p:spPr>
          <a:xfrm>
            <a:off x="428625" y="2110978"/>
            <a:ext cx="1125600" cy="72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5" name="Google Shape;1275;p90"/>
          <p:cNvSpPr/>
          <p:nvPr/>
        </p:nvSpPr>
        <p:spPr>
          <a:xfrm>
            <a:off x="1554100" y="2110978"/>
            <a:ext cx="1842900" cy="72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6" name="Google Shape;1276;p90"/>
          <p:cNvSpPr/>
          <p:nvPr/>
        </p:nvSpPr>
        <p:spPr>
          <a:xfrm>
            <a:off x="3396741" y="2110978"/>
            <a:ext cx="3806700" cy="72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7" name="Google Shape;1277;p90"/>
          <p:cNvSpPr/>
          <p:nvPr/>
        </p:nvSpPr>
        <p:spPr>
          <a:xfrm>
            <a:off x="7203467" y="2110978"/>
            <a:ext cx="1512000" cy="72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8" name="Google Shape;1278;p90"/>
          <p:cNvSpPr/>
          <p:nvPr/>
        </p:nvSpPr>
        <p:spPr>
          <a:xfrm>
            <a:off x="428625" y="2468165"/>
            <a:ext cx="1125600" cy="72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9" name="Google Shape;1279;p90"/>
          <p:cNvSpPr/>
          <p:nvPr/>
        </p:nvSpPr>
        <p:spPr>
          <a:xfrm>
            <a:off x="1554100" y="2468165"/>
            <a:ext cx="1842900" cy="72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0" name="Google Shape;1280;p90"/>
          <p:cNvSpPr/>
          <p:nvPr/>
        </p:nvSpPr>
        <p:spPr>
          <a:xfrm>
            <a:off x="3396741" y="2468165"/>
            <a:ext cx="3806700" cy="72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1" name="Google Shape;1281;p90"/>
          <p:cNvSpPr/>
          <p:nvPr/>
        </p:nvSpPr>
        <p:spPr>
          <a:xfrm>
            <a:off x="7203467" y="2468165"/>
            <a:ext cx="1512000" cy="72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2" name="Google Shape;1282;p90"/>
          <p:cNvSpPr/>
          <p:nvPr/>
        </p:nvSpPr>
        <p:spPr>
          <a:xfrm>
            <a:off x="428625" y="2825353"/>
            <a:ext cx="1125600" cy="72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3" name="Google Shape;1283;p90"/>
          <p:cNvSpPr/>
          <p:nvPr/>
        </p:nvSpPr>
        <p:spPr>
          <a:xfrm>
            <a:off x="1554100" y="2825353"/>
            <a:ext cx="1842900" cy="72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4" name="Google Shape;1284;p90"/>
          <p:cNvSpPr/>
          <p:nvPr/>
        </p:nvSpPr>
        <p:spPr>
          <a:xfrm>
            <a:off x="3396741" y="2825353"/>
            <a:ext cx="3806700" cy="72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5" name="Google Shape;1285;p90"/>
          <p:cNvSpPr/>
          <p:nvPr/>
        </p:nvSpPr>
        <p:spPr>
          <a:xfrm>
            <a:off x="7203467" y="2825353"/>
            <a:ext cx="1512000" cy="72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6" name="Google Shape;1286;p90"/>
          <p:cNvSpPr txBox="1"/>
          <p:nvPr/>
        </p:nvSpPr>
        <p:spPr>
          <a:xfrm>
            <a:off x="428625" y="428625"/>
            <a:ext cx="8701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27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Performance </a:t>
            </a:r>
            <a:r>
              <a:rPr b="1" i="0" lang="ko" sz="27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Benchmark Summary</a:t>
            </a:r>
            <a:endParaRPr sz="1100"/>
          </a:p>
        </p:txBody>
      </p:sp>
      <p:pic>
        <p:nvPicPr>
          <p:cNvPr descr="image.png" id="1287" name="Google Shape;1287;p9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625" y="3642225"/>
            <a:ext cx="3721025" cy="1450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8" name="Google Shape;1288;p9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29600" y="3642225"/>
            <a:ext cx="3806700" cy="1450175"/>
          </a:xfrm>
          <a:prstGeom prst="rect">
            <a:avLst/>
          </a:prstGeom>
          <a:noFill/>
          <a:ln>
            <a:noFill/>
          </a:ln>
        </p:spPr>
      </p:pic>
      <p:sp>
        <p:nvSpPr>
          <p:cNvPr id="1289" name="Google Shape;1289;p90"/>
          <p:cNvSpPr txBox="1"/>
          <p:nvPr/>
        </p:nvSpPr>
        <p:spPr>
          <a:xfrm>
            <a:off x="642938" y="3806238"/>
            <a:ext cx="23253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600">
                <a:solidFill>
                  <a:srgbClr val="FACC15"/>
                </a:solidFill>
                <a:latin typeface="Noto Sans KR"/>
                <a:ea typeface="Noto Sans KR"/>
                <a:cs typeface="Noto Sans KR"/>
                <a:sym typeface="Noto Sans KR"/>
              </a:rPr>
              <a:t>Performance</a:t>
            </a:r>
            <a:endParaRPr sz="1100"/>
          </a:p>
        </p:txBody>
      </p:sp>
      <p:sp>
        <p:nvSpPr>
          <p:cNvPr id="1290" name="Google Shape;1290;p90"/>
          <p:cNvSpPr txBox="1"/>
          <p:nvPr/>
        </p:nvSpPr>
        <p:spPr>
          <a:xfrm>
            <a:off x="642950" y="4220575"/>
            <a:ext cx="3189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어느정도 검증이 된 모델을 기반 학습 진행</a:t>
            </a:r>
            <a:endParaRPr sz="1100"/>
          </a:p>
        </p:txBody>
      </p:sp>
      <p:sp>
        <p:nvSpPr>
          <p:cNvPr id="1291" name="Google Shape;1291;p90"/>
          <p:cNvSpPr txBox="1"/>
          <p:nvPr/>
        </p:nvSpPr>
        <p:spPr>
          <a:xfrm>
            <a:off x="4938259" y="4163169"/>
            <a:ext cx="31893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Single GPU 환경에서 Best Accuracy &amp; Efficiency Trade Off Model 선정</a:t>
            </a:r>
            <a:endParaRPr sz="1100"/>
          </a:p>
        </p:txBody>
      </p:sp>
      <p:sp>
        <p:nvSpPr>
          <p:cNvPr id="1292" name="Google Shape;1292;p90"/>
          <p:cNvSpPr txBox="1"/>
          <p:nvPr/>
        </p:nvSpPr>
        <p:spPr>
          <a:xfrm>
            <a:off x="4938250" y="3786406"/>
            <a:ext cx="33489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600">
                <a:solidFill>
                  <a:srgbClr val="FACC15"/>
                </a:solidFill>
                <a:latin typeface="Noto Sans KR"/>
                <a:ea typeface="Noto Sans KR"/>
                <a:cs typeface="Noto Sans KR"/>
                <a:sym typeface="Noto Sans KR"/>
              </a:rPr>
              <a:t>Efficiency</a:t>
            </a:r>
            <a:endParaRPr sz="110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0F172A"/>
        </a:solidFill>
      </p:bgPr>
    </p:bg>
    <p:spTree>
      <p:nvGrpSpPr>
        <p:cNvPr id="1296" name="Shape 1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97" name="Google Shape;1297;p9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8" name="Google Shape;1298;p9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625" y="1917538"/>
            <a:ext cx="2643188" cy="21859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9" name="Google Shape;1299;p9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50406" y="1917538"/>
            <a:ext cx="2643188" cy="21859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0" name="Google Shape;1300;p9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72188" y="1917538"/>
            <a:ext cx="2643188" cy="2185988"/>
          </a:xfrm>
          <a:prstGeom prst="rect">
            <a:avLst/>
          </a:prstGeom>
          <a:noFill/>
          <a:ln>
            <a:noFill/>
          </a:ln>
        </p:spPr>
      </p:pic>
      <p:sp>
        <p:nvSpPr>
          <p:cNvPr id="1301" name="Google Shape;1301;p91"/>
          <p:cNvSpPr txBox="1"/>
          <p:nvPr/>
        </p:nvSpPr>
        <p:spPr>
          <a:xfrm>
            <a:off x="642938" y="2653345"/>
            <a:ext cx="23253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600" u="none" cap="none" strike="noStrike">
                <a:solidFill>
                  <a:srgbClr val="FACC15"/>
                </a:solidFill>
                <a:latin typeface="Noto Sans KR"/>
                <a:ea typeface="Noto Sans KR"/>
                <a:cs typeface="Noto Sans KR"/>
                <a:sym typeface="Noto Sans KR"/>
              </a:rPr>
              <a:t>주요 특징</a:t>
            </a:r>
            <a:endParaRPr sz="1100"/>
          </a:p>
        </p:txBody>
      </p:sp>
      <p:sp>
        <p:nvSpPr>
          <p:cNvPr id="1302" name="Google Shape;1302;p91"/>
          <p:cNvSpPr txBox="1"/>
          <p:nvPr/>
        </p:nvSpPr>
        <p:spPr>
          <a:xfrm>
            <a:off x="642938" y="3067682"/>
            <a:ext cx="2214600" cy="7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100" u="none" cap="none" strike="noStrike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현대 CNN의 표준인 Skip Connection을 도입하여 깊은 층에서도 안정적인 학습을 가능케 함.</a:t>
            </a:r>
            <a:endParaRPr sz="1100"/>
          </a:p>
        </p:txBody>
      </p:sp>
      <p:sp>
        <p:nvSpPr>
          <p:cNvPr id="1303" name="Google Shape;1303;p91"/>
          <p:cNvSpPr txBox="1"/>
          <p:nvPr/>
        </p:nvSpPr>
        <p:spPr>
          <a:xfrm>
            <a:off x="3464719" y="2653345"/>
            <a:ext cx="23253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600" u="none" cap="none" strike="noStrike">
                <a:solidFill>
                  <a:srgbClr val="FACC15"/>
                </a:solidFill>
                <a:latin typeface="Noto Sans KR"/>
                <a:ea typeface="Noto Sans KR"/>
                <a:cs typeface="Noto Sans KR"/>
                <a:sym typeface="Noto Sans KR"/>
              </a:rPr>
              <a:t>발전 근거</a:t>
            </a:r>
            <a:endParaRPr sz="1100"/>
          </a:p>
        </p:txBody>
      </p:sp>
      <p:sp>
        <p:nvSpPr>
          <p:cNvPr id="1304" name="Google Shape;1304;p91"/>
          <p:cNvSpPr txBox="1"/>
          <p:nvPr/>
        </p:nvSpPr>
        <p:spPr>
          <a:xfrm>
            <a:off x="3464719" y="3067682"/>
            <a:ext cx="2214600" cy="7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100" u="none" cap="none" strike="noStrike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VGG 이후 등장하여 기울기 소실 문제를 해결하며 이미지 인식 모델의 기본 틀을 제시.</a:t>
            </a:r>
            <a:endParaRPr sz="1100"/>
          </a:p>
        </p:txBody>
      </p:sp>
      <p:sp>
        <p:nvSpPr>
          <p:cNvPr id="1305" name="Google Shape;1305;p91"/>
          <p:cNvSpPr txBox="1"/>
          <p:nvPr/>
        </p:nvSpPr>
        <p:spPr>
          <a:xfrm>
            <a:off x="6286500" y="2653345"/>
            <a:ext cx="23253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600" u="none" cap="none" strike="noStrike">
                <a:solidFill>
                  <a:srgbClr val="FACC15"/>
                </a:solidFill>
                <a:latin typeface="Noto Sans KR"/>
                <a:ea typeface="Noto Sans KR"/>
                <a:cs typeface="Noto Sans KR"/>
                <a:sym typeface="Noto Sans KR"/>
              </a:rPr>
              <a:t>성능 근거 (0.81)</a:t>
            </a:r>
            <a:endParaRPr sz="1100"/>
          </a:p>
        </p:txBody>
      </p:sp>
      <p:sp>
        <p:nvSpPr>
          <p:cNvPr id="1306" name="Google Shape;1306;p91"/>
          <p:cNvSpPr txBox="1"/>
          <p:nvPr/>
        </p:nvSpPr>
        <p:spPr>
          <a:xfrm>
            <a:off x="6286500" y="3067682"/>
            <a:ext cx="2214600" cy="7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100" u="none" cap="none" strike="noStrike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단순한 구조로 인해 먼지의 미세 질감을 포착하는 해상력이 타 모델 대비 낮음.</a:t>
            </a:r>
            <a:endParaRPr sz="1100"/>
          </a:p>
        </p:txBody>
      </p:sp>
      <p:pic>
        <p:nvPicPr>
          <p:cNvPr descr="image.png" id="1307" name="Google Shape;1307;p9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2938" y="2153282"/>
            <a:ext cx="222349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8" name="Google Shape;1308;p9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464719" y="2153282"/>
            <a:ext cx="222349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9" name="Google Shape;1309;p9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86500" y="2153282"/>
            <a:ext cx="222349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310" name="Google Shape;1310;p91"/>
          <p:cNvSpPr txBox="1"/>
          <p:nvPr/>
        </p:nvSpPr>
        <p:spPr>
          <a:xfrm>
            <a:off x="571500" y="677651"/>
            <a:ext cx="8551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24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RESNET18: THE FOUNDATION</a:t>
            </a:r>
            <a:endParaRPr sz="1100"/>
          </a:p>
        </p:txBody>
      </p:sp>
      <p:sp>
        <p:nvSpPr>
          <p:cNvPr id="1311" name="Google Shape;1311;p91"/>
          <p:cNvSpPr/>
          <p:nvPr/>
        </p:nvSpPr>
        <p:spPr>
          <a:xfrm>
            <a:off x="428625" y="677651"/>
            <a:ext cx="42900" cy="3429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2" name="Google Shape;1312;p91"/>
          <p:cNvSpPr txBox="1"/>
          <p:nvPr/>
        </p:nvSpPr>
        <p:spPr>
          <a:xfrm>
            <a:off x="-2232875" y="1539200"/>
            <a:ext cx="18324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기본 전처리 끝낸 동일한 데이터에 대해 모델별 제출한 성능을 기준으로 선정하였음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0F172A"/>
        </a:solidFill>
      </p:bgPr>
    </p:bg>
    <p:spTree>
      <p:nvGrpSpPr>
        <p:cNvPr id="1316" name="Shape 1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17" name="Google Shape;1317;p9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8" name="Google Shape;1318;p9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625" y="1917538"/>
            <a:ext cx="2643188" cy="21859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9" name="Google Shape;1319;p9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50406" y="1917538"/>
            <a:ext cx="2643188" cy="21859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0" name="Google Shape;1320;p9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72188" y="1917538"/>
            <a:ext cx="2643188" cy="21859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1" name="Google Shape;1321;p92"/>
          <p:cNvSpPr txBox="1"/>
          <p:nvPr/>
        </p:nvSpPr>
        <p:spPr>
          <a:xfrm>
            <a:off x="642938" y="2653345"/>
            <a:ext cx="23253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600" u="none" cap="none" strike="noStrike">
                <a:solidFill>
                  <a:srgbClr val="FACC15"/>
                </a:solidFill>
                <a:latin typeface="Noto Sans KR"/>
                <a:ea typeface="Noto Sans KR"/>
                <a:cs typeface="Noto Sans KR"/>
                <a:sym typeface="Noto Sans KR"/>
              </a:rPr>
              <a:t>주요 특징</a:t>
            </a:r>
            <a:endParaRPr sz="1100"/>
          </a:p>
        </p:txBody>
      </p:sp>
      <p:sp>
        <p:nvSpPr>
          <p:cNvPr id="1322" name="Google Shape;1322;p92"/>
          <p:cNvSpPr txBox="1"/>
          <p:nvPr/>
        </p:nvSpPr>
        <p:spPr>
          <a:xfrm>
            <a:off x="642938" y="3067682"/>
            <a:ext cx="2214600" cy="7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100" u="none" cap="none" strike="noStrike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깊이, 너비, 해상도를 균형 있게 확장하는 Compound Scaling 기법 적용.</a:t>
            </a:r>
            <a:endParaRPr sz="1100"/>
          </a:p>
        </p:txBody>
      </p:sp>
      <p:sp>
        <p:nvSpPr>
          <p:cNvPr id="1323" name="Google Shape;1323;p92"/>
          <p:cNvSpPr txBox="1"/>
          <p:nvPr/>
        </p:nvSpPr>
        <p:spPr>
          <a:xfrm>
            <a:off x="3464719" y="2653345"/>
            <a:ext cx="23253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600" u="none" cap="none" strike="noStrike">
                <a:solidFill>
                  <a:srgbClr val="FACC15"/>
                </a:solidFill>
                <a:latin typeface="Noto Sans KR"/>
                <a:ea typeface="Noto Sans KR"/>
                <a:cs typeface="Noto Sans KR"/>
                <a:sym typeface="Noto Sans KR"/>
              </a:rPr>
              <a:t>발전 근거</a:t>
            </a:r>
            <a:endParaRPr sz="1100"/>
          </a:p>
        </p:txBody>
      </p:sp>
      <p:sp>
        <p:nvSpPr>
          <p:cNvPr id="1324" name="Google Shape;1324;p92"/>
          <p:cNvSpPr txBox="1"/>
          <p:nvPr/>
        </p:nvSpPr>
        <p:spPr>
          <a:xfrm>
            <a:off x="3464719" y="3067682"/>
            <a:ext cx="2214600" cy="7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100" u="none" cap="none" strike="noStrike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모델 파라미터 대비 극강의 효율성을 추구하며 모바일 최적화 및 고성능 달성.</a:t>
            </a:r>
            <a:endParaRPr sz="1100"/>
          </a:p>
        </p:txBody>
      </p:sp>
      <p:sp>
        <p:nvSpPr>
          <p:cNvPr id="1325" name="Google Shape;1325;p92"/>
          <p:cNvSpPr txBox="1"/>
          <p:nvPr/>
        </p:nvSpPr>
        <p:spPr>
          <a:xfrm>
            <a:off x="6286500" y="2653345"/>
            <a:ext cx="23253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600" u="none" cap="none" strike="noStrike">
                <a:solidFill>
                  <a:srgbClr val="FACC15"/>
                </a:solidFill>
                <a:latin typeface="Noto Sans KR"/>
                <a:ea typeface="Noto Sans KR"/>
                <a:cs typeface="Noto Sans KR"/>
                <a:sym typeface="Noto Sans KR"/>
              </a:rPr>
              <a:t>성능 근거 (0.918)</a:t>
            </a:r>
            <a:endParaRPr sz="1100"/>
          </a:p>
        </p:txBody>
      </p:sp>
      <p:sp>
        <p:nvSpPr>
          <p:cNvPr id="1326" name="Google Shape;1326;p92"/>
          <p:cNvSpPr txBox="1"/>
          <p:nvPr/>
        </p:nvSpPr>
        <p:spPr>
          <a:xfrm>
            <a:off x="6286500" y="3067682"/>
            <a:ext cx="22146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100" u="none" cap="none" strike="noStrike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SE 블록을 통한 채널 집중 학습으로 오염의 색상 변화를 민감하게 감지.</a:t>
            </a:r>
            <a:endParaRPr sz="1100"/>
          </a:p>
        </p:txBody>
      </p:sp>
      <p:pic>
        <p:nvPicPr>
          <p:cNvPr descr="image.png" id="1327" name="Google Shape;1327;p9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2938" y="2153282"/>
            <a:ext cx="222349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8" name="Google Shape;1328;p9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464719" y="2153282"/>
            <a:ext cx="222349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9" name="Google Shape;1329;p9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86500" y="2153282"/>
            <a:ext cx="222349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330" name="Google Shape;1330;p92"/>
          <p:cNvSpPr txBox="1"/>
          <p:nvPr/>
        </p:nvSpPr>
        <p:spPr>
          <a:xfrm>
            <a:off x="571500" y="677651"/>
            <a:ext cx="8551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24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EFFICIENTNET-B0: SCALING</a:t>
            </a:r>
            <a:endParaRPr sz="1100"/>
          </a:p>
        </p:txBody>
      </p:sp>
      <p:sp>
        <p:nvSpPr>
          <p:cNvPr id="1331" name="Google Shape;1331;p92"/>
          <p:cNvSpPr/>
          <p:nvPr/>
        </p:nvSpPr>
        <p:spPr>
          <a:xfrm>
            <a:off x="428625" y="677651"/>
            <a:ext cx="42900" cy="3429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0F172A"/>
        </a:solidFill>
      </p:bgPr>
    </p:bg>
    <p:spTree>
      <p:nvGrpSpPr>
        <p:cNvPr id="1335" name="Shape 1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36" name="Google Shape;1336;p9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7" name="Google Shape;1337;p9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625" y="1917538"/>
            <a:ext cx="2643188" cy="21859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8" name="Google Shape;1338;p9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50406" y="1917538"/>
            <a:ext cx="2643188" cy="21859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9" name="Google Shape;1339;p9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72188" y="1917538"/>
            <a:ext cx="2643188" cy="2185988"/>
          </a:xfrm>
          <a:prstGeom prst="rect">
            <a:avLst/>
          </a:prstGeom>
          <a:noFill/>
          <a:ln>
            <a:noFill/>
          </a:ln>
        </p:spPr>
      </p:pic>
      <p:sp>
        <p:nvSpPr>
          <p:cNvPr id="1340" name="Google Shape;1340;p93"/>
          <p:cNvSpPr txBox="1"/>
          <p:nvPr/>
        </p:nvSpPr>
        <p:spPr>
          <a:xfrm>
            <a:off x="642938" y="2653345"/>
            <a:ext cx="23253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600" u="none" cap="none" strike="noStrike">
                <a:solidFill>
                  <a:srgbClr val="FACC15"/>
                </a:solidFill>
                <a:latin typeface="Noto Sans KR"/>
                <a:ea typeface="Noto Sans KR"/>
                <a:cs typeface="Noto Sans KR"/>
                <a:sym typeface="Noto Sans KR"/>
              </a:rPr>
              <a:t>주요 특징</a:t>
            </a:r>
            <a:endParaRPr sz="1100"/>
          </a:p>
        </p:txBody>
      </p:sp>
      <p:sp>
        <p:nvSpPr>
          <p:cNvPr id="1341" name="Google Shape;1341;p93"/>
          <p:cNvSpPr txBox="1"/>
          <p:nvPr/>
        </p:nvSpPr>
        <p:spPr>
          <a:xfrm>
            <a:off x="642938" y="3067682"/>
            <a:ext cx="2214600" cy="7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100" u="none" cap="none" strike="noStrike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Transformer의 장점을 CNN에 이식(7x7 Kernel, Layer Norm 등 적용).</a:t>
            </a:r>
            <a:endParaRPr sz="1100"/>
          </a:p>
        </p:txBody>
      </p:sp>
      <p:sp>
        <p:nvSpPr>
          <p:cNvPr id="1342" name="Google Shape;1342;p93"/>
          <p:cNvSpPr txBox="1"/>
          <p:nvPr/>
        </p:nvSpPr>
        <p:spPr>
          <a:xfrm>
            <a:off x="3464719" y="2653345"/>
            <a:ext cx="23253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600" u="none" cap="none" strike="noStrike">
                <a:solidFill>
                  <a:srgbClr val="FACC15"/>
                </a:solidFill>
                <a:latin typeface="Noto Sans KR"/>
                <a:ea typeface="Noto Sans KR"/>
                <a:cs typeface="Noto Sans KR"/>
                <a:sym typeface="Noto Sans KR"/>
              </a:rPr>
              <a:t>발전 근거</a:t>
            </a:r>
            <a:endParaRPr sz="1100"/>
          </a:p>
        </p:txBody>
      </p:sp>
      <p:sp>
        <p:nvSpPr>
          <p:cNvPr id="1343" name="Google Shape;1343;p93"/>
          <p:cNvSpPr txBox="1"/>
          <p:nvPr/>
        </p:nvSpPr>
        <p:spPr>
          <a:xfrm>
            <a:off x="3464719" y="3067682"/>
            <a:ext cx="2214600" cy="7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100" u="none" cap="none" strike="noStrike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ViT의 유행 속에서 CNN의 잠재력을 재발굴하여 순수 CNN으로 Transformer급 성능 구현.</a:t>
            </a:r>
            <a:endParaRPr sz="1100"/>
          </a:p>
        </p:txBody>
      </p:sp>
      <p:sp>
        <p:nvSpPr>
          <p:cNvPr id="1344" name="Google Shape;1344;p93"/>
          <p:cNvSpPr txBox="1"/>
          <p:nvPr/>
        </p:nvSpPr>
        <p:spPr>
          <a:xfrm>
            <a:off x="6286500" y="2653345"/>
            <a:ext cx="23253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600" u="none" cap="none" strike="noStrike">
                <a:solidFill>
                  <a:srgbClr val="FACC15"/>
                </a:solidFill>
                <a:latin typeface="Noto Sans KR"/>
                <a:ea typeface="Noto Sans KR"/>
                <a:cs typeface="Noto Sans KR"/>
                <a:sym typeface="Noto Sans KR"/>
              </a:rPr>
              <a:t>성능 근거 (0.939)</a:t>
            </a:r>
            <a:endParaRPr sz="1100"/>
          </a:p>
        </p:txBody>
      </p:sp>
      <p:sp>
        <p:nvSpPr>
          <p:cNvPr id="1345" name="Google Shape;1345;p93"/>
          <p:cNvSpPr txBox="1"/>
          <p:nvPr/>
        </p:nvSpPr>
        <p:spPr>
          <a:xfrm>
            <a:off x="6286500" y="3067682"/>
            <a:ext cx="2214600" cy="7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100" u="none" cap="none" strike="noStrike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적은 데이터셋(1,100장)에서도 CNN 특유의 공간적 편향을 통해 강력한 학습력 유지.</a:t>
            </a:r>
            <a:endParaRPr sz="1100"/>
          </a:p>
        </p:txBody>
      </p:sp>
      <p:pic>
        <p:nvPicPr>
          <p:cNvPr descr="image.png" id="1346" name="Google Shape;1346;p9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2938" y="2153282"/>
            <a:ext cx="222349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7" name="Google Shape;1347;p9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464719" y="2153282"/>
            <a:ext cx="222349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8" name="Google Shape;1348;p9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86500" y="2153282"/>
            <a:ext cx="222349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9" name="Google Shape;1349;p93"/>
          <p:cNvSpPr txBox="1"/>
          <p:nvPr/>
        </p:nvSpPr>
        <p:spPr>
          <a:xfrm>
            <a:off x="571500" y="677651"/>
            <a:ext cx="8551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24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CONVNEXT-NANO: MODERN CNN</a:t>
            </a:r>
            <a:endParaRPr sz="1100"/>
          </a:p>
        </p:txBody>
      </p:sp>
      <p:sp>
        <p:nvSpPr>
          <p:cNvPr id="1350" name="Google Shape;1350;p93"/>
          <p:cNvSpPr/>
          <p:nvPr/>
        </p:nvSpPr>
        <p:spPr>
          <a:xfrm>
            <a:off x="428625" y="677651"/>
            <a:ext cx="42900" cy="3429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0F172A"/>
        </a:solidFill>
      </p:bgPr>
    </p:bg>
    <p:spTree>
      <p:nvGrpSpPr>
        <p:cNvPr id="1354" name="Shape 1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55" name="Google Shape;1355;p9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6" name="Google Shape;1356;p9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625" y="1917538"/>
            <a:ext cx="2643188" cy="21859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7" name="Google Shape;1357;p9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50406" y="1917538"/>
            <a:ext cx="2643188" cy="21859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8" name="Google Shape;1358;p9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72188" y="1917538"/>
            <a:ext cx="2643188" cy="2185988"/>
          </a:xfrm>
          <a:prstGeom prst="rect">
            <a:avLst/>
          </a:prstGeom>
          <a:noFill/>
          <a:ln>
            <a:noFill/>
          </a:ln>
        </p:spPr>
      </p:pic>
      <p:sp>
        <p:nvSpPr>
          <p:cNvPr id="1359" name="Google Shape;1359;p94"/>
          <p:cNvSpPr txBox="1"/>
          <p:nvPr/>
        </p:nvSpPr>
        <p:spPr>
          <a:xfrm>
            <a:off x="642938" y="2653345"/>
            <a:ext cx="23253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600" u="none" cap="none" strike="noStrike">
                <a:solidFill>
                  <a:srgbClr val="FACC15"/>
                </a:solidFill>
                <a:latin typeface="Noto Sans KR"/>
                <a:ea typeface="Noto Sans KR"/>
                <a:cs typeface="Noto Sans KR"/>
                <a:sym typeface="Noto Sans KR"/>
              </a:rPr>
              <a:t>주요 특징</a:t>
            </a:r>
            <a:endParaRPr sz="1100"/>
          </a:p>
        </p:txBody>
      </p:sp>
      <p:sp>
        <p:nvSpPr>
          <p:cNvPr id="1360" name="Google Shape;1360;p94"/>
          <p:cNvSpPr txBox="1"/>
          <p:nvPr/>
        </p:nvSpPr>
        <p:spPr>
          <a:xfrm>
            <a:off x="642938" y="3067682"/>
            <a:ext cx="2214600" cy="7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100" u="none" cap="none" strike="noStrike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Convolution(로컬 특징)과 Attention(글로벌 맥락)을 수학적으로 통합 설계.</a:t>
            </a:r>
            <a:endParaRPr sz="1100"/>
          </a:p>
        </p:txBody>
      </p:sp>
      <p:sp>
        <p:nvSpPr>
          <p:cNvPr id="1361" name="Google Shape;1361;p94"/>
          <p:cNvSpPr txBox="1"/>
          <p:nvPr/>
        </p:nvSpPr>
        <p:spPr>
          <a:xfrm>
            <a:off x="3464719" y="2653345"/>
            <a:ext cx="23253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600" u="none" cap="none" strike="noStrike">
                <a:solidFill>
                  <a:srgbClr val="FACC15"/>
                </a:solidFill>
                <a:latin typeface="Noto Sans KR"/>
                <a:ea typeface="Noto Sans KR"/>
                <a:cs typeface="Noto Sans KR"/>
                <a:sym typeface="Noto Sans KR"/>
              </a:rPr>
              <a:t>발전 근거</a:t>
            </a:r>
            <a:endParaRPr sz="1100"/>
          </a:p>
        </p:txBody>
      </p:sp>
      <p:sp>
        <p:nvSpPr>
          <p:cNvPr id="1362" name="Google Shape;1362;p94"/>
          <p:cNvSpPr txBox="1"/>
          <p:nvPr/>
        </p:nvSpPr>
        <p:spPr>
          <a:xfrm>
            <a:off x="3464719" y="3067682"/>
            <a:ext cx="2214600" cy="7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100" u="none" cap="none" strike="noStrike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단순 결합이 아닌 레이어 단계별 최적화를 통해 연산 효율과 성능을 동시에 추구.</a:t>
            </a:r>
            <a:endParaRPr sz="1100"/>
          </a:p>
        </p:txBody>
      </p:sp>
      <p:sp>
        <p:nvSpPr>
          <p:cNvPr id="1363" name="Google Shape;1363;p94"/>
          <p:cNvSpPr txBox="1"/>
          <p:nvPr/>
        </p:nvSpPr>
        <p:spPr>
          <a:xfrm>
            <a:off x="6286500" y="2653345"/>
            <a:ext cx="23253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600" u="none" cap="none" strike="noStrike">
                <a:solidFill>
                  <a:srgbClr val="FACC15"/>
                </a:solidFill>
                <a:latin typeface="Noto Sans KR"/>
                <a:ea typeface="Noto Sans KR"/>
                <a:cs typeface="Noto Sans KR"/>
                <a:sym typeface="Noto Sans KR"/>
              </a:rPr>
              <a:t>성능 근거 (0.927)</a:t>
            </a:r>
            <a:endParaRPr sz="1100"/>
          </a:p>
        </p:txBody>
      </p:sp>
      <p:sp>
        <p:nvSpPr>
          <p:cNvPr id="1364" name="Google Shape;1364;p94"/>
          <p:cNvSpPr txBox="1"/>
          <p:nvPr/>
        </p:nvSpPr>
        <p:spPr>
          <a:xfrm>
            <a:off x="6286500" y="3067682"/>
            <a:ext cx="2214600" cy="7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100" u="none" cap="none" strike="noStrike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모델 수용력은 크나 1,100장의 소규모 데이터에서는 약간의 오버피팅 발생 가능성.</a:t>
            </a:r>
            <a:endParaRPr sz="1100"/>
          </a:p>
        </p:txBody>
      </p:sp>
      <p:pic>
        <p:nvPicPr>
          <p:cNvPr descr="image.png" id="1365" name="Google Shape;1365;p9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2938" y="2153282"/>
            <a:ext cx="222349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6" name="Google Shape;1366;p9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464719" y="2153282"/>
            <a:ext cx="222349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7" name="Google Shape;1367;p9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86500" y="2153282"/>
            <a:ext cx="222349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368" name="Google Shape;1368;p94"/>
          <p:cNvSpPr txBox="1"/>
          <p:nvPr/>
        </p:nvSpPr>
        <p:spPr>
          <a:xfrm>
            <a:off x="571500" y="677651"/>
            <a:ext cx="8551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24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COATNET: HYBRID DESIGN</a:t>
            </a:r>
            <a:endParaRPr sz="1100"/>
          </a:p>
        </p:txBody>
      </p:sp>
      <p:sp>
        <p:nvSpPr>
          <p:cNvPr id="1369" name="Google Shape;1369;p94"/>
          <p:cNvSpPr/>
          <p:nvPr/>
        </p:nvSpPr>
        <p:spPr>
          <a:xfrm>
            <a:off x="428625" y="677651"/>
            <a:ext cx="42900" cy="3429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0F172A"/>
        </a:solidFill>
      </p:bgPr>
    </p:bg>
    <p:spTree>
      <p:nvGrpSpPr>
        <p:cNvPr id="1373" name="Shape 1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74" name="Google Shape;1374;p9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5" name="Google Shape;1375;p9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625" y="1917538"/>
            <a:ext cx="2643188" cy="21859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6" name="Google Shape;1376;p9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50406" y="1917538"/>
            <a:ext cx="2643188" cy="21859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7" name="Google Shape;1377;p9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72188" y="1917538"/>
            <a:ext cx="2643188" cy="21859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8" name="Google Shape;1378;p95"/>
          <p:cNvSpPr txBox="1"/>
          <p:nvPr/>
        </p:nvSpPr>
        <p:spPr>
          <a:xfrm>
            <a:off x="642938" y="2653345"/>
            <a:ext cx="23253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600" u="none" cap="none" strike="noStrike">
                <a:solidFill>
                  <a:srgbClr val="FACC15"/>
                </a:solidFill>
                <a:latin typeface="Noto Sans KR"/>
                <a:ea typeface="Noto Sans KR"/>
                <a:cs typeface="Noto Sans KR"/>
                <a:sym typeface="Noto Sans KR"/>
              </a:rPr>
              <a:t>주요 특징</a:t>
            </a:r>
            <a:endParaRPr sz="1100"/>
          </a:p>
        </p:txBody>
      </p:sp>
      <p:sp>
        <p:nvSpPr>
          <p:cNvPr id="1379" name="Google Shape;1379;p95"/>
          <p:cNvSpPr txBox="1"/>
          <p:nvPr/>
        </p:nvSpPr>
        <p:spPr>
          <a:xfrm>
            <a:off x="642938" y="3067682"/>
            <a:ext cx="2214600" cy="7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100" u="none" cap="none" strike="noStrike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초거대 마스크 이미지 모델링(MIM) 기법으로 사전 학습된 최첨단 ViT 모델.</a:t>
            </a:r>
            <a:endParaRPr sz="1100"/>
          </a:p>
        </p:txBody>
      </p:sp>
      <p:sp>
        <p:nvSpPr>
          <p:cNvPr id="1380" name="Google Shape;1380;p95"/>
          <p:cNvSpPr txBox="1"/>
          <p:nvPr/>
        </p:nvSpPr>
        <p:spPr>
          <a:xfrm>
            <a:off x="3464719" y="2653345"/>
            <a:ext cx="23253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600" u="none" cap="none" strike="noStrike">
                <a:solidFill>
                  <a:srgbClr val="FACC15"/>
                </a:solidFill>
                <a:latin typeface="Noto Sans KR"/>
                <a:ea typeface="Noto Sans KR"/>
                <a:cs typeface="Noto Sans KR"/>
                <a:sym typeface="Noto Sans KR"/>
              </a:rPr>
              <a:t>발전 근거</a:t>
            </a:r>
            <a:endParaRPr sz="1100"/>
          </a:p>
        </p:txBody>
      </p:sp>
      <p:sp>
        <p:nvSpPr>
          <p:cNvPr id="1381" name="Google Shape;1381;p95"/>
          <p:cNvSpPr txBox="1"/>
          <p:nvPr/>
        </p:nvSpPr>
        <p:spPr>
          <a:xfrm>
            <a:off x="3464719" y="3067682"/>
            <a:ext cx="22146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100" u="none" cap="none" strike="noStrike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인간의 시각 체계와 유사한 고도의 표현력을 사전 학습을 통해 미리 확보.</a:t>
            </a:r>
            <a:endParaRPr sz="1100"/>
          </a:p>
        </p:txBody>
      </p:sp>
      <p:sp>
        <p:nvSpPr>
          <p:cNvPr id="1382" name="Google Shape;1382;p95"/>
          <p:cNvSpPr txBox="1"/>
          <p:nvPr/>
        </p:nvSpPr>
        <p:spPr>
          <a:xfrm>
            <a:off x="6286500" y="2653345"/>
            <a:ext cx="23253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600" u="none" cap="none" strike="noStrike">
                <a:solidFill>
                  <a:srgbClr val="FACC15"/>
                </a:solidFill>
                <a:latin typeface="Noto Sans KR"/>
                <a:ea typeface="Noto Sans KR"/>
                <a:cs typeface="Noto Sans KR"/>
                <a:sym typeface="Noto Sans KR"/>
              </a:rPr>
              <a:t>성능 근거 (0.935)</a:t>
            </a:r>
            <a:endParaRPr sz="1100"/>
          </a:p>
        </p:txBody>
      </p:sp>
      <p:sp>
        <p:nvSpPr>
          <p:cNvPr id="1383" name="Google Shape;1383;p95"/>
          <p:cNvSpPr txBox="1"/>
          <p:nvPr/>
        </p:nvSpPr>
        <p:spPr>
          <a:xfrm>
            <a:off x="6286500" y="3067682"/>
            <a:ext cx="2214600" cy="7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100" u="none" cap="none" strike="noStrike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순수 ViT임에도 불구하고 압도적인 사전 학습 가중치 덕분에 소규모 데이터 극복.</a:t>
            </a:r>
            <a:endParaRPr sz="1100"/>
          </a:p>
        </p:txBody>
      </p:sp>
      <p:pic>
        <p:nvPicPr>
          <p:cNvPr descr="image.png" id="1384" name="Google Shape;1384;p9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2938" y="2153282"/>
            <a:ext cx="222349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5" name="Google Shape;1385;p9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464719" y="2153282"/>
            <a:ext cx="222349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6" name="Google Shape;1386;p9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86500" y="2153282"/>
            <a:ext cx="222349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387" name="Google Shape;1387;p95"/>
          <p:cNvSpPr txBox="1"/>
          <p:nvPr/>
        </p:nvSpPr>
        <p:spPr>
          <a:xfrm>
            <a:off x="571500" y="677651"/>
            <a:ext cx="8551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24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EVA-02: PRE-TRAINED GIANT</a:t>
            </a:r>
            <a:endParaRPr sz="1100"/>
          </a:p>
        </p:txBody>
      </p:sp>
      <p:sp>
        <p:nvSpPr>
          <p:cNvPr id="1388" name="Google Shape;1388;p95"/>
          <p:cNvSpPr/>
          <p:nvPr/>
        </p:nvSpPr>
        <p:spPr>
          <a:xfrm>
            <a:off x="428625" y="677651"/>
            <a:ext cx="42900" cy="3429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0F172A"/>
        </a:solidFill>
      </p:bgPr>
    </p:bg>
    <p:spTree>
      <p:nvGrpSpPr>
        <p:cNvPr id="1392" name="Shape 1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93" name="Google Shape;1393;p9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4" name="Google Shape;1394;p96"/>
          <p:cNvSpPr txBox="1"/>
          <p:nvPr/>
        </p:nvSpPr>
        <p:spPr>
          <a:xfrm>
            <a:off x="571500" y="853120"/>
            <a:ext cx="3750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24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CHAMPION: MAXVIT</a:t>
            </a:r>
            <a:endParaRPr sz="1100"/>
          </a:p>
        </p:txBody>
      </p:sp>
      <p:sp>
        <p:nvSpPr>
          <p:cNvPr id="1395" name="Google Shape;1395;p96"/>
          <p:cNvSpPr/>
          <p:nvPr/>
        </p:nvSpPr>
        <p:spPr>
          <a:xfrm>
            <a:off x="428625" y="853120"/>
            <a:ext cx="42900" cy="34290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6" name="Google Shape;1396;p96"/>
          <p:cNvSpPr txBox="1"/>
          <p:nvPr/>
        </p:nvSpPr>
        <p:spPr>
          <a:xfrm>
            <a:off x="428625" y="1681795"/>
            <a:ext cx="3900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600" u="none" cap="none" strike="noStrike">
                <a:solidFill>
                  <a:srgbClr val="FACC15"/>
                </a:solidFill>
                <a:latin typeface="Noto Sans KR"/>
                <a:ea typeface="Noto Sans KR"/>
                <a:cs typeface="Noto Sans KR"/>
                <a:sym typeface="Noto Sans KR"/>
              </a:rPr>
              <a:t>Score: 0.94734</a:t>
            </a:r>
            <a:endParaRPr sz="1100"/>
          </a:p>
        </p:txBody>
      </p:sp>
      <p:sp>
        <p:nvSpPr>
          <p:cNvPr id="1397" name="Google Shape;1397;p96"/>
          <p:cNvSpPr txBox="1"/>
          <p:nvPr/>
        </p:nvSpPr>
        <p:spPr>
          <a:xfrm>
            <a:off x="428625" y="2160426"/>
            <a:ext cx="37149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100" u="none" cap="none" strike="noStrike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Multi-Axis Vision Transformer</a:t>
            </a:r>
            <a:endParaRPr sz="1100"/>
          </a:p>
        </p:txBody>
      </p:sp>
      <p:sp>
        <p:nvSpPr>
          <p:cNvPr id="1398" name="Google Shape;1398;p96"/>
          <p:cNvSpPr txBox="1"/>
          <p:nvPr/>
        </p:nvSpPr>
        <p:spPr>
          <a:xfrm>
            <a:off x="428625" y="2639057"/>
            <a:ext cx="3714900" cy="7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100" u="none" cap="none" strike="noStrike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이번 프로젝트에서 가장 높은 성능을 기록한 모델입니다. CNN과 Transformer의 장점을 극대화한 하이브리드 설계가 핵심입니다.</a:t>
            </a:r>
            <a:endParaRPr sz="1100"/>
          </a:p>
        </p:txBody>
      </p:sp>
      <p:sp>
        <p:nvSpPr>
          <p:cNvPr id="1399" name="Google Shape;1399;p96"/>
          <p:cNvSpPr txBox="1"/>
          <p:nvPr/>
        </p:nvSpPr>
        <p:spPr>
          <a:xfrm>
            <a:off x="642938" y="3546314"/>
            <a:ext cx="3500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100" u="none" cap="none" strike="noStrike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Window Attention:</a:t>
            </a:r>
            <a:r>
              <a:rPr b="0" i="0" lang="ko" sz="1100" u="none" cap="none" strike="noStrike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 국소 부위의 미세 먼지 포착</a:t>
            </a:r>
            <a:endParaRPr sz="1100"/>
          </a:p>
        </p:txBody>
      </p:sp>
      <p:sp>
        <p:nvSpPr>
          <p:cNvPr id="1400" name="Google Shape;1400;p96"/>
          <p:cNvSpPr txBox="1"/>
          <p:nvPr/>
        </p:nvSpPr>
        <p:spPr>
          <a:xfrm>
            <a:off x="642938" y="3839207"/>
            <a:ext cx="3500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100" u="none" cap="none" strike="noStrike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Grid Attention:</a:t>
            </a:r>
            <a:r>
              <a:rPr b="0" i="0" lang="ko" sz="1100" u="none" cap="none" strike="noStrike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 패널 전체의 흐릿한 맥락 파악</a:t>
            </a:r>
            <a:endParaRPr sz="1100"/>
          </a:p>
        </p:txBody>
      </p:sp>
      <p:sp>
        <p:nvSpPr>
          <p:cNvPr id="1401" name="Google Shape;1401;p96"/>
          <p:cNvSpPr txBox="1"/>
          <p:nvPr/>
        </p:nvSpPr>
        <p:spPr>
          <a:xfrm>
            <a:off x="642938" y="4132101"/>
            <a:ext cx="3500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100" u="none" cap="none" strike="noStrike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Synergy:</a:t>
            </a:r>
            <a:r>
              <a:rPr b="0" i="0" lang="ko" sz="1100" u="none" cap="none" strike="noStrike">
                <a:solidFill>
                  <a:srgbClr val="F8FAFC"/>
                </a:solidFill>
                <a:latin typeface="Noto Sans KR"/>
                <a:ea typeface="Noto Sans KR"/>
                <a:cs typeface="Noto Sans KR"/>
                <a:sym typeface="Noto Sans KR"/>
              </a:rPr>
              <a:t> 로컬과 글로벌 정보의 완벽한 융합</a:t>
            </a:r>
            <a:endParaRPr sz="1100"/>
          </a:p>
        </p:txBody>
      </p:sp>
      <p:pic>
        <p:nvPicPr>
          <p:cNvPr descr="image.png" id="1402" name="Google Shape;1402;p9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0" y="0"/>
            <a:ext cx="4572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3" name="Google Shape;1403;p9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8625" y="3546314"/>
            <a:ext cx="105593" cy="1571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4" name="Google Shape;1404;p9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8625" y="3839207"/>
            <a:ext cx="105593" cy="1571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5" name="Google Shape;1405;p9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8625" y="4132101"/>
            <a:ext cx="105593" cy="1571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0F172A"/>
        </a:solidFill>
      </p:bgPr>
    </p:bg>
    <p:spTree>
      <p:nvGrpSpPr>
        <p:cNvPr id="1409" name="Shape 1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10" name="Google Shape;1410;p9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1" name="Google Shape;1411;p9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625" y="1306301"/>
            <a:ext cx="8286750" cy="3408574"/>
          </a:xfrm>
          <a:prstGeom prst="rect">
            <a:avLst/>
          </a:prstGeom>
          <a:noFill/>
          <a:ln>
            <a:noFill/>
          </a:ln>
        </p:spPr>
      </p:pic>
      <p:sp>
        <p:nvSpPr>
          <p:cNvPr id="1412" name="Google Shape;1412;p97"/>
          <p:cNvSpPr txBox="1"/>
          <p:nvPr/>
        </p:nvSpPr>
        <p:spPr>
          <a:xfrm>
            <a:off x="428625" y="3967795"/>
            <a:ext cx="82869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100" u="none" cap="none" strike="noStrike">
                <a:solidFill>
                  <a:srgbClr val="FACC15"/>
                </a:solidFill>
                <a:latin typeface="Noto Sans KR"/>
                <a:ea typeface="Noto Sans KR"/>
                <a:cs typeface="Noto Sans KR"/>
                <a:sym typeface="Noto Sans KR"/>
              </a:rPr>
              <a:t>* MaxVIT 모델이 94.7%로 가장 높은 성능을 기록했습니다.</a:t>
            </a:r>
            <a:endParaRPr sz="1100"/>
          </a:p>
        </p:txBody>
      </p:sp>
      <p:sp>
        <p:nvSpPr>
          <p:cNvPr id="1413" name="Google Shape;1413;p97"/>
          <p:cNvSpPr txBox="1"/>
          <p:nvPr/>
        </p:nvSpPr>
        <p:spPr>
          <a:xfrm>
            <a:off x="571500" y="677651"/>
            <a:ext cx="8551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24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PERFORMANCE LEADERBOARD</a:t>
            </a:r>
            <a:endParaRPr sz="1100"/>
          </a:p>
        </p:txBody>
      </p:sp>
      <p:sp>
        <p:nvSpPr>
          <p:cNvPr id="1414" name="Google Shape;1414;p97"/>
          <p:cNvSpPr/>
          <p:nvPr/>
        </p:nvSpPr>
        <p:spPr>
          <a:xfrm>
            <a:off x="428625" y="677651"/>
            <a:ext cx="42900" cy="3429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418" name="Shape 1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9" name="Google Shape;1419;p9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학습 결과 분석 및 개선 과정</a:t>
            </a:r>
            <a:endParaRPr/>
          </a:p>
        </p:txBody>
      </p:sp>
      <p:sp>
        <p:nvSpPr>
          <p:cNvPr id="1420" name="Google Shape;1420;p9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1" name="Google Shape;1421;p9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0A0A0A"/>
        </a:solidFill>
      </p:bgPr>
    </p:bg>
    <p:spTree>
      <p:nvGrpSpPr>
        <p:cNvPr id="1425" name="Shape 1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26" name="Google Shape;1426;p9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7" name="Google Shape;1427;p9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86313" y="1898563"/>
            <a:ext cx="3929063" cy="2043447"/>
          </a:xfrm>
          <a:prstGeom prst="rect">
            <a:avLst/>
          </a:prstGeom>
          <a:noFill/>
          <a:ln>
            <a:noFill/>
          </a:ln>
        </p:spPr>
      </p:pic>
      <p:sp>
        <p:nvSpPr>
          <p:cNvPr id="1428" name="Google Shape;1428;p99"/>
          <p:cNvSpPr txBox="1"/>
          <p:nvPr/>
        </p:nvSpPr>
        <p:spPr>
          <a:xfrm>
            <a:off x="428625" y="1898563"/>
            <a:ext cx="41256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1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전략적 인사이트 요약</a:t>
            </a:r>
            <a:endParaRPr sz="1100"/>
          </a:p>
        </p:txBody>
      </p:sp>
      <p:sp>
        <p:nvSpPr>
          <p:cNvPr id="1429" name="Google Shape;1429;p99"/>
          <p:cNvSpPr txBox="1"/>
          <p:nvPr/>
        </p:nvSpPr>
        <p:spPr>
          <a:xfrm>
            <a:off x="428625" y="2058962"/>
            <a:ext cx="3929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00" u="none" cap="none" strike="noStrik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소규모 데이터셋에서의 '검증 데이터 불일치' 및 '과적합' 문제를 해결하기 위해 4가지 가설 기반 전략을 수행하였습니다.</a:t>
            </a:r>
            <a:endParaRPr sz="1100"/>
          </a:p>
        </p:txBody>
      </p:sp>
      <p:sp>
        <p:nvSpPr>
          <p:cNvPr id="1430" name="Google Shape;1430;p99"/>
          <p:cNvSpPr txBox="1"/>
          <p:nvPr/>
        </p:nvSpPr>
        <p:spPr>
          <a:xfrm>
            <a:off x="5086350" y="2198600"/>
            <a:ext cx="33291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5100" u="none" cap="none" strike="noStrike">
                <a:solidFill>
                  <a:srgbClr val="FFCC00"/>
                </a:solidFill>
                <a:latin typeface="Urbanist"/>
                <a:ea typeface="Urbanist"/>
                <a:cs typeface="Urbanist"/>
                <a:sym typeface="Urbanist"/>
              </a:rPr>
              <a:t>0.918</a:t>
            </a:r>
            <a:endParaRPr sz="1100"/>
          </a:p>
        </p:txBody>
      </p:sp>
      <p:sp>
        <p:nvSpPr>
          <p:cNvPr id="1431" name="Google Shape;1431;p99"/>
          <p:cNvSpPr txBox="1"/>
          <p:nvPr/>
        </p:nvSpPr>
        <p:spPr>
          <a:xfrm>
            <a:off x="5086350" y="2912975"/>
            <a:ext cx="3329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2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Best Score (Strategy B)</a:t>
            </a:r>
            <a:endParaRPr sz="1100"/>
          </a:p>
        </p:txBody>
      </p:sp>
      <p:sp>
        <p:nvSpPr>
          <p:cNvPr id="1432" name="Google Shape;1432;p99"/>
          <p:cNvSpPr txBox="1"/>
          <p:nvPr/>
        </p:nvSpPr>
        <p:spPr>
          <a:xfrm>
            <a:off x="5086350" y="3205869"/>
            <a:ext cx="33291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00" u="none" cap="none" strike="noStrik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전략 A 대비 +13.1% 성능 향상 달성</a:t>
            </a:r>
            <a:endParaRPr sz="1100"/>
          </a:p>
        </p:txBody>
      </p:sp>
      <p:sp>
        <p:nvSpPr>
          <p:cNvPr id="1433" name="Google Shape;1433;p99"/>
          <p:cNvSpPr txBox="1"/>
          <p:nvPr/>
        </p:nvSpPr>
        <p:spPr>
          <a:xfrm>
            <a:off x="678656" y="2684711"/>
            <a:ext cx="36789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1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최고 성능:</a:t>
            </a:r>
            <a:r>
              <a:rPr b="0" i="0" lang="ko" sz="11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전략 B (5-Fold CV 앙상블) 가 0.918로 압도적 우위</a:t>
            </a:r>
            <a:endParaRPr sz="1100"/>
          </a:p>
        </p:txBody>
      </p:sp>
      <p:sp>
        <p:nvSpPr>
          <p:cNvPr id="1434" name="Google Shape;1434;p99"/>
          <p:cNvSpPr txBox="1"/>
          <p:nvPr/>
        </p:nvSpPr>
        <p:spPr>
          <a:xfrm>
            <a:off x="678656" y="3163342"/>
            <a:ext cx="36789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1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주요 발견:</a:t>
            </a:r>
            <a:r>
              <a:rPr b="0" i="0" lang="ko" sz="11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전체 데이터 학습(전략 A)은 검증 부재로 성능 급락</a:t>
            </a:r>
            <a:endParaRPr sz="1100"/>
          </a:p>
        </p:txBody>
      </p:sp>
      <p:sp>
        <p:nvSpPr>
          <p:cNvPr id="1435" name="Google Shape;1435;p99"/>
          <p:cNvSpPr txBox="1"/>
          <p:nvPr/>
        </p:nvSpPr>
        <p:spPr>
          <a:xfrm>
            <a:off x="678656" y="3641973"/>
            <a:ext cx="36789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1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변수 영향:</a:t>
            </a:r>
            <a:r>
              <a:rPr b="0" i="0" lang="ko" sz="11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Mixup 증강은 앙상블과 결합 시 시너지 발생</a:t>
            </a:r>
            <a:endParaRPr sz="1100"/>
          </a:p>
        </p:txBody>
      </p:sp>
      <p:pic>
        <p:nvPicPr>
          <p:cNvPr descr="image.png" id="1436" name="Google Shape;1436;p9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8625" y="2709713"/>
            <a:ext cx="105593" cy="1571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7" name="Google Shape;1437;p9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8625" y="3188345"/>
            <a:ext cx="105593" cy="1571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8" name="Google Shape;1438;p9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8625" y="3666976"/>
            <a:ext cx="105593" cy="157163"/>
          </a:xfrm>
          <a:prstGeom prst="rect">
            <a:avLst/>
          </a:prstGeom>
          <a:noFill/>
          <a:ln>
            <a:noFill/>
          </a:ln>
        </p:spPr>
      </p:pic>
      <p:sp>
        <p:nvSpPr>
          <p:cNvPr id="1439" name="Google Shape;1439;p99"/>
          <p:cNvSpPr txBox="1"/>
          <p:nvPr/>
        </p:nvSpPr>
        <p:spPr>
          <a:xfrm>
            <a:off x="600075" y="428625"/>
            <a:ext cx="8520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27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EXECUTIVE </a:t>
            </a:r>
            <a:r>
              <a:rPr b="1" i="0" lang="ko" sz="2700" u="none" cap="none" strike="noStrike">
                <a:solidFill>
                  <a:srgbClr val="FFCC00"/>
                </a:solidFill>
                <a:latin typeface="Urbanist"/>
                <a:ea typeface="Urbanist"/>
                <a:cs typeface="Urbanist"/>
                <a:sym typeface="Urbanist"/>
              </a:rPr>
              <a:t>SUMMARY</a:t>
            </a:r>
            <a:endParaRPr sz="1100"/>
          </a:p>
        </p:txBody>
      </p:sp>
      <p:sp>
        <p:nvSpPr>
          <p:cNvPr id="1440" name="Google Shape;1440;p99"/>
          <p:cNvSpPr/>
          <p:nvPr/>
        </p:nvSpPr>
        <p:spPr>
          <a:xfrm>
            <a:off x="428625" y="428625"/>
            <a:ext cx="57000" cy="4116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0A0A0A"/>
        </a:solidFill>
      </p:bgPr>
    </p:bg>
    <p:spTree>
      <p:nvGrpSpPr>
        <p:cNvPr id="1444" name="Shape 1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45" name="Google Shape;1445;p10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6" name="Google Shape;1446;p10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625" y="3682491"/>
            <a:ext cx="8286750" cy="49146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7" name="Google Shape;1447;p10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8625" y="1666614"/>
            <a:ext cx="2647875" cy="18015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8" name="Google Shape;1448;p10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247950" y="1666614"/>
            <a:ext cx="2647987" cy="18015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9" name="Google Shape;1449;p10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67388" y="1666614"/>
            <a:ext cx="2647875" cy="1801564"/>
          </a:xfrm>
          <a:prstGeom prst="rect">
            <a:avLst/>
          </a:prstGeom>
          <a:noFill/>
          <a:ln>
            <a:noFill/>
          </a:ln>
        </p:spPr>
      </p:pic>
      <p:sp>
        <p:nvSpPr>
          <p:cNvPr id="1450" name="Google Shape;1450;p100"/>
          <p:cNvSpPr txBox="1"/>
          <p:nvPr/>
        </p:nvSpPr>
        <p:spPr>
          <a:xfrm>
            <a:off x="571500" y="3825366"/>
            <a:ext cx="80010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00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000" u="none" cap="none" strike="noStrike">
                <a:solidFill>
                  <a:srgbClr val="FFCC00"/>
                </a:solidFill>
                <a:latin typeface="Urbanist"/>
                <a:ea typeface="Urbanist"/>
                <a:cs typeface="Urbanist"/>
                <a:sym typeface="Urbanist"/>
              </a:rPr>
              <a:t>Lesson Learned:</a:t>
            </a:r>
            <a:r>
              <a:rPr b="0" i="0" lang="ko" sz="1000" u="none" cap="none" strike="noStrike">
                <a:solidFill>
                  <a:srgbClr val="FFCC00"/>
                </a:solidFill>
                <a:latin typeface="Urbanist"/>
                <a:ea typeface="Urbanist"/>
                <a:cs typeface="Urbanist"/>
                <a:sym typeface="Urbanist"/>
              </a:rPr>
              <a:t> 소규모 데이터일수록 검증 데이터의 존재가 성능 모니터링에 절대적임.</a:t>
            </a:r>
            <a:endParaRPr sz="1100"/>
          </a:p>
        </p:txBody>
      </p:sp>
      <p:sp>
        <p:nvSpPr>
          <p:cNvPr id="1451" name="Google Shape;1451;p100"/>
          <p:cNvSpPr txBox="1"/>
          <p:nvPr/>
        </p:nvSpPr>
        <p:spPr>
          <a:xfrm>
            <a:off x="650081" y="2338127"/>
            <a:ext cx="2315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4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전략 개요</a:t>
            </a:r>
            <a:endParaRPr sz="1100"/>
          </a:p>
        </p:txBody>
      </p:sp>
      <p:sp>
        <p:nvSpPr>
          <p:cNvPr id="1452" name="Google Shape;1452;p100"/>
          <p:cNvSpPr txBox="1"/>
          <p:nvPr/>
        </p:nvSpPr>
        <p:spPr>
          <a:xfrm>
            <a:off x="650081" y="2629569"/>
            <a:ext cx="2205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00" u="none" cap="none" strike="noStrik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검증용 20%를 포기하지 않고 100% 학습에 투입. 이전 실험의 최적 Epoch(12)을 고정 적용.</a:t>
            </a:r>
            <a:endParaRPr sz="1100"/>
          </a:p>
        </p:txBody>
      </p:sp>
      <p:sp>
        <p:nvSpPr>
          <p:cNvPr id="1453" name="Google Shape;1453;p100"/>
          <p:cNvSpPr txBox="1"/>
          <p:nvPr/>
        </p:nvSpPr>
        <p:spPr>
          <a:xfrm>
            <a:off x="3469406" y="2338127"/>
            <a:ext cx="2315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4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스코어: 0.812</a:t>
            </a:r>
            <a:endParaRPr sz="1100"/>
          </a:p>
        </p:txBody>
      </p:sp>
      <p:sp>
        <p:nvSpPr>
          <p:cNvPr id="1454" name="Google Shape;1454;p100"/>
          <p:cNvSpPr txBox="1"/>
          <p:nvPr/>
        </p:nvSpPr>
        <p:spPr>
          <a:xfrm>
            <a:off x="3469406" y="2629569"/>
            <a:ext cx="2205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00" u="none" cap="none" strike="noStrik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실험군 중 가장 낮은 성능 기록. 데이터 양은 늘었으나 '나침반'을 잃은 격.</a:t>
            </a:r>
            <a:endParaRPr sz="1100"/>
          </a:p>
        </p:txBody>
      </p:sp>
      <p:sp>
        <p:nvSpPr>
          <p:cNvPr id="1455" name="Google Shape;1455;p100"/>
          <p:cNvSpPr txBox="1"/>
          <p:nvPr/>
        </p:nvSpPr>
        <p:spPr>
          <a:xfrm>
            <a:off x="6288844" y="2338127"/>
            <a:ext cx="2315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4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원인 분석</a:t>
            </a:r>
            <a:endParaRPr sz="1100"/>
          </a:p>
        </p:txBody>
      </p:sp>
      <p:sp>
        <p:nvSpPr>
          <p:cNvPr id="1456" name="Google Shape;1456;p100"/>
          <p:cNvSpPr txBox="1"/>
          <p:nvPr/>
        </p:nvSpPr>
        <p:spPr>
          <a:xfrm>
            <a:off x="6288844" y="2629569"/>
            <a:ext cx="2205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00" u="none" cap="none" strike="noStrik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Early Stopping 부재로 인한 과적합 발생. 검증 데이터가 없어 모델의 학습 정지 시점 파악 불가.</a:t>
            </a:r>
            <a:endParaRPr sz="1100"/>
          </a:p>
        </p:txBody>
      </p:sp>
      <p:pic>
        <p:nvPicPr>
          <p:cNvPr descr="image.png" id="1457" name="Google Shape;1457;p10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3861085"/>
            <a:ext cx="100013" cy="1285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8" name="Google Shape;1458;p10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0081" y="1909502"/>
            <a:ext cx="22860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9" name="Google Shape;1459;p10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469406" y="1909502"/>
            <a:ext cx="257175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0" name="Google Shape;1460;p10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288844" y="1909502"/>
            <a:ext cx="257175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1461" name="Google Shape;1461;p100"/>
          <p:cNvSpPr txBox="1"/>
          <p:nvPr/>
        </p:nvSpPr>
        <p:spPr>
          <a:xfrm>
            <a:off x="600075" y="428625"/>
            <a:ext cx="8520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27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STRATEGY A: </a:t>
            </a:r>
            <a:r>
              <a:rPr b="1" i="0" lang="ko" sz="2700" u="none" cap="none" strike="noStrike">
                <a:solidFill>
                  <a:srgbClr val="FFCC00"/>
                </a:solidFill>
                <a:latin typeface="Urbanist"/>
                <a:ea typeface="Urbanist"/>
                <a:cs typeface="Urbanist"/>
                <a:sym typeface="Urbanist"/>
              </a:rPr>
              <a:t>FULL DATA</a:t>
            </a:r>
            <a:endParaRPr sz="1100"/>
          </a:p>
        </p:txBody>
      </p:sp>
      <p:sp>
        <p:nvSpPr>
          <p:cNvPr id="1462" name="Google Shape;1462;p100"/>
          <p:cNvSpPr/>
          <p:nvPr/>
        </p:nvSpPr>
        <p:spPr>
          <a:xfrm>
            <a:off x="428625" y="428625"/>
            <a:ext cx="57000" cy="4116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0A0A0A"/>
        </a:solidFill>
      </p:bgPr>
    </p:bg>
    <p:spTree>
      <p:nvGrpSpPr>
        <p:cNvPr id="1466" name="Shape 1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67" name="Google Shape;1467;p10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8" name="Google Shape;1468;p10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86313" y="1491592"/>
            <a:ext cx="3929063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9" name="Google Shape;1469;p10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8625" y="1491593"/>
            <a:ext cx="1133624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470" name="Google Shape;1470;p101"/>
          <p:cNvSpPr txBox="1"/>
          <p:nvPr/>
        </p:nvSpPr>
        <p:spPr>
          <a:xfrm>
            <a:off x="428625" y="1798774"/>
            <a:ext cx="41256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1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정교한 일반화의 승리</a:t>
            </a:r>
            <a:endParaRPr sz="1100"/>
          </a:p>
        </p:txBody>
      </p:sp>
      <p:sp>
        <p:nvSpPr>
          <p:cNvPr id="1471" name="Google Shape;1471;p101"/>
          <p:cNvSpPr txBox="1"/>
          <p:nvPr/>
        </p:nvSpPr>
        <p:spPr>
          <a:xfrm>
            <a:off x="428625" y="1959173"/>
            <a:ext cx="3929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00" u="none" cap="none" strike="noStrik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데이터를 5개로 쪼개어 모든 데이터를 학습과 검증에 번갈아 사용한 후, 5개 모델의 예측치를 평균 내는 방식입니다.</a:t>
            </a:r>
            <a:endParaRPr sz="1100"/>
          </a:p>
        </p:txBody>
      </p:sp>
      <p:pic>
        <p:nvPicPr>
          <p:cNvPr descr="image.png" id="1472" name="Google Shape;1472;p10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93456" y="1498736"/>
            <a:ext cx="3914775" cy="2843212"/>
          </a:xfrm>
          <a:prstGeom prst="rect">
            <a:avLst/>
          </a:prstGeom>
          <a:noFill/>
          <a:ln>
            <a:noFill/>
          </a:ln>
        </p:spPr>
      </p:pic>
      <p:sp>
        <p:nvSpPr>
          <p:cNvPr id="1473" name="Google Shape;1473;p101"/>
          <p:cNvSpPr txBox="1"/>
          <p:nvPr/>
        </p:nvSpPr>
        <p:spPr>
          <a:xfrm>
            <a:off x="678656" y="2513483"/>
            <a:ext cx="36789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1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Score:</a:t>
            </a:r>
            <a:r>
              <a:rPr b="0" i="0" lang="ko" sz="11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0.91817 (최고점)</a:t>
            </a:r>
            <a:endParaRPr sz="1100"/>
          </a:p>
        </p:txBody>
      </p:sp>
      <p:sp>
        <p:nvSpPr>
          <p:cNvPr id="1474" name="Google Shape;1474;p101"/>
          <p:cNvSpPr txBox="1"/>
          <p:nvPr/>
        </p:nvSpPr>
        <p:spPr>
          <a:xfrm>
            <a:off x="678656" y="2806377"/>
            <a:ext cx="36789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1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장점:</a:t>
            </a:r>
            <a:r>
              <a:rPr b="0" i="0" lang="ko" sz="11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검증 데이터 불일치 문제 완벽 해결</a:t>
            </a:r>
            <a:endParaRPr sz="1100"/>
          </a:p>
        </p:txBody>
      </p:sp>
      <p:sp>
        <p:nvSpPr>
          <p:cNvPr id="1475" name="Google Shape;1475;p101"/>
          <p:cNvSpPr txBox="1"/>
          <p:nvPr/>
        </p:nvSpPr>
        <p:spPr>
          <a:xfrm>
            <a:off x="678656" y="3099271"/>
            <a:ext cx="36789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1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장점:</a:t>
            </a:r>
            <a:r>
              <a:rPr b="0" i="0" lang="ko" sz="11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단일 모델보다 훨씬 견고한 예측력 확보</a:t>
            </a:r>
            <a:endParaRPr sz="1100"/>
          </a:p>
        </p:txBody>
      </p:sp>
      <p:sp>
        <p:nvSpPr>
          <p:cNvPr id="1476" name="Google Shape;1476;p101"/>
          <p:cNvSpPr txBox="1"/>
          <p:nvPr/>
        </p:nvSpPr>
        <p:spPr>
          <a:xfrm>
            <a:off x="678656" y="3392164"/>
            <a:ext cx="36789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1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단점:</a:t>
            </a:r>
            <a:r>
              <a:rPr b="0" i="0" lang="ko" sz="11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학습 시간이 단일 모델 대비 5배 소요</a:t>
            </a:r>
            <a:endParaRPr sz="1100"/>
          </a:p>
        </p:txBody>
      </p:sp>
      <p:sp>
        <p:nvSpPr>
          <p:cNvPr id="1477" name="Google Shape;1477;p101"/>
          <p:cNvSpPr txBox="1"/>
          <p:nvPr/>
        </p:nvSpPr>
        <p:spPr>
          <a:xfrm>
            <a:off x="600075" y="428625"/>
            <a:ext cx="8520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27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STRATEGY B: </a:t>
            </a:r>
            <a:r>
              <a:rPr b="1" i="0" lang="ko" sz="2700" u="none" cap="none" strike="noStrike">
                <a:solidFill>
                  <a:srgbClr val="FFCC00"/>
                </a:solidFill>
                <a:latin typeface="Urbanist"/>
                <a:ea typeface="Urbanist"/>
                <a:cs typeface="Urbanist"/>
                <a:sym typeface="Urbanist"/>
              </a:rPr>
              <a:t>5-FOLD ENSEMBLE</a:t>
            </a:r>
            <a:endParaRPr sz="1100"/>
          </a:p>
        </p:txBody>
      </p:sp>
      <p:sp>
        <p:nvSpPr>
          <p:cNvPr id="1478" name="Google Shape;1478;p101"/>
          <p:cNvSpPr/>
          <p:nvPr/>
        </p:nvSpPr>
        <p:spPr>
          <a:xfrm>
            <a:off x="428625" y="428625"/>
            <a:ext cx="57000" cy="4116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0A0A0A"/>
        </a:solidFill>
      </p:bgPr>
    </p:bg>
    <p:spTree>
      <p:nvGrpSpPr>
        <p:cNvPr id="1482" name="Shape 1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83" name="Google Shape;1483;p10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4" name="Google Shape;1484;p10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625" y="1870769"/>
            <a:ext cx="3929063" cy="2099146"/>
          </a:xfrm>
          <a:prstGeom prst="rect">
            <a:avLst/>
          </a:prstGeom>
          <a:noFill/>
          <a:ln>
            <a:noFill/>
          </a:ln>
        </p:spPr>
      </p:pic>
      <p:sp>
        <p:nvSpPr>
          <p:cNvPr id="1485" name="Google Shape;1485;p102"/>
          <p:cNvSpPr txBox="1"/>
          <p:nvPr/>
        </p:nvSpPr>
        <p:spPr>
          <a:xfrm>
            <a:off x="714375" y="2156519"/>
            <a:ext cx="35256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100" u="none" cap="none" strike="noStrike">
                <a:solidFill>
                  <a:srgbClr val="00D2FF"/>
                </a:solidFill>
                <a:latin typeface="Urbanist"/>
                <a:ea typeface="Urbanist"/>
                <a:cs typeface="Urbanist"/>
                <a:sym typeface="Urbanist"/>
              </a:rPr>
              <a:t>Mixup 제거 후 원복</a:t>
            </a:r>
            <a:endParaRPr sz="1100"/>
          </a:p>
        </p:txBody>
      </p:sp>
      <p:sp>
        <p:nvSpPr>
          <p:cNvPr id="1486" name="Google Shape;1486;p102"/>
          <p:cNvSpPr txBox="1"/>
          <p:nvPr/>
        </p:nvSpPr>
        <p:spPr>
          <a:xfrm>
            <a:off x="714375" y="2424075"/>
            <a:ext cx="335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00" u="none" cap="none" strike="noStrik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이미지 합성 증강 기법인 Mixup을 제거하고 정통 방식으로 학습한 결과입니다.</a:t>
            </a:r>
            <a:endParaRPr sz="1100"/>
          </a:p>
        </p:txBody>
      </p:sp>
      <p:sp>
        <p:nvSpPr>
          <p:cNvPr id="1487" name="Google Shape;1487;p102"/>
          <p:cNvSpPr txBox="1"/>
          <p:nvPr/>
        </p:nvSpPr>
        <p:spPr>
          <a:xfrm>
            <a:off x="714375" y="2978385"/>
            <a:ext cx="3357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3400" u="none" cap="none" strike="noStrike">
                <a:solidFill>
                  <a:srgbClr val="FFCC00"/>
                </a:solidFill>
                <a:latin typeface="Urbanist"/>
                <a:ea typeface="Urbanist"/>
                <a:cs typeface="Urbanist"/>
                <a:sym typeface="Urbanist"/>
              </a:rPr>
              <a:t>0.90640</a:t>
            </a:r>
            <a:endParaRPr sz="1100"/>
          </a:p>
        </p:txBody>
      </p:sp>
      <p:sp>
        <p:nvSpPr>
          <p:cNvPr id="1488" name="Google Shape;1488;p102"/>
          <p:cNvSpPr txBox="1"/>
          <p:nvPr/>
        </p:nvSpPr>
        <p:spPr>
          <a:xfrm>
            <a:off x="714375" y="3478448"/>
            <a:ext cx="3357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00" u="none" cap="none" strike="noStrik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기본기가 탄탄한 모델 성능 확인</a:t>
            </a:r>
            <a:endParaRPr sz="1100"/>
          </a:p>
        </p:txBody>
      </p:sp>
      <p:sp>
        <p:nvSpPr>
          <p:cNvPr id="1489" name="Google Shape;1489;p102"/>
          <p:cNvSpPr txBox="1"/>
          <p:nvPr/>
        </p:nvSpPr>
        <p:spPr>
          <a:xfrm>
            <a:off x="4786313" y="1870769"/>
            <a:ext cx="41256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1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장단점 분석</a:t>
            </a:r>
            <a:endParaRPr sz="1100"/>
          </a:p>
        </p:txBody>
      </p:sp>
      <p:sp>
        <p:nvSpPr>
          <p:cNvPr id="1490" name="Google Shape;1490;p102"/>
          <p:cNvSpPr txBox="1"/>
          <p:nvPr/>
        </p:nvSpPr>
        <p:spPr>
          <a:xfrm>
            <a:off x="4786313" y="2031169"/>
            <a:ext cx="39291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00" u="none" cap="none" strike="noStrik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복잡한 기법 없이 순수 데이터 특성만으로 승부하는 방식입니다.</a:t>
            </a:r>
            <a:endParaRPr sz="1100"/>
          </a:p>
        </p:txBody>
      </p:sp>
      <p:sp>
        <p:nvSpPr>
          <p:cNvPr id="1491" name="Google Shape;1491;p102"/>
          <p:cNvSpPr txBox="1"/>
          <p:nvPr/>
        </p:nvSpPr>
        <p:spPr>
          <a:xfrm>
            <a:off x="5036344" y="2379761"/>
            <a:ext cx="36789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1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Pros:</a:t>
            </a:r>
            <a:r>
              <a:rPr b="0" i="0" lang="ko" sz="11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클래스 간 경계가 명확한 데이터에서 효과적</a:t>
            </a:r>
            <a:endParaRPr sz="1100"/>
          </a:p>
        </p:txBody>
      </p:sp>
      <p:sp>
        <p:nvSpPr>
          <p:cNvPr id="1492" name="Google Shape;1492;p102"/>
          <p:cNvSpPr txBox="1"/>
          <p:nvPr/>
        </p:nvSpPr>
        <p:spPr>
          <a:xfrm>
            <a:off x="5036344" y="2672655"/>
            <a:ext cx="36789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1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Pros:</a:t>
            </a:r>
            <a:r>
              <a:rPr b="0" i="0" lang="ko" sz="11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학습 노이즈가 적어 빠른 수렴 가능</a:t>
            </a:r>
            <a:endParaRPr sz="1100"/>
          </a:p>
        </p:txBody>
      </p:sp>
      <p:sp>
        <p:nvSpPr>
          <p:cNvPr id="1493" name="Google Shape;1493;p102"/>
          <p:cNvSpPr txBox="1"/>
          <p:nvPr/>
        </p:nvSpPr>
        <p:spPr>
          <a:xfrm>
            <a:off x="5036344" y="2965549"/>
            <a:ext cx="36789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1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Cons:</a:t>
            </a:r>
            <a:r>
              <a:rPr b="0" i="0" lang="ko" sz="11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데이터 다양성 확보에 한계</a:t>
            </a:r>
            <a:endParaRPr sz="1100"/>
          </a:p>
        </p:txBody>
      </p:sp>
      <p:sp>
        <p:nvSpPr>
          <p:cNvPr id="1494" name="Google Shape;1494;p102"/>
          <p:cNvSpPr txBox="1"/>
          <p:nvPr/>
        </p:nvSpPr>
        <p:spPr>
          <a:xfrm>
            <a:off x="5036344" y="3258443"/>
            <a:ext cx="36789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1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Cons:</a:t>
            </a:r>
            <a:r>
              <a:rPr b="0" i="0" lang="ko" sz="11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앙상블 대비 낮은 일반화 스코어</a:t>
            </a:r>
            <a:endParaRPr sz="1100"/>
          </a:p>
        </p:txBody>
      </p:sp>
      <p:pic>
        <p:nvPicPr>
          <p:cNvPr descr="image.png" id="1495" name="Google Shape;1495;p10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86313" y="2404765"/>
            <a:ext cx="77353" cy="1571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6" name="Google Shape;1496;p10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86313" y="2697659"/>
            <a:ext cx="77353" cy="1571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7" name="Google Shape;1497;p10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86313" y="2990552"/>
            <a:ext cx="105593" cy="1571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8" name="Google Shape;1498;p10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86313" y="3283446"/>
            <a:ext cx="105593" cy="157163"/>
          </a:xfrm>
          <a:prstGeom prst="rect">
            <a:avLst/>
          </a:prstGeom>
          <a:noFill/>
          <a:ln>
            <a:noFill/>
          </a:ln>
        </p:spPr>
      </p:pic>
      <p:sp>
        <p:nvSpPr>
          <p:cNvPr id="1499" name="Google Shape;1499;p102"/>
          <p:cNvSpPr txBox="1"/>
          <p:nvPr/>
        </p:nvSpPr>
        <p:spPr>
          <a:xfrm>
            <a:off x="600075" y="428625"/>
            <a:ext cx="8520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27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STRATEGY C: </a:t>
            </a:r>
            <a:r>
              <a:rPr b="1" i="0" lang="ko" sz="2700" u="none" cap="none" strike="noStrike">
                <a:solidFill>
                  <a:srgbClr val="FFCC00"/>
                </a:solidFill>
                <a:latin typeface="Urbanist"/>
                <a:ea typeface="Urbanist"/>
                <a:cs typeface="Urbanist"/>
                <a:sym typeface="Urbanist"/>
              </a:rPr>
              <a:t>NO MIXUP</a:t>
            </a:r>
            <a:endParaRPr sz="1100"/>
          </a:p>
        </p:txBody>
      </p:sp>
      <p:sp>
        <p:nvSpPr>
          <p:cNvPr id="1500" name="Google Shape;1500;p102"/>
          <p:cNvSpPr/>
          <p:nvPr/>
        </p:nvSpPr>
        <p:spPr>
          <a:xfrm>
            <a:off x="428625" y="428625"/>
            <a:ext cx="57000" cy="4116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0A0A0A"/>
        </a:solidFill>
      </p:bgPr>
    </p:bg>
    <p:spTree>
      <p:nvGrpSpPr>
        <p:cNvPr id="1504" name="Shape 1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05" name="Google Shape;1505;p10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6" name="Google Shape;1506;p10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625" y="1729346"/>
            <a:ext cx="5467314" cy="15958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7" name="Google Shape;1507;p10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67388" y="1729346"/>
            <a:ext cx="2647875" cy="1595846"/>
          </a:xfrm>
          <a:prstGeom prst="rect">
            <a:avLst/>
          </a:prstGeom>
          <a:noFill/>
          <a:ln>
            <a:noFill/>
          </a:ln>
        </p:spPr>
      </p:pic>
      <p:sp>
        <p:nvSpPr>
          <p:cNvPr id="1508" name="Google Shape;1508;p103"/>
          <p:cNvSpPr txBox="1"/>
          <p:nvPr/>
        </p:nvSpPr>
        <p:spPr>
          <a:xfrm>
            <a:off x="650081" y="2400858"/>
            <a:ext cx="5275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4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전략: Mixup 적용 + AUROC 기반 Early Stopping</a:t>
            </a:r>
            <a:endParaRPr sz="1100"/>
          </a:p>
        </p:txBody>
      </p:sp>
      <p:sp>
        <p:nvSpPr>
          <p:cNvPr id="1509" name="Google Shape;1509;p103"/>
          <p:cNvSpPr txBox="1"/>
          <p:nvPr/>
        </p:nvSpPr>
        <p:spPr>
          <a:xfrm>
            <a:off x="650081" y="2692301"/>
            <a:ext cx="5024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00" u="none" cap="none" strike="noStrik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단순 Accuracy가 아닌 AUROC를 기준으로 가장 성능이 좋은 시점의 가중치를 저장하고, 5-Fold 앙상블을 수행했습니다.</a:t>
            </a:r>
            <a:endParaRPr sz="1100"/>
          </a:p>
        </p:txBody>
      </p:sp>
      <p:sp>
        <p:nvSpPr>
          <p:cNvPr id="1510" name="Google Shape;1510;p103"/>
          <p:cNvSpPr txBox="1"/>
          <p:nvPr/>
        </p:nvSpPr>
        <p:spPr>
          <a:xfrm>
            <a:off x="6288844" y="1950802"/>
            <a:ext cx="2205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2800" u="none" cap="none" strike="noStrike">
                <a:solidFill>
                  <a:srgbClr val="FFCC00"/>
                </a:solidFill>
                <a:latin typeface="Urbanist"/>
                <a:ea typeface="Urbanist"/>
                <a:cs typeface="Urbanist"/>
                <a:sym typeface="Urbanist"/>
              </a:rPr>
              <a:t>0.91205</a:t>
            </a:r>
            <a:endParaRPr sz="1100"/>
          </a:p>
        </p:txBody>
      </p:sp>
      <p:sp>
        <p:nvSpPr>
          <p:cNvPr id="1511" name="Google Shape;1511;p103"/>
          <p:cNvSpPr txBox="1"/>
          <p:nvPr/>
        </p:nvSpPr>
        <p:spPr>
          <a:xfrm>
            <a:off x="6288844" y="2307989"/>
            <a:ext cx="22050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00" u="none" cap="none" strike="noStrik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준수한 성능 기록</a:t>
            </a:r>
            <a:endParaRPr sz="1100"/>
          </a:p>
        </p:txBody>
      </p:sp>
      <p:sp>
        <p:nvSpPr>
          <p:cNvPr id="1512" name="Google Shape;1512;p103"/>
          <p:cNvSpPr txBox="1"/>
          <p:nvPr/>
        </p:nvSpPr>
        <p:spPr>
          <a:xfrm>
            <a:off x="428625" y="3539504"/>
            <a:ext cx="41256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1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왜 전략 B보다 낮은가?</a:t>
            </a:r>
            <a:endParaRPr sz="1100"/>
          </a:p>
        </p:txBody>
      </p:sp>
      <p:sp>
        <p:nvSpPr>
          <p:cNvPr id="1513" name="Google Shape;1513;p103"/>
          <p:cNvSpPr txBox="1"/>
          <p:nvPr/>
        </p:nvSpPr>
        <p:spPr>
          <a:xfrm>
            <a:off x="428625" y="3699904"/>
            <a:ext cx="3929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00" u="none" cap="none" strike="noStrik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Mixup은 가상의 데이터를 생성하여 정규화 효과를 주지만, 태양광 패널의 미세한 '먼지 질감' 정보를 희석시켰을 가능성이 존재합니다.</a:t>
            </a:r>
            <a:endParaRPr sz="1100"/>
          </a:p>
        </p:txBody>
      </p:sp>
      <p:sp>
        <p:nvSpPr>
          <p:cNvPr id="1514" name="Google Shape;1514;p103"/>
          <p:cNvSpPr txBox="1"/>
          <p:nvPr/>
        </p:nvSpPr>
        <p:spPr>
          <a:xfrm>
            <a:off x="4786313" y="3539504"/>
            <a:ext cx="41256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1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AUROC 모니터링의 의의</a:t>
            </a:r>
            <a:endParaRPr sz="1100"/>
          </a:p>
        </p:txBody>
      </p:sp>
      <p:sp>
        <p:nvSpPr>
          <p:cNvPr id="1515" name="Google Shape;1515;p103"/>
          <p:cNvSpPr txBox="1"/>
          <p:nvPr/>
        </p:nvSpPr>
        <p:spPr>
          <a:xfrm>
            <a:off x="4786313" y="3699904"/>
            <a:ext cx="3929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00" u="none" cap="none" strike="noStrik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불균형 데이터가 아님에도 AUROC를 사용함으로써 모델의 '판별력' 자체를 극대화하려는 시도는 매우 유의미한 접근이었습니다.</a:t>
            </a:r>
            <a:endParaRPr sz="1100"/>
          </a:p>
        </p:txBody>
      </p:sp>
      <p:pic>
        <p:nvPicPr>
          <p:cNvPr descr="image.png" id="1516" name="Google Shape;1516;p10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0081" y="1972233"/>
            <a:ext cx="321469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1517" name="Google Shape;1517;p103"/>
          <p:cNvSpPr txBox="1"/>
          <p:nvPr/>
        </p:nvSpPr>
        <p:spPr>
          <a:xfrm>
            <a:off x="600075" y="428625"/>
            <a:ext cx="8520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27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STRATEGY D: </a:t>
            </a:r>
            <a:r>
              <a:rPr b="1" i="0" lang="ko" sz="2700" u="none" cap="none" strike="noStrike">
                <a:solidFill>
                  <a:srgbClr val="FFCC00"/>
                </a:solidFill>
                <a:latin typeface="Urbanist"/>
                <a:ea typeface="Urbanist"/>
                <a:cs typeface="Urbanist"/>
                <a:sym typeface="Urbanist"/>
              </a:rPr>
              <a:t>MIXUP + AUROC</a:t>
            </a:r>
            <a:endParaRPr sz="1100"/>
          </a:p>
        </p:txBody>
      </p:sp>
      <p:sp>
        <p:nvSpPr>
          <p:cNvPr id="1518" name="Google Shape;1518;p103"/>
          <p:cNvSpPr/>
          <p:nvPr/>
        </p:nvSpPr>
        <p:spPr>
          <a:xfrm>
            <a:off x="428625" y="428625"/>
            <a:ext cx="57000" cy="4116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0A0A0A"/>
        </a:solidFill>
      </p:bgPr>
    </p:bg>
    <p:spTree>
      <p:nvGrpSpPr>
        <p:cNvPr id="1522" name="Shape 1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23" name="Google Shape;1523;p10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24" name="Google Shape;1524;p10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625" y="3134655"/>
            <a:ext cx="8286750" cy="1285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25" name="Google Shape;1525;p10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8625" y="1125810"/>
            <a:ext cx="8286750" cy="35890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26" name="Google Shape;1526;p10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5769" y="3141799"/>
            <a:ext cx="8272462" cy="1271587"/>
          </a:xfrm>
          <a:prstGeom prst="rect">
            <a:avLst/>
          </a:prstGeom>
          <a:noFill/>
          <a:ln>
            <a:noFill/>
          </a:ln>
        </p:spPr>
      </p:pic>
      <p:sp>
        <p:nvSpPr>
          <p:cNvPr id="1527" name="Google Shape;1527;p104"/>
          <p:cNvSpPr txBox="1"/>
          <p:nvPr/>
        </p:nvSpPr>
        <p:spPr>
          <a:xfrm>
            <a:off x="600075" y="428625"/>
            <a:ext cx="8520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27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PERFORMANCE </a:t>
            </a:r>
            <a:r>
              <a:rPr b="1" i="0" lang="ko" sz="2700" u="none" cap="none" strike="noStrike">
                <a:solidFill>
                  <a:srgbClr val="FFCC00"/>
                </a:solidFill>
                <a:latin typeface="Urbanist"/>
                <a:ea typeface="Urbanist"/>
                <a:cs typeface="Urbanist"/>
                <a:sym typeface="Urbanist"/>
              </a:rPr>
              <a:t>LEADERBOARD</a:t>
            </a:r>
            <a:endParaRPr sz="1100"/>
          </a:p>
        </p:txBody>
      </p:sp>
      <p:sp>
        <p:nvSpPr>
          <p:cNvPr id="1528" name="Google Shape;1528;p104"/>
          <p:cNvSpPr/>
          <p:nvPr/>
        </p:nvSpPr>
        <p:spPr>
          <a:xfrm>
            <a:off x="428625" y="428625"/>
            <a:ext cx="57000" cy="4116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9" name="Google Shape;1529;p104"/>
          <p:cNvSpPr txBox="1"/>
          <p:nvPr/>
        </p:nvSpPr>
        <p:spPr>
          <a:xfrm>
            <a:off x="-2336400" y="966325"/>
            <a:ext cx="19776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efficientnet-b0 pre-trained모델 그대로 사용.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전략별 제출한 성능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020617"/>
        </a:solidFill>
      </p:bgPr>
    </p:bg>
    <p:spTree>
      <p:nvGrpSpPr>
        <p:cNvPr id="1533" name="Shape 1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34" name="Google Shape;1534;p10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5" name="Google Shape;1535;p10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14975" y="1071563"/>
            <a:ext cx="3200400" cy="107870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6" name="Google Shape;1536;p10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514975" y="2293144"/>
            <a:ext cx="3200400" cy="15533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7" name="Google Shape;1537;p10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514975" y="3989338"/>
            <a:ext cx="3200400" cy="107870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8" name="Google Shape;1538;p10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686425" y="3336131"/>
            <a:ext cx="2886075" cy="3674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9" name="Google Shape;1539;p10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28625" y="1071563"/>
            <a:ext cx="8286750" cy="3996482"/>
          </a:xfrm>
          <a:prstGeom prst="rect">
            <a:avLst/>
          </a:prstGeom>
          <a:noFill/>
          <a:ln>
            <a:noFill/>
          </a:ln>
        </p:spPr>
      </p:pic>
      <p:sp>
        <p:nvSpPr>
          <p:cNvPr id="1540" name="Google Shape;1540;p105"/>
          <p:cNvSpPr txBox="1"/>
          <p:nvPr/>
        </p:nvSpPr>
        <p:spPr>
          <a:xfrm>
            <a:off x="5686425" y="1214438"/>
            <a:ext cx="3030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100" u="none" cap="none" strike="noStrike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1. 수렴 속도 (Convergence Rate)</a:t>
            </a:r>
            <a:endParaRPr sz="1100"/>
          </a:p>
        </p:txBody>
      </p:sp>
      <p:sp>
        <p:nvSpPr>
          <p:cNvPr id="1541" name="Google Shape;1541;p105"/>
          <p:cNvSpPr txBox="1"/>
          <p:nvPr/>
        </p:nvSpPr>
        <p:spPr>
          <a:xfrm>
            <a:off x="5686425" y="1493044"/>
            <a:ext cx="2886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900" u="none" cap="none" strike="noStrik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EfficientNet 대비 MaxViT와 ConvNeXt 계열은 초기 5 Epoch 이내에 손실값이 50% 이상 급감하며 매우 효율적인 특징 추출 능력을 보여줌.</a:t>
            </a:r>
            <a:endParaRPr sz="1100"/>
          </a:p>
        </p:txBody>
      </p:sp>
      <p:sp>
        <p:nvSpPr>
          <p:cNvPr id="1542" name="Google Shape;1542;p105"/>
          <p:cNvSpPr txBox="1"/>
          <p:nvPr/>
        </p:nvSpPr>
        <p:spPr>
          <a:xfrm>
            <a:off x="5686425" y="2436019"/>
            <a:ext cx="3030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100" u="none" cap="none" strike="noStrike">
                <a:solidFill>
                  <a:srgbClr val="3B82F6"/>
                </a:solidFill>
                <a:latin typeface="Noto Sans KR"/>
                <a:ea typeface="Noto Sans KR"/>
                <a:cs typeface="Noto Sans KR"/>
                <a:sym typeface="Noto Sans KR"/>
              </a:rPr>
              <a:t>2. 일반화 간극 (Generalization Gap)</a:t>
            </a:r>
            <a:endParaRPr sz="1100"/>
          </a:p>
        </p:txBody>
      </p:sp>
      <p:sp>
        <p:nvSpPr>
          <p:cNvPr id="1543" name="Google Shape;1543;p105"/>
          <p:cNvSpPr txBox="1"/>
          <p:nvPr/>
        </p:nvSpPr>
        <p:spPr>
          <a:xfrm>
            <a:off x="5686425" y="2714625"/>
            <a:ext cx="2886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900" u="none" cap="none" strike="noStrik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1,100장의 소규모 데이터셋임에도 불구하고, 하이브리드 모델들은 Train/Val Loss 간격이 0.02 이하로 유지되며 과적합(Overfitting)을 효과적으로 억제함.</a:t>
            </a:r>
            <a:endParaRPr sz="1100"/>
          </a:p>
        </p:txBody>
      </p:sp>
      <p:sp>
        <p:nvSpPr>
          <p:cNvPr id="1544" name="Google Shape;1544;p105"/>
          <p:cNvSpPr txBox="1"/>
          <p:nvPr/>
        </p:nvSpPr>
        <p:spPr>
          <a:xfrm>
            <a:off x="5686425" y="4132213"/>
            <a:ext cx="3030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100" u="none" cap="none" strike="noStrike">
                <a:solidFill>
                  <a:srgbClr val="FBBF24"/>
                </a:solidFill>
                <a:latin typeface="Noto Sans KR"/>
                <a:ea typeface="Noto Sans KR"/>
                <a:cs typeface="Noto Sans KR"/>
                <a:sym typeface="Noto Sans KR"/>
              </a:rPr>
              <a:t>3. 최적 모델 학습 동향</a:t>
            </a:r>
            <a:endParaRPr sz="1100"/>
          </a:p>
        </p:txBody>
      </p:sp>
      <p:sp>
        <p:nvSpPr>
          <p:cNvPr id="1545" name="Google Shape;1545;p105"/>
          <p:cNvSpPr txBox="1"/>
          <p:nvPr/>
        </p:nvSpPr>
        <p:spPr>
          <a:xfrm>
            <a:off x="5686425" y="4410819"/>
            <a:ext cx="2886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900" u="none" cap="none" strike="noStrik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MaxViT (Best):</a:t>
            </a:r>
            <a:r>
              <a:rPr b="0" i="0" lang="ko" sz="900" u="none" cap="none" strike="noStrik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 Grid/Window Attention의 결합으로 패널의 미세 오염과 전역적 색상 왜곡을 동시에 학습하여 가장 낮은 최종 검증 손실 도달.</a:t>
            </a:r>
            <a:endParaRPr sz="1100"/>
          </a:p>
        </p:txBody>
      </p:sp>
      <p:pic>
        <p:nvPicPr>
          <p:cNvPr descr="image.png" id="1546" name="Google Shape;1546;p10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57863" y="3407569"/>
            <a:ext cx="1174031" cy="224582"/>
          </a:xfrm>
          <a:prstGeom prst="rect">
            <a:avLst/>
          </a:prstGeom>
          <a:noFill/>
          <a:ln>
            <a:noFill/>
          </a:ln>
        </p:spPr>
      </p:pic>
      <p:sp>
        <p:nvSpPr>
          <p:cNvPr id="1547" name="Google Shape;1547;p105"/>
          <p:cNvSpPr txBox="1"/>
          <p:nvPr/>
        </p:nvSpPr>
        <p:spPr>
          <a:xfrm>
            <a:off x="428625" y="428625"/>
            <a:ext cx="8286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300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모델별 B 전략 </a:t>
            </a:r>
            <a:r>
              <a:rPr b="1" i="0" lang="ko" sz="23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학습 수렴도 및 </a:t>
            </a:r>
            <a:r>
              <a:rPr b="1" i="0" lang="ko" sz="2300" u="none" cap="none" strike="noStrike">
                <a:solidFill>
                  <a:srgbClr val="FBBF24"/>
                </a:solidFill>
                <a:latin typeface="Poppins"/>
                <a:ea typeface="Poppins"/>
                <a:cs typeface="Poppins"/>
                <a:sym typeface="Poppins"/>
              </a:rPr>
              <a:t>일반화 성능</a:t>
            </a:r>
            <a:r>
              <a:rPr b="1" i="0" lang="ko" sz="23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 통합 분석</a:t>
            </a:r>
            <a:endParaRPr sz="1100"/>
          </a:p>
        </p:txBody>
      </p:sp>
      <p:sp>
        <p:nvSpPr>
          <p:cNvPr id="1548" name="Google Shape;1548;p105"/>
          <p:cNvSpPr txBox="1"/>
          <p:nvPr/>
        </p:nvSpPr>
        <p:spPr>
          <a:xfrm>
            <a:off x="6015038" y="4807744"/>
            <a:ext cx="2700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700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Solar Panel Cleanliness Classification | Performance Metrics Report</a:t>
            </a:r>
            <a:endParaRPr sz="1100"/>
          </a:p>
        </p:txBody>
      </p:sp>
      <p:sp>
        <p:nvSpPr>
          <p:cNvPr id="1549" name="Google Shape;1549;p105"/>
          <p:cNvSpPr/>
          <p:nvPr/>
        </p:nvSpPr>
        <p:spPr>
          <a:xfrm>
            <a:off x="428625" y="857250"/>
            <a:ext cx="3307500" cy="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0A0A0A"/>
        </a:solidFill>
      </p:bgPr>
    </p:bg>
    <p:spTree>
      <p:nvGrpSpPr>
        <p:cNvPr id="1553" name="Shape 1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54" name="Google Shape;1554;p10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5" name="Google Shape;1555;p10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625" y="1642132"/>
            <a:ext cx="3929063" cy="17944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6" name="Google Shape;1556;p10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86313" y="1642132"/>
            <a:ext cx="3929063" cy="1794420"/>
          </a:xfrm>
          <a:prstGeom prst="rect">
            <a:avLst/>
          </a:prstGeom>
          <a:noFill/>
          <a:ln>
            <a:noFill/>
          </a:ln>
        </p:spPr>
      </p:pic>
      <p:sp>
        <p:nvSpPr>
          <p:cNvPr id="1557" name="Google Shape;1557;p106"/>
          <p:cNvSpPr txBox="1"/>
          <p:nvPr/>
        </p:nvSpPr>
        <p:spPr>
          <a:xfrm>
            <a:off x="650081" y="2306501"/>
            <a:ext cx="3660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4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왜 K-Fold인가?</a:t>
            </a:r>
            <a:endParaRPr sz="1100"/>
          </a:p>
        </p:txBody>
      </p:sp>
      <p:sp>
        <p:nvSpPr>
          <p:cNvPr id="1558" name="Google Shape;1558;p106"/>
          <p:cNvSpPr txBox="1"/>
          <p:nvPr/>
        </p:nvSpPr>
        <p:spPr>
          <a:xfrm>
            <a:off x="650081" y="2597944"/>
            <a:ext cx="3486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00" u="none" cap="none" strike="noStrik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데이터가 적을 때 단일 Validation Set은 '운'에 의존하게 됩니다. K-Fold는 전체 데이터의 통계적 특성을 골고루 학습에 반영하여 평가의 신뢰도를 높입니다.</a:t>
            </a:r>
            <a:endParaRPr sz="1100"/>
          </a:p>
        </p:txBody>
      </p:sp>
      <p:sp>
        <p:nvSpPr>
          <p:cNvPr id="1559" name="Google Shape;1559;p106"/>
          <p:cNvSpPr txBox="1"/>
          <p:nvPr/>
        </p:nvSpPr>
        <p:spPr>
          <a:xfrm>
            <a:off x="5007769" y="2306501"/>
            <a:ext cx="3660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4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앙상블의 효과</a:t>
            </a:r>
            <a:endParaRPr sz="1100"/>
          </a:p>
        </p:txBody>
      </p:sp>
      <p:sp>
        <p:nvSpPr>
          <p:cNvPr id="1560" name="Google Shape;1560;p106"/>
          <p:cNvSpPr txBox="1"/>
          <p:nvPr/>
        </p:nvSpPr>
        <p:spPr>
          <a:xfrm>
            <a:off x="5007769" y="2597944"/>
            <a:ext cx="3486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" sz="1000" u="none" cap="none" strike="noStrike">
                <a:solidFill>
                  <a:srgbClr val="A0A0A0"/>
                </a:solidFill>
                <a:latin typeface="Urbanist"/>
                <a:ea typeface="Urbanist"/>
                <a:cs typeface="Urbanist"/>
                <a:sym typeface="Urbanist"/>
              </a:rPr>
              <a:t>각 Fold에서 학습된 5개의 모델은 서로 다른 실수를 범합니다. 이들의 확률값을 평균 내면 개별 모델의 편향(Bias)이 상쇄되어 더 매끄러운 결정 경계를 갖게 됩니다.</a:t>
            </a:r>
            <a:endParaRPr sz="1100"/>
          </a:p>
        </p:txBody>
      </p:sp>
      <p:pic>
        <p:nvPicPr>
          <p:cNvPr descr="image.png" id="1561" name="Google Shape;1561;p10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0081" y="1885019"/>
            <a:ext cx="200136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2" name="Google Shape;1562;p10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07769" y="1885019"/>
            <a:ext cx="200136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1563" name="Google Shape;1563;p106"/>
          <p:cNvSpPr txBox="1"/>
          <p:nvPr/>
        </p:nvSpPr>
        <p:spPr>
          <a:xfrm>
            <a:off x="600075" y="428625"/>
            <a:ext cx="8520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27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TECHNICAL </a:t>
            </a:r>
            <a:r>
              <a:rPr b="1" i="0" lang="ko" sz="2700" u="none" cap="none" strike="noStrike">
                <a:solidFill>
                  <a:srgbClr val="FFCC00"/>
                </a:solidFill>
                <a:latin typeface="Urbanist"/>
                <a:ea typeface="Urbanist"/>
                <a:cs typeface="Urbanist"/>
                <a:sym typeface="Urbanist"/>
              </a:rPr>
              <a:t>DEEP DIVE</a:t>
            </a:r>
            <a:endParaRPr sz="1100"/>
          </a:p>
        </p:txBody>
      </p:sp>
      <p:sp>
        <p:nvSpPr>
          <p:cNvPr id="1564" name="Google Shape;1564;p106"/>
          <p:cNvSpPr/>
          <p:nvPr/>
        </p:nvSpPr>
        <p:spPr>
          <a:xfrm>
            <a:off x="428625" y="428625"/>
            <a:ext cx="57000" cy="4116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5" name="Google Shape;1565;p106"/>
          <p:cNvSpPr txBox="1"/>
          <p:nvPr/>
        </p:nvSpPr>
        <p:spPr>
          <a:xfrm>
            <a:off x="417575" y="1151375"/>
            <a:ext cx="41256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4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11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전략</a:t>
            </a:r>
            <a:r>
              <a:rPr b="1" lang="ko" sz="110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B의 결과가 좋은 이유 ?</a:t>
            </a:r>
            <a:endParaRPr sz="110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569" name="Shape 1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최종 결과에 대한 결론 및 한계 " id="1570" name="Google Shape;1570;p10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1" name="Google Shape;1571;p10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575" name="Shape 1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" name="Google Shape;1576;p10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Q&amp;A</a:t>
            </a:r>
            <a:endParaRPr/>
          </a:p>
        </p:txBody>
      </p:sp>
      <p:sp>
        <p:nvSpPr>
          <p:cNvPr id="1577" name="Google Shape;1577;p10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8" name="Google Shape;1578;p10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582" name="Shape 1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3" name="Google Shape;1583;p10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최종 모델 제출 결과</a:t>
            </a:r>
            <a:endParaRPr/>
          </a:p>
        </p:txBody>
      </p:sp>
      <p:sp>
        <p:nvSpPr>
          <p:cNvPr id="1584" name="Google Shape;1584;p10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5" name="Google Shape;1585;p10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589" name="Shape 1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0" name="Google Shape;1590;p1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pic>
        <p:nvPicPr>
          <p:cNvPr id="1591" name="Google Shape;1591;p1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4454675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